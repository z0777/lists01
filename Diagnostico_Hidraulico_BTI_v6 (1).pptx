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4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12192000"/>
  <p:embeddedFontLst>
    <p:embeddedFont>
      <p:font typeface="Arial Black" panose="020B0A04020102020204" pitchFamily="34" charset="0"/>
      <p:regular r:id="rId41"/>
      <p:bold r:id="rId42"/>
    </p:embeddedFon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Consolas" panose="020B0609020204030204" pitchFamily="49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516" y="24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5" name="Google Shape;51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3" name="Google Shape;58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3" name="Google Shape;60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8" name="Google Shape;69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3" name="Google Shape;76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7" name="Google Shape;81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8" name="Google Shape;86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6" name="Google Shape;94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0" name="Google Shape;100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7" name="Google Shape;106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3" name="Google Shape;112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8" name="Google Shape;117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8" name="Google Shape;120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6" name="Google Shape;124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4" name="Google Shape;132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1" name="Google Shape;13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5" name="Google Shape;144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6" name="Google Shape;1446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9" name="Google Shape;1529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9" name="Google Shape;157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0" name="Google Shape;1580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6" name="Google Shape;160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9" name="Google Shape;164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0" name="Google Shape;165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5" name="Google Shape;170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6" name="Google Shape;1706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3" name="Google Shape;175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4" name="Google Shape;175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2" name="Google Shape;179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3" name="Google Shape;1793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5" name="Google Shape;1865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6" name="Google Shape;1866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0" name="Google Shape;191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1" name="Google Shape;1911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8" name="Google Shape;196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9" name="Google Shape;1969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3" name="Google Shape;2023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4" name="Google Shape;2024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9" name="Google Shape;2079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0" name="Google Shape;2080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5" name="Google Shape;2135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6" name="Google Shape;2136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4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4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Resumen ejecutivo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Hallazgos numéricos clave del recorrido del 12/05/2026 — 6 h 19 min de operación medida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1417320"/>
            <a:ext cx="2706624" cy="141732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57200" y="1417320"/>
            <a:ext cx="73152" cy="1417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40080" y="155448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+95.25</a:t>
            </a:r>
            <a:r>
              <a:rPr lang="en-US" sz="14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m³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40080" y="21945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ΔV neto en tanques (T1+T2+T3)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346704" y="1417320"/>
            <a:ext cx="2706624" cy="141732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346704" y="1417320"/>
            <a:ext cx="73152" cy="14173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529584" y="155448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+68</a:t>
            </a:r>
            <a:r>
              <a:rPr lang="en-US" sz="14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m³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529584" y="21945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Aporte total a T0 (Principal + Aux.)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236208" y="1417320"/>
            <a:ext cx="2706624" cy="141732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236208" y="1417320"/>
            <a:ext cx="73152" cy="141732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419088" y="155448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+262</a:t>
            </a:r>
            <a:r>
              <a:rPr lang="en-US" sz="14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m³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419088" y="21945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combinada de clarificadores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9125712" y="1417320"/>
            <a:ext cx="2706624" cy="141732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9125712" y="1417320"/>
            <a:ext cx="73152" cy="14173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9308592" y="155448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−114</a:t>
            </a:r>
            <a:r>
              <a:rPr lang="en-US" sz="14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m³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9308592" y="21945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Anomalía: salida Cl.2 &gt; entrada Cl.2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57200" y="3108960"/>
            <a:ext cx="11247120" cy="960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594360" y="3200400"/>
            <a:ext cx="685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1371600" y="320040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Tanques: dinámica asimétrica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371600" y="3493008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T2 subió 1.49 m (+232.66 m³). T3 cayó 0.88 m (−137.41 m³). T1 estable en 1.42 m. El nivel final de T2 = 2.92 m queda confirmado por balance de masas (la alternativa 1.50 m daría ΔV = −126 m³, físicamente imposible).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57200" y="4206240"/>
            <a:ext cx="11247120" cy="960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594360" y="4297680"/>
            <a:ext cx="685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371600" y="429768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Contador de entrada Cl.2 sub-registra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371600" y="4590288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La salida de Cl.2 marcó +192 m³ pero la entrada solo +78 m³ en el mismo período. Imposible por conservación de masa. El medidor de entrada está sub-registrando ≈114 m³ (o existe una alimentación paralela no medida).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57200" y="5303520"/>
            <a:ext cx="11247120" cy="960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594360" y="5394960"/>
            <a:ext cx="685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371600" y="539496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Costos químicos completos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371600" y="5687568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Cl.1: Hipoclorito 10 % + Poliflocal-C. Cl.2: Hipoclorito 10 % + Poliacrilamida + PAC (Cloruro de polialuminio). Costo combinado: Q12.50/m³ en seca, hasta Q91.02/m³ en lluvia severa. Proyección anual: Q128 K a Q934 K.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5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p5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Bases geométricas, unidades y fuente de los datos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Constantes que se mantienen a lo largo de todo el análisis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57200" y="1554480"/>
            <a:ext cx="3621024" cy="219456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▣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143000" y="16916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Geometría de tanques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85800" y="224028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 = 14.10 m  ·  H = 3.12 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85800" y="2569464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Capacidad nominal 487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85800" y="2898648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T0, T1, T2, T3 cilíndricos verticales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85800" y="3227832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(BUWAtank WSWA)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261104" y="1554480"/>
            <a:ext cx="3621024" cy="219456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4443984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946904" y="16916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Sección transversal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489704" y="224028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 = π · (7.05)² = 156.15 m²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489704" y="2569464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 m de altura = 156.15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489704" y="2898648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 cm de altura = 1.5615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489704" y="3227832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Precisión 0.01 m → ±1.56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8065008" y="1554480"/>
            <a:ext cx="3621024" cy="219456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8247888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⟶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8750808" y="16916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Clarificador 1 (pequeño)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8293608" y="224028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Diseño: 50 GPM  ·  11.36 m³/h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8293608" y="2569464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Coagulación: Poliflocal-C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8293608" y="2898648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Desinfección: Hipoclorito 10 %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8293608" y="3227832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Multiplicador del contador: ×10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7200" y="3886200"/>
            <a:ext cx="3621024" cy="219456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⟹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143000" y="40233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Clarificador 2 (principal)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85800" y="457200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Diseño: 125 GPM  ·  28.39 m³/h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85800" y="4901184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Coagulación: Poliacrilamida + PAC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85800" y="5230368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Desinfección: Hipoclorito 10 %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85800" y="5559552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Razón nominal Cl.2 / Cl.1 = 2.5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261104" y="3886200"/>
            <a:ext cx="3621024" cy="219456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443984" y="4023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946904" y="40233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Conversiones base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489704" y="457200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 GPM = 0.2271 m³/h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489704" y="4901184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 m³ = 1,000 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489704" y="5230368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 m³/h = 0.2778 L/s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489704" y="5559552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Cálculos en SI · reportes en GPM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065008" y="3886200"/>
            <a:ext cx="3621024" cy="219456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8247888" y="4023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◆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8750808" y="40233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Fuente de los datos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8293608" y="457200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Recorrido en sitio 12/05/2026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8293608" y="4901184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Foto inicial 08:51 · final 15:10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8293608" y="5230368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Δt global = 6 h 19 min = 6.317 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8293608" y="5559552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Aforos cronometrados + fotos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457200" y="77724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Identificación</a:t>
            </a:r>
            <a:r>
              <a:rPr lang="en-US" sz="2600" b="1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600" b="1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contadores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35928" y="580644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Marca,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calibre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multiplicador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real de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medidor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instalado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sitio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548640" y="141732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 / Punto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103120" y="14173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Marca · Modelo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389120" y="141732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Calibre · Norma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7406640" y="141732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046720" y="141732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Cómo se lee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57200" y="1828800"/>
            <a:ext cx="1124712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548640" y="1828800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Bombeo</a:t>
            </a:r>
            <a:r>
              <a:rPr lang="en-US" sz="1050" b="1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Principal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2103120" y="182880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GENEBRE  E-15-034941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389120" y="1828800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DN80 · Qn40 · ISO 4064 Cl 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7406640" y="182880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8046720" y="1828800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Cifras enteras + 3 relojillos (×0.1 / ×0.01 / ×0.001)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57200" y="2395728"/>
            <a:ext cx="11247120" cy="566928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548640" y="2395728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Bombeo Auxiliar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2103120" y="239572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GENEBRE  Lot.15.034941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389120" y="2395728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DN50 · Qn15 · ISO 4064 Cl 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7406640" y="239572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046720" y="2395728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Cifras enteras + 3 relojillos (×0.1 / ×0.01 / ×0.001)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7200" y="2962656"/>
            <a:ext cx="1124712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548640" y="2962656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Entrada Clarif. 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2103120" y="2962656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GENEBRE  WP-SDC Dn125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389120" y="2962656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DN125 · Q3 160 · R80 · Cl 2 · T30 · MAP 16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7406640" y="296265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046720" y="2962656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Cifras enteras + 3 relojillos decimales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57200" y="3529584"/>
            <a:ext cx="11247120" cy="566928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548640" y="3529584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Clarif. 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2103120" y="3529584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GRS  Qn 60 PN 16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389120" y="3529584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Qn 60 m³/h · PN 16 Bar · ISO 4064 · 40 °C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7406640" y="3529584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046720" y="3529584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Cifras enteras + 2 diales (×0.1 / ×0.01)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57200" y="4096512"/>
            <a:ext cx="1124712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548640" y="4096512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Clarif. 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2103120" y="409651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WSTsb 4" 12-04610  ·  WST 100SB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389120" y="4096512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N60 · qp/Qn 150 · C 16 bar · ΔP 0.3 bar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7406640" y="409651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046720" y="4096512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Cifras × 10  →  resultado en m³ + 3 relojillos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57200" y="4663440"/>
            <a:ext cx="11247120" cy="566928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548640" y="4663440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RD (4")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2103120" y="466344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GENEBRE  WP-SDC Dn150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389120" y="4663440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DN150 · Q3 250 · R80 · T30 · MAP 16 · U10 D5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406640" y="466344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8046720" y="4663440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Cifras enteras m³ × 10  +  2 relojillos (×1 / ×0.1)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57200" y="5230368"/>
            <a:ext cx="1124712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548640" y="5230368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CNP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2103120" y="523036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WST 4" 12-04295  ·  ARAD WST 100SB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389120" y="5230368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N60 · qp/Qn 150 · C 16 bar · ISO 4064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7406640" y="523036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046720" y="5230368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Cifras enteras m³ × 10  +  2 relojillos (×1 / ×0.1 / ×0.01)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57200" y="5797296"/>
            <a:ext cx="11247120" cy="566928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548640" y="5797296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Agua potable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2103120" y="5797296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ARAD MS 40  ·  Lot 15.40123180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389120" y="5797296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Qp/Qn 10 · N10 CH · ΔP 0.6 bar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7406640" y="579729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8046720" y="5797296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Cifras enteras m³ + 3 relojillos (×0.1 / ×0.01 / ×0.001)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7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7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Lecturas iniciales  ·  08:51 – 08:57 h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Lectura del display + posición de diales + multiplicador → volumen en m³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54864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Punto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663440" y="14173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Lectura</a:t>
            </a:r>
            <a:r>
              <a:rPr lang="en-US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pantalla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949440" y="14173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321040" y="14173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Lectura (m³)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548640" y="18288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Bombeo Principal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663440" y="18288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311,689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949440" y="18288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8321040" y="18288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311,689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548640" y="22860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Bombeo Auxiliar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663440" y="22860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011,226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949440" y="22860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8321040" y="22860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11,226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548640" y="2743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Entrada Clarif.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663440" y="27432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078,877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949440" y="27432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8321040" y="27432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78,877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548640" y="32004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Clarif.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663440" y="32004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212,627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949440" y="32004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321040" y="32004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212,627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548640" y="36576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Clarif.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4663440" y="36576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038,490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949440" y="36576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832104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384,900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548640" y="41148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663440" y="41148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027,096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6949440" y="41148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8321040" y="41148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270,960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548640" y="45720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CNP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663440" y="45720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011,705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6949440" y="45720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8321040" y="45720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117,050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548640" y="5029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Agua Potable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663440" y="50292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049,067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949440" y="50292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8321040" y="50292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49,067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640080" y="5715000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NOTA SOBRE EL MULTIPLICADOR ×10:  </a:t>
            </a:r>
            <a:r>
              <a:rPr lang="en-US" sz="10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los </a:t>
            </a:r>
            <a:r>
              <a:rPr lang="en-US" sz="10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contadores</a:t>
            </a:r>
            <a:r>
              <a:rPr lang="en-US" sz="10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Salida Cl. 1, Salida RD y Salida CNP </a:t>
            </a:r>
            <a:r>
              <a:rPr lang="en-US" sz="10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muestran</a:t>
            </a:r>
            <a:r>
              <a:rPr lang="en-US" sz="10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0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10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display las </a:t>
            </a:r>
            <a:r>
              <a:rPr lang="en-US" sz="10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cifras</a:t>
            </a:r>
            <a:r>
              <a:rPr lang="en-US" sz="10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divididas</a:t>
            </a:r>
            <a:r>
              <a:rPr lang="en-US" sz="10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por 10. </a:t>
            </a:r>
            <a:r>
              <a:rPr lang="en-US" sz="1050" b="1" i="0" u="none" strike="noStrike" cap="none" dirty="0" err="1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Ejemplo</a:t>
            </a:r>
            <a:r>
              <a:rPr lang="en-US" sz="1050" b="1" i="0" u="none" strike="noStrike" cap="none" dirty="0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 CNP:  display 011,705  →  ×10  →  117,050 m³.  </a:t>
            </a:r>
            <a:r>
              <a:rPr lang="en-US" sz="10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Confundir</a:t>
            </a:r>
            <a:r>
              <a:rPr lang="en-US" sz="10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esto</a:t>
            </a:r>
            <a:r>
              <a:rPr lang="en-US" sz="10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produce </a:t>
            </a:r>
            <a:r>
              <a:rPr lang="en-US" sz="10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errores</a:t>
            </a:r>
            <a:r>
              <a:rPr lang="en-US" sz="10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de un </a:t>
            </a:r>
            <a:r>
              <a:rPr lang="en-US" sz="10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orden</a:t>
            </a:r>
            <a:r>
              <a:rPr lang="en-US" sz="10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0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magnitud</a:t>
            </a:r>
            <a:r>
              <a:rPr lang="en-US" sz="10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8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6" name="Google Shape;256;p8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Lecturas finales  ·  14:53 – 15:10 h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Mismo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método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lectura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aplicado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al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del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recorrido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54864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Punto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3291840" y="14173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Hora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4663440" y="14173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Display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949440" y="14173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8321040" y="14173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Lectura (m³)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548640" y="18288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Bombeo</a:t>
            </a:r>
            <a:r>
              <a:rPr lang="en-US" sz="1100" b="1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Principal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3291840" y="18288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14:53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4663440" y="18288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311,757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6949440" y="18288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8321040" y="18288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311,757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548640" y="22860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Bombeo Auxiliar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3291840" y="22860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15:10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663440" y="22860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011,226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6949440" y="22860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8321040" y="22860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11,226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548640" y="2743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Entrada Clarif.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3291840" y="27432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15:01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663440" y="27432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078,955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6949440" y="27432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8321040" y="27432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78,955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548640" y="32004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Clarif.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291840" y="32004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15:01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663440" y="32004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212,819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6949440" y="32004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8321040" y="32004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212,819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548640" y="36576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Clarif.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291840" y="36576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15:04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4663440" y="36576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038,497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6949440" y="36576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832104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384,970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548640" y="41148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3291840" y="41148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15:05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663440" y="41148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027,107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6949440" y="41148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8321040" y="41148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271,070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548640" y="45720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CNP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3291840" y="45720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15:06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4663440" y="45720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011,709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6949440" y="45720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8321040" y="45720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117,090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548640" y="5029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Agua Potable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3291840" y="50292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15:05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4663440" y="50292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049,099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6949440" y="50292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×1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8321040" y="50292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49,099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640080" y="5715000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VERIFICACIÓN CRÍTICA — SALIDA CNP:  </a:t>
            </a: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el display final marca  </a:t>
            </a: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011,709</a:t>
            </a: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 ×  ×10  =  </a:t>
            </a:r>
            <a:r>
              <a:rPr lang="en-US" sz="110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117,090 m³</a:t>
            </a: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 (NO 11,7090 ni 1,170,900). La cifra correcta marca un Δ de +40 m³ contra la lectura inicial.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9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1" name="Google Shape;321;p9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Volumen real entregado por cada contador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Diferencia inicial – final  ·  cifras ya convertidas a m³ con el multiplicador aplicado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1371600" y="1417320"/>
            <a:ext cx="9144000" cy="41148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146304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Contador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206240" y="14173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Inicio (m³)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6492240" y="14173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(m³)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8778240" y="141732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 real (m³)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1371600" y="1828800"/>
            <a:ext cx="914400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1463040" y="182880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Principal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4206240" y="182880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311,689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6492240" y="182880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311,757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8778240" y="182880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+68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1371600" y="2212848"/>
            <a:ext cx="9144000" cy="384048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1463040" y="221284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Auxiliar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206240" y="221284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11,226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492240" y="221284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11,226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8778240" y="221284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1371600" y="2596896"/>
            <a:ext cx="914400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1463040" y="2596896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Entrada Cl.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4206240" y="2596896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78,877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6492240" y="2596896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78,955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8778240" y="2596896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+78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1371600" y="2980944"/>
            <a:ext cx="9144000" cy="384048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1463040" y="2980944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Cl.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4206240" y="2980944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212,627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6492240" y="2980944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212,819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8778240" y="2980944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+192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1371600" y="3364992"/>
            <a:ext cx="914400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1463040" y="336499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Cl.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4206240" y="336499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384,900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6492240" y="336499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384,970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8778240" y="336499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+70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1371600" y="3749040"/>
            <a:ext cx="9144000" cy="384048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1463040" y="374904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4206240" y="374904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270,960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6492240" y="374904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271,070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8778240" y="374904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+110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1371600" y="4133088"/>
            <a:ext cx="914400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1463040" y="413308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CNP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4206240" y="413308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117,050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6492240" y="413308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117,090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8778240" y="413308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+40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1371600" y="4517136"/>
            <a:ext cx="9144000" cy="384048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1463040" y="4517136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Agua Potable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4206240" y="4517136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49,067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6492240" y="4517136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49,099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8778240" y="4517136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+32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457200" y="5166360"/>
            <a:ext cx="3621024" cy="128016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640080" y="52578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APORTE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640080" y="553212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+68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m³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40080" y="61264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Bombas → T0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4261104" y="5166360"/>
            <a:ext cx="3621024" cy="128016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4443984" y="52578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TRATADO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4443984" y="553212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+262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m³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4443984" y="61264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Salida Cl. 1 + Cl.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8065008" y="5166360"/>
            <a:ext cx="3621024" cy="128016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8247888" y="52578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CONSUMIDO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8247888" y="553212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−182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m³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8247888" y="61264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RD + CNP + Potable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0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10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7" name="Google Shape;387;p10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Aforo promedio por contador (basado en hora real de las fotos)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Q promedio = Δ volumen / Δ tiempo entre foto inicial y foto final de cada punto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548640" y="14173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Punto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2834640" y="141732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Hora inicial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4389120" y="141732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Hora final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5943600" y="14173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Δt (h)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7315200" y="141732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 vol (m³)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905256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promedio (m³/h)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548640" y="182880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Principal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2834640" y="18288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08:54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4389120" y="18288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14:53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5943600" y="18288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5.983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7315200" y="182880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+68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9052560" y="18288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11.37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457200" y="2240280"/>
            <a:ext cx="11247120" cy="4114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548640" y="224028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Auxiliar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2834640" y="22402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08:57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4389120" y="22402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15:10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5943600" y="22402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6.217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7315200" y="224028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9052560" y="22402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0.00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457200" y="2651760"/>
            <a:ext cx="11247120" cy="411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548640" y="265176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Entrada Cl. 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2834640" y="26517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08:51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4389120" y="26517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15:01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5943600" y="265176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6.167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7315200" y="265176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+78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9052560" y="26517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12.65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457200" y="3063240"/>
            <a:ext cx="11247120" cy="4114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548640" y="306324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Cl. 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2834640" y="306324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08:51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4389120" y="306324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15:01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5943600" y="30632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6.167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7315200" y="306324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+192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9052560" y="30632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31.13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457200" y="3474720"/>
            <a:ext cx="11247120" cy="411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548640" y="34747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Cl. 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2834640" y="347472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08:52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4389120" y="347472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15:04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5943600" y="34747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6.200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7315200" y="347472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+70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9052560" y="34747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11.29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457200" y="3886200"/>
            <a:ext cx="11247120" cy="4114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548640" y="388620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RD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2834640" y="38862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08:52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4389120" y="38862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15:05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5943600" y="38862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6.217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7315200" y="388620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+110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9052560" y="38862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17.69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548640" y="429768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CNP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2834640" y="42976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08:52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4389120" y="42976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15:06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5943600" y="42976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6.233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7315200" y="429768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+40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9052560" y="42976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6.42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457200" y="4709160"/>
            <a:ext cx="11247120" cy="4114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0"/>
          <p:cNvSpPr/>
          <p:nvPr/>
        </p:nvSpPr>
        <p:spPr>
          <a:xfrm>
            <a:off x="548640" y="470916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Agua Potable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2834640" y="47091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09:11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4389120" y="47091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15:05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5943600" y="470916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5.900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7315200" y="470916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+32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9052560" y="47091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5.42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0"/>
          <p:cNvSpPr/>
          <p:nvPr/>
        </p:nvSpPr>
        <p:spPr>
          <a:xfrm>
            <a:off x="457200" y="5349240"/>
            <a:ext cx="11247120" cy="118872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640080" y="544068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INTERPRETACIÓN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640080" y="5715000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• B. Principal aportó 68 m³ a un ritmo promedio de  </a:t>
            </a:r>
            <a:r>
              <a:rPr lang="en-US" sz="1050" b="1" i="0" u="none" strike="noStrike" cap="non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11.37 m³/h</a:t>
            </a: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 (≈50 GPM).  El B. Auxiliar no operó durante el recorrido.</a:t>
            </a:r>
            <a:b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• Salida Cl. 2 entregó 192 m³ a  </a:t>
            </a:r>
            <a:r>
              <a:rPr lang="en-US" sz="1050" b="1" i="0" u="none" strike="noStrike" cap="non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31.13 m³/h</a:t>
            </a: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 → 10 % por encima de su nominal 28.39 m³/h.</a:t>
            </a:r>
            <a:b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• Salida Cl. 1 a  </a:t>
            </a:r>
            <a:r>
              <a:rPr lang="en-US" sz="1050" b="1" i="0" u="none" strike="noStrike" cap="non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11.29 m³/h</a:t>
            </a: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 → exactamente en su nominal 11.36 m³/h.  La razón Cl.2/Cl.1 medida = 2.74 (nominal 2.5).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1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1" name="Google Shape;461;p11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2" name="Google Shape;462;p11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Ruta del flujo de agua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Trazado desde el bombeo hasta los puntos finales de consumo — valores reales medidos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457200" y="2194560"/>
            <a:ext cx="1828800" cy="22860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457200" y="2194560"/>
            <a:ext cx="1828800" cy="41148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502920" y="219456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BOMBEO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548640" y="26974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Principal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548640" y="299008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+68 m³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548640" y="328269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Q = 11.37 m³/h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548640" y="357530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Auxiliar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548640" y="38679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0 m³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548640" y="41605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TOTAL  +68 m³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2697480" y="2194560"/>
            <a:ext cx="1828800" cy="22860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2697480" y="2194560"/>
            <a:ext cx="1828800" cy="41148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2743200" y="219456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TANQUE T0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2788920" y="26974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Capacidad 487 m³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2788920" y="299008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(agua cruda)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2788920" y="328269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Distribuye a los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2788920" y="357530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2 clarificadores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4937760" y="1783080"/>
            <a:ext cx="1828800" cy="11430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4937760" y="1783080"/>
            <a:ext cx="1828800" cy="41148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1"/>
          <p:cNvSpPr/>
          <p:nvPr/>
        </p:nvSpPr>
        <p:spPr>
          <a:xfrm>
            <a:off x="4983480" y="178308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CLARIF.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5029200" y="22860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+70 m³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5029200" y="257860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Q = 11.29 m³/h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4937760" y="3840480"/>
            <a:ext cx="1828800" cy="11430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1"/>
          <p:cNvSpPr/>
          <p:nvPr/>
        </p:nvSpPr>
        <p:spPr>
          <a:xfrm>
            <a:off x="4937760" y="3840480"/>
            <a:ext cx="1828800" cy="41148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4983480" y="384048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CLARIF.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5029200" y="43434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Entr</a:t>
            </a: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+78 m³ 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5029200" y="463600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 +192 m³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7178040" y="2194560"/>
            <a:ext cx="2286000" cy="22860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2129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7178040" y="2194560"/>
            <a:ext cx="2286000" cy="411480"/>
          </a:xfrm>
          <a:prstGeom prst="rect">
            <a:avLst/>
          </a:prstGeom>
          <a:solidFill>
            <a:srgbClr val="21295C"/>
          </a:solidFill>
          <a:ln w="12700" cap="flat" cmpd="sng">
            <a:solidFill>
              <a:srgbClr val="2129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1"/>
          <p:cNvSpPr/>
          <p:nvPr/>
        </p:nvSpPr>
        <p:spPr>
          <a:xfrm>
            <a:off x="7223760" y="219456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 · T2 · T3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7269480" y="269748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T1 estable  1.42 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7269480" y="299008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T2 ↑ 1.43 → 2.92 m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7269480" y="328269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T3 ↓ 2.32 → 1.44 m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7269480" y="357530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ΔV </a:t>
            </a:r>
            <a:r>
              <a:rPr lang="en-US" sz="9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neto</a:t>
            </a: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 +95.25 m³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9875520" y="2194560"/>
            <a:ext cx="1828800" cy="22860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1"/>
          <p:cNvSpPr/>
          <p:nvPr/>
        </p:nvSpPr>
        <p:spPr>
          <a:xfrm>
            <a:off x="9875520" y="2194560"/>
            <a:ext cx="1828800" cy="41148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1"/>
          <p:cNvSpPr/>
          <p:nvPr/>
        </p:nvSpPr>
        <p:spPr>
          <a:xfrm>
            <a:off x="9921240" y="219456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CONSUMOS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9966960" y="26974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RD    +110 m³  (17.69)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9966960" y="299008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CNP   +40 m³  (6.42)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9966960" y="328269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Pot.  +32 m³  (5.42)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9966960" y="357530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TOTAL +182 m³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11"/>
          <p:cNvCxnSpPr/>
          <p:nvPr/>
        </p:nvCxnSpPr>
        <p:spPr>
          <a:xfrm>
            <a:off x="2286000" y="333756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5A6C7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5" name="Google Shape;505;p11"/>
          <p:cNvCxnSpPr/>
          <p:nvPr/>
        </p:nvCxnSpPr>
        <p:spPr>
          <a:xfrm rot="10800000" flipH="1">
            <a:off x="4526280" y="2331720"/>
            <a:ext cx="411480" cy="685800"/>
          </a:xfrm>
          <a:prstGeom prst="straightConnector1">
            <a:avLst/>
          </a:prstGeom>
          <a:noFill/>
          <a:ln w="19050" cap="flat" cmpd="sng">
            <a:solidFill>
              <a:srgbClr val="5A6C7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6" name="Google Shape;506;p11"/>
          <p:cNvCxnSpPr/>
          <p:nvPr/>
        </p:nvCxnSpPr>
        <p:spPr>
          <a:xfrm>
            <a:off x="4526280" y="3657600"/>
            <a:ext cx="411480" cy="731520"/>
          </a:xfrm>
          <a:prstGeom prst="straightConnector1">
            <a:avLst/>
          </a:prstGeom>
          <a:noFill/>
          <a:ln w="19050" cap="flat" cmpd="sng">
            <a:solidFill>
              <a:srgbClr val="5A6C7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7" name="Google Shape;507;p11"/>
          <p:cNvCxnSpPr/>
          <p:nvPr/>
        </p:nvCxnSpPr>
        <p:spPr>
          <a:xfrm>
            <a:off x="6766560" y="2331720"/>
            <a:ext cx="411480" cy="685800"/>
          </a:xfrm>
          <a:prstGeom prst="straightConnector1">
            <a:avLst/>
          </a:prstGeom>
          <a:noFill/>
          <a:ln w="19050" cap="flat" cmpd="sng">
            <a:solidFill>
              <a:srgbClr val="5A6C7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8" name="Google Shape;508;p11"/>
          <p:cNvCxnSpPr/>
          <p:nvPr/>
        </p:nvCxnSpPr>
        <p:spPr>
          <a:xfrm rot="10800000" flipH="1">
            <a:off x="6766560" y="3657600"/>
            <a:ext cx="411480" cy="731520"/>
          </a:xfrm>
          <a:prstGeom prst="straightConnector1">
            <a:avLst/>
          </a:prstGeom>
          <a:noFill/>
          <a:ln w="19050" cap="flat" cmpd="sng">
            <a:solidFill>
              <a:srgbClr val="5A6C7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9" name="Google Shape;509;p11"/>
          <p:cNvCxnSpPr/>
          <p:nvPr/>
        </p:nvCxnSpPr>
        <p:spPr>
          <a:xfrm>
            <a:off x="9464040" y="333756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5A6C7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0" name="Google Shape;510;p11"/>
          <p:cNvSpPr/>
          <p:nvPr/>
        </p:nvSpPr>
        <p:spPr>
          <a:xfrm>
            <a:off x="457200" y="5120640"/>
            <a:ext cx="11247120" cy="1325880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1"/>
          <p:cNvSpPr/>
          <p:nvPr/>
        </p:nvSpPr>
        <p:spPr>
          <a:xfrm>
            <a:off x="640080" y="52120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⚠  ANOMALÍA DETECTADA EN CLARIFICADOR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1"/>
          <p:cNvSpPr/>
          <p:nvPr/>
        </p:nvSpPr>
        <p:spPr>
          <a:xfrm>
            <a:off x="640080" y="5532120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Entrada Cl. 2  = </a:t>
            </a:r>
            <a:r>
              <a:rPr lang="en-US" sz="1100" b="1" i="0" u="none" strike="noStrike" cap="none" dirty="0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+78 m³</a:t>
            </a:r>
            <a:r>
              <a:rPr lang="en-US" sz="11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  vs   Salida Cl. 2  = </a:t>
            </a:r>
            <a:r>
              <a:rPr lang="en-US" sz="1100" b="1" i="0" u="none" strike="noStrike" cap="none" dirty="0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+192 m³</a:t>
            </a:r>
            <a:r>
              <a:rPr lang="en-US" sz="11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  →   </a:t>
            </a:r>
            <a:r>
              <a:rPr lang="en-US" sz="11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discrepancia</a:t>
            </a:r>
            <a:r>
              <a:rPr lang="en-US" sz="11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100" b="1" i="0" u="none" strike="noStrike" cap="none" dirty="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+114 m³</a:t>
            </a:r>
            <a:r>
              <a:rPr lang="en-US" sz="11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 (</a:t>
            </a:r>
            <a:r>
              <a:rPr lang="en-US" sz="11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imposible</a:t>
            </a:r>
            <a:r>
              <a:rPr lang="en-US" sz="11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por </a:t>
            </a:r>
            <a:r>
              <a:rPr lang="en-US" sz="11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conservación</a:t>
            </a:r>
            <a:r>
              <a:rPr lang="en-US" sz="11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de masa).</a:t>
            </a:r>
            <a:br>
              <a:rPr lang="en-US" sz="11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1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Hipótesis</a:t>
            </a:r>
            <a:r>
              <a:rPr lang="en-US" sz="1000" b="0" i="1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principal: </a:t>
            </a:r>
            <a:r>
              <a:rPr lang="en-US" sz="1000" b="0" i="1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1000" b="0" i="1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1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contador</a:t>
            </a:r>
            <a:r>
              <a:rPr lang="en-US" sz="1000" b="0" i="1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de entrada sub-</a:t>
            </a:r>
            <a:r>
              <a:rPr lang="en-US" sz="1000" b="0" i="1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registra</a:t>
            </a:r>
            <a:r>
              <a:rPr lang="en-US" sz="1000" b="0" i="1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, o </a:t>
            </a:r>
            <a:r>
              <a:rPr lang="en-US" sz="1000" b="0" i="1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existe</a:t>
            </a:r>
            <a:r>
              <a:rPr lang="en-US" sz="1000" b="0" i="1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una </a:t>
            </a:r>
            <a:r>
              <a:rPr lang="en-US" sz="1000" b="0" i="1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alimentación</a:t>
            </a:r>
            <a:r>
              <a:rPr lang="en-US" sz="1000" b="0" i="1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1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paralela</a:t>
            </a:r>
            <a:r>
              <a:rPr lang="en-US" sz="1000" b="0" i="1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US" sz="1000" b="0" i="1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medida</a:t>
            </a:r>
            <a:r>
              <a:rPr lang="en-US" sz="1000" b="0" i="1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1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hacia</a:t>
            </a:r>
            <a:r>
              <a:rPr lang="en-US" sz="1000" b="0" i="1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Cl. 2 (se </a:t>
            </a:r>
            <a:r>
              <a:rPr lang="en-US" sz="1000" b="0" i="1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desarrolla</a:t>
            </a:r>
            <a:r>
              <a:rPr lang="en-US" sz="1000" b="0" i="1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1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000" b="0" i="1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la slide 22).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2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9" name="Google Shape;519;p12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0" name="Google Shape;520;p12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Aforos cronometrados en sitio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Caudal instantáneo medido con cronómetro vs el promedio sobre el período completo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2"/>
          <p:cNvSpPr/>
          <p:nvPr/>
        </p:nvSpPr>
        <p:spPr>
          <a:xfrm>
            <a:off x="548640" y="14173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Punto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2743200" y="141732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 aforo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3931920" y="14173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5303520" y="14173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Tiempo (s)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6675120" y="141732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aforo (m³/h)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8321040" y="14173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promedio (m³/h)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10332720" y="14173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 relativa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457200" y="1828800"/>
            <a:ext cx="11247120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2"/>
          <p:cNvSpPr/>
          <p:nvPr/>
        </p:nvSpPr>
        <p:spPr>
          <a:xfrm>
            <a:off x="548640" y="1828800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Principal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2743200" y="182880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2"/>
          <p:cNvSpPr/>
          <p:nvPr/>
        </p:nvSpPr>
        <p:spPr>
          <a:xfrm>
            <a:off x="3931920" y="1828800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07:04.40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2"/>
          <p:cNvSpPr/>
          <p:nvPr/>
        </p:nvSpPr>
        <p:spPr>
          <a:xfrm>
            <a:off x="5303520" y="1828800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424.40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6675120" y="182880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8.48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8321040" y="182880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11.37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2"/>
          <p:cNvSpPr/>
          <p:nvPr/>
        </p:nvSpPr>
        <p:spPr>
          <a:xfrm>
            <a:off x="10332720" y="1828800"/>
            <a:ext cx="1280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+34 %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2"/>
          <p:cNvSpPr/>
          <p:nvPr/>
        </p:nvSpPr>
        <p:spPr>
          <a:xfrm>
            <a:off x="457200" y="2267712"/>
            <a:ext cx="11247120" cy="43891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2"/>
          <p:cNvSpPr/>
          <p:nvPr/>
        </p:nvSpPr>
        <p:spPr>
          <a:xfrm>
            <a:off x="548640" y="2267712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Entrada Cl. 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2"/>
          <p:cNvSpPr/>
          <p:nvPr/>
        </p:nvSpPr>
        <p:spPr>
          <a:xfrm>
            <a:off x="2743200" y="2267712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2"/>
          <p:cNvSpPr/>
          <p:nvPr/>
        </p:nvSpPr>
        <p:spPr>
          <a:xfrm>
            <a:off x="3931920" y="2267712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02:08.21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2"/>
          <p:cNvSpPr/>
          <p:nvPr/>
        </p:nvSpPr>
        <p:spPr>
          <a:xfrm>
            <a:off x="5303520" y="2267712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128.21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6675120" y="2267712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28.08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2"/>
          <p:cNvSpPr/>
          <p:nvPr/>
        </p:nvSpPr>
        <p:spPr>
          <a:xfrm>
            <a:off x="8321040" y="2267712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12.65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2"/>
          <p:cNvSpPr/>
          <p:nvPr/>
        </p:nvSpPr>
        <p:spPr>
          <a:xfrm>
            <a:off x="10332720" y="2267712"/>
            <a:ext cx="1280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−55 %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2"/>
          <p:cNvSpPr/>
          <p:nvPr/>
        </p:nvSpPr>
        <p:spPr>
          <a:xfrm>
            <a:off x="457200" y="2706624"/>
            <a:ext cx="11247120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2"/>
          <p:cNvSpPr/>
          <p:nvPr/>
        </p:nvSpPr>
        <p:spPr>
          <a:xfrm>
            <a:off x="548640" y="2706624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Cl. 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2"/>
          <p:cNvSpPr/>
          <p:nvPr/>
        </p:nvSpPr>
        <p:spPr>
          <a:xfrm>
            <a:off x="2743200" y="2706624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2"/>
          <p:cNvSpPr/>
          <p:nvPr/>
        </p:nvSpPr>
        <p:spPr>
          <a:xfrm>
            <a:off x="3931920" y="2706624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00:56.78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2"/>
          <p:cNvSpPr/>
          <p:nvPr/>
        </p:nvSpPr>
        <p:spPr>
          <a:xfrm>
            <a:off x="5303520" y="2706624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56.78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6675120" y="2706624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63.40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2"/>
          <p:cNvSpPr/>
          <p:nvPr/>
        </p:nvSpPr>
        <p:spPr>
          <a:xfrm>
            <a:off x="8321040" y="2706624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31.13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2"/>
          <p:cNvSpPr/>
          <p:nvPr/>
        </p:nvSpPr>
        <p:spPr>
          <a:xfrm>
            <a:off x="10332720" y="2706624"/>
            <a:ext cx="1280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−51 %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2"/>
          <p:cNvSpPr/>
          <p:nvPr/>
        </p:nvSpPr>
        <p:spPr>
          <a:xfrm>
            <a:off x="457200" y="3145536"/>
            <a:ext cx="11247120" cy="438912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2"/>
          <p:cNvSpPr/>
          <p:nvPr/>
        </p:nvSpPr>
        <p:spPr>
          <a:xfrm>
            <a:off x="548640" y="3145536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Cl. 2 (rep.)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2"/>
          <p:cNvSpPr/>
          <p:nvPr/>
        </p:nvSpPr>
        <p:spPr>
          <a:xfrm>
            <a:off x="2743200" y="3145536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5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2"/>
          <p:cNvSpPr/>
          <p:nvPr/>
        </p:nvSpPr>
        <p:spPr>
          <a:xfrm>
            <a:off x="3931920" y="3145536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04:42.39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2"/>
          <p:cNvSpPr/>
          <p:nvPr/>
        </p:nvSpPr>
        <p:spPr>
          <a:xfrm>
            <a:off x="5303520" y="3145536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282.39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2"/>
          <p:cNvSpPr/>
          <p:nvPr/>
        </p:nvSpPr>
        <p:spPr>
          <a:xfrm>
            <a:off x="6675120" y="3145536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63.75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2"/>
          <p:cNvSpPr/>
          <p:nvPr/>
        </p:nvSpPr>
        <p:spPr>
          <a:xfrm>
            <a:off x="8321040" y="3145536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31.13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2"/>
          <p:cNvSpPr/>
          <p:nvPr/>
        </p:nvSpPr>
        <p:spPr>
          <a:xfrm>
            <a:off x="10332720" y="3145536"/>
            <a:ext cx="1280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−51 %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2"/>
          <p:cNvSpPr/>
          <p:nvPr/>
        </p:nvSpPr>
        <p:spPr>
          <a:xfrm>
            <a:off x="457200" y="3584448"/>
            <a:ext cx="11247120" cy="4389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2"/>
          <p:cNvSpPr/>
          <p:nvPr/>
        </p:nvSpPr>
        <p:spPr>
          <a:xfrm>
            <a:off x="548640" y="3584448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Cl. 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2"/>
          <p:cNvSpPr/>
          <p:nvPr/>
        </p:nvSpPr>
        <p:spPr>
          <a:xfrm>
            <a:off x="2743200" y="3584448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2"/>
          <p:cNvSpPr/>
          <p:nvPr/>
        </p:nvSpPr>
        <p:spPr>
          <a:xfrm>
            <a:off x="3931920" y="3584448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04:57.15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2"/>
          <p:cNvSpPr/>
          <p:nvPr/>
        </p:nvSpPr>
        <p:spPr>
          <a:xfrm>
            <a:off x="5303520" y="3584448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297.15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2"/>
          <p:cNvSpPr/>
          <p:nvPr/>
        </p:nvSpPr>
        <p:spPr>
          <a:xfrm>
            <a:off x="6675120" y="3584448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12.12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2"/>
          <p:cNvSpPr/>
          <p:nvPr/>
        </p:nvSpPr>
        <p:spPr>
          <a:xfrm>
            <a:off x="8321040" y="3584448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11.29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2"/>
          <p:cNvSpPr/>
          <p:nvPr/>
        </p:nvSpPr>
        <p:spPr>
          <a:xfrm>
            <a:off x="10332720" y="3584448"/>
            <a:ext cx="1280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−7 %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457200" y="4206240"/>
            <a:ext cx="11247120" cy="219456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2"/>
          <p:cNvSpPr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INTERPRETACIÓN — caudal instantáneo vs promedio prolongado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2"/>
          <p:cNvSpPr/>
          <p:nvPr/>
        </p:nvSpPr>
        <p:spPr>
          <a:xfrm>
            <a:off x="640080" y="4736592"/>
            <a:ext cx="164592" cy="164592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2"/>
          <p:cNvSpPr/>
          <p:nvPr/>
        </p:nvSpPr>
        <p:spPr>
          <a:xfrm>
            <a:off x="868680" y="46634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Principal:  +34 %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2"/>
          <p:cNvSpPr/>
          <p:nvPr/>
        </p:nvSpPr>
        <p:spPr>
          <a:xfrm>
            <a:off x="3840480" y="4663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El promedio (11.37 m³/h) supera al aforo puntual (8.48 m³/h). Indica que la bomba operó con caudal levemente superior al puntual o que hubo arranques repetidos durante el recorrido.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2"/>
          <p:cNvSpPr/>
          <p:nvPr/>
        </p:nvSpPr>
        <p:spPr>
          <a:xfrm>
            <a:off x="640080" y="5303520"/>
            <a:ext cx="164592" cy="164592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2"/>
          <p:cNvSpPr/>
          <p:nvPr/>
        </p:nvSpPr>
        <p:spPr>
          <a:xfrm>
            <a:off x="868680" y="52303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Cl. 2 entrada y salida:  −51 a −55 %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3840480" y="523036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Los aforos instantáneos (28.08 y 63.40 m³/h) duplican el promedio. El Clarif. 2 NO operó de forma continua: estuvo encendido aprox. el 45–50 % del tiempo (pulsos).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2"/>
          <p:cNvSpPr/>
          <p:nvPr/>
        </p:nvSpPr>
        <p:spPr>
          <a:xfrm>
            <a:off x="640080" y="5870448"/>
            <a:ext cx="164592" cy="164592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2"/>
          <p:cNvSpPr/>
          <p:nvPr/>
        </p:nvSpPr>
        <p:spPr>
          <a:xfrm>
            <a:off x="868680" y="5797296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Cl. 1 salida:  −7 %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2"/>
          <p:cNvSpPr/>
          <p:nvPr/>
        </p:nvSpPr>
        <p:spPr>
          <a:xfrm>
            <a:off x="3840480" y="5797296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Diferencia mínima — el clarif. 1 operó con mayor continuidad (≈80 % del tiempo). Aforo 12.12 m³/h vs promedio 11.29 m³/h.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Comparativa visual:  aforo cronometrado vs aforo promedio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3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Barras paralelas por punto — muestra el régimen intermitente real de los clarificadores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0" name="Google Shape;5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417320"/>
            <a:ext cx="731520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13"/>
          <p:cNvSpPr/>
          <p:nvPr/>
        </p:nvSpPr>
        <p:spPr>
          <a:xfrm>
            <a:off x="8046720" y="1417320"/>
            <a:ext cx="365760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13"/>
          <p:cNvSpPr/>
          <p:nvPr/>
        </p:nvSpPr>
        <p:spPr>
          <a:xfrm>
            <a:off x="8183880" y="15087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LO QUE REVELAN LAS BARRAS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8183880" y="18745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Cl. 2 entrada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8183880" y="2167128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Aforo</a:t>
            </a:r>
            <a:r>
              <a:rPr lang="en-US" sz="950" b="0" i="0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28.08 vs </a:t>
            </a:r>
            <a:r>
              <a:rPr lang="en-US" sz="950" b="0" i="0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promedio</a:t>
            </a:r>
            <a:r>
              <a:rPr lang="en-US" sz="950" b="0" i="0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12.65.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Funciona</a:t>
            </a:r>
            <a:r>
              <a:rPr lang="en-US" sz="950" b="0" i="0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0" i="0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950" b="0" i="0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0" i="0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pulsos</a:t>
            </a:r>
            <a:r>
              <a:rPr lang="en-US" sz="950" b="0" i="0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:  ≈45 % del </a:t>
            </a:r>
            <a:r>
              <a:rPr lang="en-US" sz="950" b="0" i="0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r>
              <a:rPr lang="en-US" sz="950" b="0" i="0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8183880" y="30175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Cl. 2 salida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3"/>
          <p:cNvSpPr/>
          <p:nvPr/>
        </p:nvSpPr>
        <p:spPr>
          <a:xfrm>
            <a:off x="8183880" y="3310128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Aforo 63.40 vs promedio 31.13.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Mismo patrón pulsante.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3"/>
          <p:cNvSpPr/>
          <p:nvPr/>
        </p:nvSpPr>
        <p:spPr>
          <a:xfrm>
            <a:off x="8183880" y="41605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Cl. 1 salida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3"/>
          <p:cNvSpPr/>
          <p:nvPr/>
        </p:nvSpPr>
        <p:spPr>
          <a:xfrm>
            <a:off x="8183880" y="4453128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Aforo 12.12 vs promedio 11.29.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Régimen casi continuo  (≈80 %).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3"/>
          <p:cNvSpPr/>
          <p:nvPr/>
        </p:nvSpPr>
        <p:spPr>
          <a:xfrm>
            <a:off x="8183880" y="53035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Principal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8183880" y="5596128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Aforo 8.48 vs promedio 11.37.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La bomba acumuló más volumen del esperado por aforo puntual.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4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7" name="Google Shape;607;p14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8" name="Google Shape;608;p14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Niveles medidos y volúmenes reales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4"/>
          <p:cNvSpPr/>
          <p:nvPr/>
        </p:nvSpPr>
        <p:spPr>
          <a:xfrm>
            <a:off x="457200" y="1417320"/>
            <a:ext cx="356616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4"/>
          <p:cNvSpPr/>
          <p:nvPr/>
        </p:nvSpPr>
        <p:spPr>
          <a:xfrm>
            <a:off x="457200" y="1417320"/>
            <a:ext cx="3566160" cy="502920"/>
          </a:xfrm>
          <a:prstGeom prst="rect">
            <a:avLst/>
          </a:prstGeom>
          <a:solidFill>
            <a:srgbClr val="5A6C7D"/>
          </a:solidFill>
          <a:ln w="12700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14"/>
          <p:cNvSpPr/>
          <p:nvPr/>
        </p:nvSpPr>
        <p:spPr>
          <a:xfrm>
            <a:off x="640080" y="14630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TANQUE 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4"/>
          <p:cNvSpPr/>
          <p:nvPr/>
        </p:nvSpPr>
        <p:spPr>
          <a:xfrm>
            <a:off x="2286000" y="14630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Estable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4"/>
          <p:cNvSpPr/>
          <p:nvPr/>
        </p:nvSpPr>
        <p:spPr>
          <a:xfrm>
            <a:off x="1005840" y="2194560"/>
            <a:ext cx="2468880" cy="2286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4"/>
          <p:cNvSpPr/>
          <p:nvPr/>
        </p:nvSpPr>
        <p:spPr>
          <a:xfrm>
            <a:off x="1005840" y="3440137"/>
            <a:ext cx="2468880" cy="1040423"/>
          </a:xfrm>
          <a:prstGeom prst="rect">
            <a:avLst/>
          </a:prstGeom>
          <a:solidFill>
            <a:srgbClr val="06AED5">
              <a:alpha val="40000"/>
            </a:srgbClr>
          </a:solidFill>
          <a:ln w="12700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6" name="Google Shape;616;p14"/>
          <p:cNvCxnSpPr/>
          <p:nvPr/>
        </p:nvCxnSpPr>
        <p:spPr>
          <a:xfrm>
            <a:off x="868680" y="4480560"/>
            <a:ext cx="91440" cy="0"/>
          </a:xfrm>
          <a:prstGeom prst="straightConnector1">
            <a:avLst/>
          </a:prstGeom>
          <a:noFill/>
          <a:ln w="9525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7" name="Google Shape;617;p14"/>
          <p:cNvSpPr/>
          <p:nvPr/>
        </p:nvSpPr>
        <p:spPr>
          <a:xfrm>
            <a:off x="457200" y="43891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0.0 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8" name="Google Shape;618;p14"/>
          <p:cNvCxnSpPr/>
          <p:nvPr/>
        </p:nvCxnSpPr>
        <p:spPr>
          <a:xfrm>
            <a:off x="868680" y="3909060"/>
            <a:ext cx="91440" cy="0"/>
          </a:xfrm>
          <a:prstGeom prst="straightConnector1">
            <a:avLst/>
          </a:prstGeom>
          <a:noFill/>
          <a:ln w="9525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9" name="Google Shape;619;p14"/>
          <p:cNvSpPr/>
          <p:nvPr/>
        </p:nvSpPr>
        <p:spPr>
          <a:xfrm>
            <a:off x="457200" y="38176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0.8 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0" name="Google Shape;620;p14"/>
          <p:cNvCxnSpPr/>
          <p:nvPr/>
        </p:nvCxnSpPr>
        <p:spPr>
          <a:xfrm>
            <a:off x="868680" y="3337560"/>
            <a:ext cx="91440" cy="0"/>
          </a:xfrm>
          <a:prstGeom prst="straightConnector1">
            <a:avLst/>
          </a:prstGeom>
          <a:noFill/>
          <a:ln w="9525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1" name="Google Shape;621;p14"/>
          <p:cNvSpPr/>
          <p:nvPr/>
        </p:nvSpPr>
        <p:spPr>
          <a:xfrm>
            <a:off x="457200" y="32461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1.6 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2" name="Google Shape;622;p14"/>
          <p:cNvCxnSpPr/>
          <p:nvPr/>
        </p:nvCxnSpPr>
        <p:spPr>
          <a:xfrm>
            <a:off x="868680" y="2766060"/>
            <a:ext cx="91440" cy="0"/>
          </a:xfrm>
          <a:prstGeom prst="straightConnector1">
            <a:avLst/>
          </a:prstGeom>
          <a:noFill/>
          <a:ln w="9525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3" name="Google Shape;623;p14"/>
          <p:cNvSpPr/>
          <p:nvPr/>
        </p:nvSpPr>
        <p:spPr>
          <a:xfrm>
            <a:off x="457200" y="26746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2.3 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4" name="Google Shape;624;p14"/>
          <p:cNvCxnSpPr/>
          <p:nvPr/>
        </p:nvCxnSpPr>
        <p:spPr>
          <a:xfrm>
            <a:off x="868680" y="2194560"/>
            <a:ext cx="91440" cy="0"/>
          </a:xfrm>
          <a:prstGeom prst="straightConnector1">
            <a:avLst/>
          </a:prstGeom>
          <a:noFill/>
          <a:ln w="9525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5" name="Google Shape;625;p14"/>
          <p:cNvSpPr/>
          <p:nvPr/>
        </p:nvSpPr>
        <p:spPr>
          <a:xfrm>
            <a:off x="457200" y="21031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3.1 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6" name="Google Shape;626;p14"/>
          <p:cNvCxnSpPr/>
          <p:nvPr/>
        </p:nvCxnSpPr>
        <p:spPr>
          <a:xfrm>
            <a:off x="1005840" y="3440137"/>
            <a:ext cx="2468880" cy="0"/>
          </a:xfrm>
          <a:prstGeom prst="straightConnector1">
            <a:avLst/>
          </a:prstGeom>
          <a:noFill/>
          <a:ln w="19050" cap="flat" cmpd="sng">
            <a:solidFill>
              <a:srgbClr val="5A6C7D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27" name="Google Shape;627;p14"/>
          <p:cNvSpPr/>
          <p:nvPr/>
        </p:nvSpPr>
        <p:spPr>
          <a:xfrm>
            <a:off x="640080" y="46177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Nivel inicial: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4"/>
          <p:cNvSpPr/>
          <p:nvPr/>
        </p:nvSpPr>
        <p:spPr>
          <a:xfrm>
            <a:off x="2103120" y="46177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1.42 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4"/>
          <p:cNvSpPr/>
          <p:nvPr/>
        </p:nvSpPr>
        <p:spPr>
          <a:xfrm>
            <a:off x="640080" y="491032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Nivel final: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4"/>
          <p:cNvSpPr/>
          <p:nvPr/>
        </p:nvSpPr>
        <p:spPr>
          <a:xfrm>
            <a:off x="2103120" y="49103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1.42 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4"/>
          <p:cNvSpPr/>
          <p:nvPr/>
        </p:nvSpPr>
        <p:spPr>
          <a:xfrm>
            <a:off x="640080" y="520293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Vol. inicial: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4"/>
          <p:cNvSpPr/>
          <p:nvPr/>
        </p:nvSpPr>
        <p:spPr>
          <a:xfrm>
            <a:off x="2103120" y="520293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221.73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4"/>
          <p:cNvSpPr/>
          <p:nvPr/>
        </p:nvSpPr>
        <p:spPr>
          <a:xfrm>
            <a:off x="640080" y="549554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Vol. final: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4"/>
          <p:cNvSpPr/>
          <p:nvPr/>
        </p:nvSpPr>
        <p:spPr>
          <a:xfrm>
            <a:off x="2103120" y="54955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221.73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4"/>
          <p:cNvSpPr/>
          <p:nvPr/>
        </p:nvSpPr>
        <p:spPr>
          <a:xfrm>
            <a:off x="640080" y="578815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ΔV: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4"/>
          <p:cNvSpPr/>
          <p:nvPr/>
        </p:nvSpPr>
        <p:spPr>
          <a:xfrm>
            <a:off x="2103120" y="578815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+0.00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4"/>
          <p:cNvSpPr/>
          <p:nvPr/>
        </p:nvSpPr>
        <p:spPr>
          <a:xfrm>
            <a:off x="4297680" y="1417320"/>
            <a:ext cx="356616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4"/>
          <p:cNvSpPr/>
          <p:nvPr/>
        </p:nvSpPr>
        <p:spPr>
          <a:xfrm>
            <a:off x="4297680" y="1417320"/>
            <a:ext cx="3566160" cy="5029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4"/>
          <p:cNvSpPr/>
          <p:nvPr/>
        </p:nvSpPr>
        <p:spPr>
          <a:xfrm>
            <a:off x="4480560" y="14630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TANQUE 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4"/>
          <p:cNvSpPr/>
          <p:nvPr/>
        </p:nvSpPr>
        <p:spPr>
          <a:xfrm>
            <a:off x="6126480" y="14630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0" i="1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Recibe</a:t>
            </a:r>
            <a:r>
              <a:rPr lang="en-US" sz="1000" b="0" i="1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Cl. 1 y 2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4"/>
          <p:cNvSpPr/>
          <p:nvPr/>
        </p:nvSpPr>
        <p:spPr>
          <a:xfrm>
            <a:off x="4846320" y="2194560"/>
            <a:ext cx="2468880" cy="2286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14"/>
          <p:cNvSpPr/>
          <p:nvPr/>
        </p:nvSpPr>
        <p:spPr>
          <a:xfrm>
            <a:off x="4846320" y="2341098"/>
            <a:ext cx="2468880" cy="1091712"/>
          </a:xfrm>
          <a:prstGeom prst="rect">
            <a:avLst/>
          </a:prstGeom>
          <a:solidFill>
            <a:srgbClr val="059669">
              <a:alpha val="50196"/>
            </a:srgbClr>
          </a:solidFill>
          <a:ln w="12700" cap="flat" cmpd="sng">
            <a:solidFill>
              <a:srgbClr val="05966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4"/>
          <p:cNvSpPr/>
          <p:nvPr/>
        </p:nvSpPr>
        <p:spPr>
          <a:xfrm>
            <a:off x="4846320" y="3432810"/>
            <a:ext cx="2468880" cy="1047750"/>
          </a:xfrm>
          <a:prstGeom prst="rect">
            <a:avLst/>
          </a:prstGeom>
          <a:solidFill>
            <a:srgbClr val="06AED5">
              <a:alpha val="40000"/>
            </a:srgbClr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5" name="Google Shape;645;p14"/>
          <p:cNvCxnSpPr/>
          <p:nvPr/>
        </p:nvCxnSpPr>
        <p:spPr>
          <a:xfrm>
            <a:off x="4709160" y="4480560"/>
            <a:ext cx="91440" cy="0"/>
          </a:xfrm>
          <a:prstGeom prst="straightConnector1">
            <a:avLst/>
          </a:prstGeom>
          <a:noFill/>
          <a:ln w="9525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6" name="Google Shape;646;p14"/>
          <p:cNvSpPr/>
          <p:nvPr/>
        </p:nvSpPr>
        <p:spPr>
          <a:xfrm>
            <a:off x="4297680" y="43891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0.0 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7" name="Google Shape;647;p14"/>
          <p:cNvCxnSpPr/>
          <p:nvPr/>
        </p:nvCxnSpPr>
        <p:spPr>
          <a:xfrm>
            <a:off x="4709160" y="3909060"/>
            <a:ext cx="91440" cy="0"/>
          </a:xfrm>
          <a:prstGeom prst="straightConnector1">
            <a:avLst/>
          </a:prstGeom>
          <a:noFill/>
          <a:ln w="9525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8" name="Google Shape;648;p14"/>
          <p:cNvSpPr/>
          <p:nvPr/>
        </p:nvSpPr>
        <p:spPr>
          <a:xfrm>
            <a:off x="4297680" y="38176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0.8 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9" name="Google Shape;649;p14"/>
          <p:cNvCxnSpPr/>
          <p:nvPr/>
        </p:nvCxnSpPr>
        <p:spPr>
          <a:xfrm>
            <a:off x="4709160" y="3337560"/>
            <a:ext cx="91440" cy="0"/>
          </a:xfrm>
          <a:prstGeom prst="straightConnector1">
            <a:avLst/>
          </a:prstGeom>
          <a:noFill/>
          <a:ln w="9525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0" name="Google Shape;650;p14"/>
          <p:cNvSpPr/>
          <p:nvPr/>
        </p:nvSpPr>
        <p:spPr>
          <a:xfrm>
            <a:off x="4297680" y="32461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1.6 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1" name="Google Shape;651;p14"/>
          <p:cNvCxnSpPr/>
          <p:nvPr/>
        </p:nvCxnSpPr>
        <p:spPr>
          <a:xfrm>
            <a:off x="4709160" y="2766060"/>
            <a:ext cx="91440" cy="0"/>
          </a:xfrm>
          <a:prstGeom prst="straightConnector1">
            <a:avLst/>
          </a:prstGeom>
          <a:noFill/>
          <a:ln w="9525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2" name="Google Shape;652;p14"/>
          <p:cNvSpPr/>
          <p:nvPr/>
        </p:nvSpPr>
        <p:spPr>
          <a:xfrm>
            <a:off x="4297680" y="26746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2.3 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3" name="Google Shape;653;p14"/>
          <p:cNvCxnSpPr/>
          <p:nvPr/>
        </p:nvCxnSpPr>
        <p:spPr>
          <a:xfrm>
            <a:off x="4709160" y="2194560"/>
            <a:ext cx="91440" cy="0"/>
          </a:xfrm>
          <a:prstGeom prst="straightConnector1">
            <a:avLst/>
          </a:prstGeom>
          <a:noFill/>
          <a:ln w="9525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4" name="Google Shape;654;p14"/>
          <p:cNvSpPr/>
          <p:nvPr/>
        </p:nvSpPr>
        <p:spPr>
          <a:xfrm>
            <a:off x="4297680" y="21031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3.1 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5" name="Google Shape;655;p14"/>
          <p:cNvCxnSpPr/>
          <p:nvPr/>
        </p:nvCxnSpPr>
        <p:spPr>
          <a:xfrm>
            <a:off x="4846320" y="2341098"/>
            <a:ext cx="2468880" cy="0"/>
          </a:xfrm>
          <a:prstGeom prst="straightConnector1">
            <a:avLst/>
          </a:prstGeom>
          <a:noFill/>
          <a:ln w="19050" cap="flat" cmpd="sng">
            <a:solidFill>
              <a:srgbClr val="059669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56" name="Google Shape;656;p14"/>
          <p:cNvSpPr/>
          <p:nvPr/>
        </p:nvSpPr>
        <p:spPr>
          <a:xfrm>
            <a:off x="4480560" y="46177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Nivel inicial: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4"/>
          <p:cNvSpPr/>
          <p:nvPr/>
        </p:nvSpPr>
        <p:spPr>
          <a:xfrm>
            <a:off x="5943600" y="46177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1.43 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4"/>
          <p:cNvSpPr/>
          <p:nvPr/>
        </p:nvSpPr>
        <p:spPr>
          <a:xfrm>
            <a:off x="4480560" y="491032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Nivel final: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4"/>
          <p:cNvSpPr/>
          <p:nvPr/>
        </p:nvSpPr>
        <p:spPr>
          <a:xfrm>
            <a:off x="5943600" y="49103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2.92 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4"/>
          <p:cNvSpPr/>
          <p:nvPr/>
        </p:nvSpPr>
        <p:spPr>
          <a:xfrm>
            <a:off x="4480560" y="520293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Vol. inicial: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4"/>
          <p:cNvSpPr/>
          <p:nvPr/>
        </p:nvSpPr>
        <p:spPr>
          <a:xfrm>
            <a:off x="5943600" y="520293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223.29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4"/>
          <p:cNvSpPr/>
          <p:nvPr/>
        </p:nvSpPr>
        <p:spPr>
          <a:xfrm>
            <a:off x="4480560" y="549554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Vol. final: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4"/>
          <p:cNvSpPr/>
          <p:nvPr/>
        </p:nvSpPr>
        <p:spPr>
          <a:xfrm>
            <a:off x="5943600" y="54955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455.95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4"/>
          <p:cNvSpPr/>
          <p:nvPr/>
        </p:nvSpPr>
        <p:spPr>
          <a:xfrm>
            <a:off x="4480560" y="578815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ΔV: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4"/>
          <p:cNvSpPr/>
          <p:nvPr/>
        </p:nvSpPr>
        <p:spPr>
          <a:xfrm>
            <a:off x="5943600" y="578815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+232.66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4"/>
          <p:cNvSpPr/>
          <p:nvPr/>
        </p:nvSpPr>
        <p:spPr>
          <a:xfrm>
            <a:off x="4434840" y="6172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50"/>
              <a:buFont typeface="Calibri"/>
              <a:buNone/>
            </a:pPr>
            <a:r>
              <a:rPr lang="en-US" sz="850" b="0" i="1" u="none" strike="noStrike" cap="none" dirty="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T2 </a:t>
            </a:r>
            <a:r>
              <a:rPr lang="en-US" sz="850" b="0" i="1" u="none" strike="noStrike" cap="none" dirty="0" err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ganó</a:t>
            </a:r>
            <a:r>
              <a:rPr lang="en-US" sz="850" b="0" i="1" u="none" strike="noStrike" cap="none" dirty="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 +232.66 m³  (1.49 m de </a:t>
            </a:r>
            <a:r>
              <a:rPr lang="en-US" sz="850" b="0" i="1" u="none" strike="noStrike" cap="none" dirty="0" err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subida</a:t>
            </a:r>
            <a:r>
              <a:rPr lang="en-US" sz="850" b="0" i="1" u="none" strike="noStrike" cap="none" dirty="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850" b="0" i="1" u="none" strike="noStrike" cap="none" dirty="0" err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cuasi-llenado</a:t>
            </a:r>
            <a:r>
              <a:rPr lang="en-US" sz="850" b="0" i="1" u="none" strike="noStrike" cap="none" dirty="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4"/>
          <p:cNvSpPr/>
          <p:nvPr/>
        </p:nvSpPr>
        <p:spPr>
          <a:xfrm>
            <a:off x="8138160" y="1417320"/>
            <a:ext cx="356616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14"/>
          <p:cNvSpPr/>
          <p:nvPr/>
        </p:nvSpPr>
        <p:spPr>
          <a:xfrm>
            <a:off x="8138160" y="1417320"/>
            <a:ext cx="3566160" cy="5029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14"/>
          <p:cNvSpPr/>
          <p:nvPr/>
        </p:nvSpPr>
        <p:spPr>
          <a:xfrm>
            <a:off x="8321040" y="14630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TANQUE 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4"/>
          <p:cNvSpPr/>
          <p:nvPr/>
        </p:nvSpPr>
        <p:spPr>
          <a:xfrm>
            <a:off x="9966960" y="14630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Despacho activo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4"/>
          <p:cNvSpPr/>
          <p:nvPr/>
        </p:nvSpPr>
        <p:spPr>
          <a:xfrm>
            <a:off x="8686800" y="2194560"/>
            <a:ext cx="2468880" cy="2286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14"/>
          <p:cNvSpPr/>
          <p:nvPr/>
        </p:nvSpPr>
        <p:spPr>
          <a:xfrm>
            <a:off x="8686800" y="2780714"/>
            <a:ext cx="2468880" cy="644769"/>
          </a:xfrm>
          <a:prstGeom prst="rect">
            <a:avLst/>
          </a:prstGeom>
          <a:solidFill>
            <a:srgbClr val="EEF2F6">
              <a:alpha val="70196"/>
            </a:srgbClr>
          </a:solidFill>
          <a:ln w="12700" cap="flat" cmpd="sng">
            <a:solidFill>
              <a:srgbClr val="DC262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14"/>
          <p:cNvSpPr/>
          <p:nvPr/>
        </p:nvSpPr>
        <p:spPr>
          <a:xfrm>
            <a:off x="8686800" y="3425483"/>
            <a:ext cx="2468880" cy="1055077"/>
          </a:xfrm>
          <a:prstGeom prst="rect">
            <a:avLst/>
          </a:prstGeom>
          <a:solidFill>
            <a:srgbClr val="06AED5">
              <a:alpha val="50196"/>
            </a:srgbClr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74" name="Google Shape;674;p14"/>
          <p:cNvCxnSpPr/>
          <p:nvPr/>
        </p:nvCxnSpPr>
        <p:spPr>
          <a:xfrm>
            <a:off x="8549640" y="4480560"/>
            <a:ext cx="91440" cy="0"/>
          </a:xfrm>
          <a:prstGeom prst="straightConnector1">
            <a:avLst/>
          </a:prstGeom>
          <a:noFill/>
          <a:ln w="9525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5" name="Google Shape;675;p14"/>
          <p:cNvSpPr/>
          <p:nvPr/>
        </p:nvSpPr>
        <p:spPr>
          <a:xfrm>
            <a:off x="8138160" y="43891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0.0 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6" name="Google Shape;676;p14"/>
          <p:cNvCxnSpPr/>
          <p:nvPr/>
        </p:nvCxnSpPr>
        <p:spPr>
          <a:xfrm>
            <a:off x="8549640" y="3909060"/>
            <a:ext cx="91440" cy="0"/>
          </a:xfrm>
          <a:prstGeom prst="straightConnector1">
            <a:avLst/>
          </a:prstGeom>
          <a:noFill/>
          <a:ln w="9525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7" name="Google Shape;677;p14"/>
          <p:cNvSpPr/>
          <p:nvPr/>
        </p:nvSpPr>
        <p:spPr>
          <a:xfrm>
            <a:off x="8138160" y="38176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0.8 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8" name="Google Shape;678;p14"/>
          <p:cNvCxnSpPr/>
          <p:nvPr/>
        </p:nvCxnSpPr>
        <p:spPr>
          <a:xfrm>
            <a:off x="8549640" y="3337560"/>
            <a:ext cx="91440" cy="0"/>
          </a:xfrm>
          <a:prstGeom prst="straightConnector1">
            <a:avLst/>
          </a:prstGeom>
          <a:noFill/>
          <a:ln w="9525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9" name="Google Shape;679;p14"/>
          <p:cNvSpPr/>
          <p:nvPr/>
        </p:nvSpPr>
        <p:spPr>
          <a:xfrm>
            <a:off x="8138160" y="32461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1.6 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0" name="Google Shape;680;p14"/>
          <p:cNvCxnSpPr/>
          <p:nvPr/>
        </p:nvCxnSpPr>
        <p:spPr>
          <a:xfrm>
            <a:off x="8549640" y="2766060"/>
            <a:ext cx="91440" cy="0"/>
          </a:xfrm>
          <a:prstGeom prst="straightConnector1">
            <a:avLst/>
          </a:prstGeom>
          <a:noFill/>
          <a:ln w="9525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1" name="Google Shape;681;p14"/>
          <p:cNvSpPr/>
          <p:nvPr/>
        </p:nvSpPr>
        <p:spPr>
          <a:xfrm>
            <a:off x="8138160" y="26746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2.3 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2" name="Google Shape;682;p14"/>
          <p:cNvCxnSpPr/>
          <p:nvPr/>
        </p:nvCxnSpPr>
        <p:spPr>
          <a:xfrm>
            <a:off x="8549640" y="2194560"/>
            <a:ext cx="91440" cy="0"/>
          </a:xfrm>
          <a:prstGeom prst="straightConnector1">
            <a:avLst/>
          </a:prstGeom>
          <a:noFill/>
          <a:ln w="9525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3" name="Google Shape;683;p14"/>
          <p:cNvSpPr/>
          <p:nvPr/>
        </p:nvSpPr>
        <p:spPr>
          <a:xfrm>
            <a:off x="8138160" y="21031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3.1 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4" name="Google Shape;684;p14"/>
          <p:cNvCxnSpPr/>
          <p:nvPr/>
        </p:nvCxnSpPr>
        <p:spPr>
          <a:xfrm>
            <a:off x="8686800" y="3425483"/>
            <a:ext cx="2468880" cy="0"/>
          </a:xfrm>
          <a:prstGeom prst="straightConnector1">
            <a:avLst/>
          </a:prstGeom>
          <a:noFill/>
          <a:ln w="19050" cap="flat" cmpd="sng">
            <a:solidFill>
              <a:srgbClr val="DC2626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85" name="Google Shape;685;p14"/>
          <p:cNvSpPr/>
          <p:nvPr/>
        </p:nvSpPr>
        <p:spPr>
          <a:xfrm>
            <a:off x="8321040" y="46177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Nivel inicial: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4"/>
          <p:cNvSpPr/>
          <p:nvPr/>
        </p:nvSpPr>
        <p:spPr>
          <a:xfrm>
            <a:off x="9784080" y="46177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2.32 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4"/>
          <p:cNvSpPr/>
          <p:nvPr/>
        </p:nvSpPr>
        <p:spPr>
          <a:xfrm>
            <a:off x="8321040" y="491032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Nivel final: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4"/>
          <p:cNvSpPr/>
          <p:nvPr/>
        </p:nvSpPr>
        <p:spPr>
          <a:xfrm>
            <a:off x="9784080" y="49103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1.44 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4"/>
          <p:cNvSpPr/>
          <p:nvPr/>
        </p:nvSpPr>
        <p:spPr>
          <a:xfrm>
            <a:off x="8321040" y="520293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Vol. inicial: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4"/>
          <p:cNvSpPr/>
          <p:nvPr/>
        </p:nvSpPr>
        <p:spPr>
          <a:xfrm>
            <a:off x="9784080" y="520293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362.27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4"/>
          <p:cNvSpPr/>
          <p:nvPr/>
        </p:nvSpPr>
        <p:spPr>
          <a:xfrm>
            <a:off x="8321040" y="549554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Vol. final: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4"/>
          <p:cNvSpPr/>
          <p:nvPr/>
        </p:nvSpPr>
        <p:spPr>
          <a:xfrm>
            <a:off x="9784080" y="54955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224.86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4"/>
          <p:cNvSpPr/>
          <p:nvPr/>
        </p:nvSpPr>
        <p:spPr>
          <a:xfrm>
            <a:off x="8321040" y="578815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ΔV: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4"/>
          <p:cNvSpPr/>
          <p:nvPr/>
        </p:nvSpPr>
        <p:spPr>
          <a:xfrm>
            <a:off x="9784080" y="578815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-137.41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4"/>
          <p:cNvSpPr/>
          <p:nvPr/>
        </p:nvSpPr>
        <p:spPr>
          <a:xfrm>
            <a:off x="8275320" y="6172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lang="en-US" sz="850" b="0" i="1" u="none" strike="noStrike" cap="none" dirty="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T3 </a:t>
            </a:r>
            <a:r>
              <a:rPr lang="en-US" sz="850" b="0" i="1" u="none" strike="noStrike" cap="none" dirty="0" err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perdió</a:t>
            </a:r>
            <a:r>
              <a:rPr lang="en-US" sz="850" b="0" i="1" u="none" strike="noStrike" cap="none" dirty="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 −137.41 m³  (0.88 m de bajada · </a:t>
            </a:r>
            <a:r>
              <a:rPr lang="en-US" sz="850" b="0" i="1" u="none" strike="noStrike" cap="none" dirty="0" err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tanque</a:t>
            </a:r>
            <a:r>
              <a:rPr lang="en-US" sz="850" b="0" i="1" u="none" strike="noStrike" cap="none" dirty="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850" b="0" i="1" u="none" strike="noStrike" cap="none" dirty="0" err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despacho</a:t>
            </a:r>
            <a:r>
              <a:rPr lang="en-US" sz="850" b="0" i="1" u="none" strike="noStrike" cap="none" dirty="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5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2" name="Google Shape;702;p15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3" name="Google Shape;703;p15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Tanque 2  ·  análisis del llenado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5"/>
          <p:cNvSpPr/>
          <p:nvPr/>
        </p:nvSpPr>
        <p:spPr>
          <a:xfrm>
            <a:off x="457200" y="1417320"/>
            <a:ext cx="502920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15"/>
          <p:cNvSpPr/>
          <p:nvPr/>
        </p:nvSpPr>
        <p:spPr>
          <a:xfrm>
            <a:off x="457200" y="1417320"/>
            <a:ext cx="5029200" cy="5029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15"/>
          <p:cNvSpPr/>
          <p:nvPr/>
        </p:nvSpPr>
        <p:spPr>
          <a:xfrm>
            <a:off x="640080" y="146304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PARÁMETROS DEL LLENADO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5"/>
          <p:cNvSpPr/>
          <p:nvPr/>
        </p:nvSpPr>
        <p:spPr>
          <a:xfrm>
            <a:off x="640080" y="2194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Nivel inicial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5"/>
          <p:cNvSpPr/>
          <p:nvPr/>
        </p:nvSpPr>
        <p:spPr>
          <a:xfrm>
            <a:off x="3383280" y="21945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1.43 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5"/>
          <p:cNvSpPr/>
          <p:nvPr/>
        </p:nvSpPr>
        <p:spPr>
          <a:xfrm>
            <a:off x="640080" y="2697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Nivel final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5"/>
          <p:cNvSpPr/>
          <p:nvPr/>
        </p:nvSpPr>
        <p:spPr>
          <a:xfrm>
            <a:off x="3383280" y="26974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2.92 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5"/>
          <p:cNvSpPr/>
          <p:nvPr/>
        </p:nvSpPr>
        <p:spPr>
          <a:xfrm>
            <a:off x="640080" y="32004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Subida (Δh)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5"/>
          <p:cNvSpPr/>
          <p:nvPr/>
        </p:nvSpPr>
        <p:spPr>
          <a:xfrm>
            <a:off x="3383280" y="32004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1.49 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5"/>
          <p:cNvSpPr/>
          <p:nvPr/>
        </p:nvSpPr>
        <p:spPr>
          <a:xfrm>
            <a:off x="640080" y="37033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Sección</a:t>
            </a:r>
            <a:r>
              <a:rPr lang="en-US" sz="1100" b="0" i="0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transversal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5"/>
          <p:cNvSpPr/>
          <p:nvPr/>
        </p:nvSpPr>
        <p:spPr>
          <a:xfrm>
            <a:off x="3383280" y="37033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onsolas"/>
              <a:buNone/>
            </a:pPr>
            <a:r>
              <a:rPr lang="en-US" sz="1200" b="1" i="0" u="none" strike="noStrike" cap="none" dirty="0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156.15 m²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5"/>
          <p:cNvSpPr/>
          <p:nvPr/>
        </p:nvSpPr>
        <p:spPr>
          <a:xfrm>
            <a:off x="640080" y="42062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Volumen incorporado (ΔV)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5"/>
          <p:cNvSpPr/>
          <p:nvPr/>
        </p:nvSpPr>
        <p:spPr>
          <a:xfrm>
            <a:off x="3383280" y="42062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+232.66 m³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5"/>
          <p:cNvSpPr/>
          <p:nvPr/>
        </p:nvSpPr>
        <p:spPr>
          <a:xfrm>
            <a:off x="640080" y="4709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Duración</a:t>
            </a:r>
            <a:r>
              <a:rPr lang="en-US" sz="1100" b="0" i="0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del </a:t>
            </a:r>
            <a:r>
              <a:rPr lang="en-US" sz="1100" b="0" i="0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recorrido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5"/>
          <p:cNvSpPr/>
          <p:nvPr/>
        </p:nvSpPr>
        <p:spPr>
          <a:xfrm>
            <a:off x="3383280" y="47091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onsolas"/>
              <a:buNone/>
            </a:pPr>
            <a:r>
              <a:rPr lang="en-US" sz="1200" b="1" i="0" u="none" strike="noStrike" cap="none" dirty="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6.317 h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5"/>
          <p:cNvSpPr/>
          <p:nvPr/>
        </p:nvSpPr>
        <p:spPr>
          <a:xfrm>
            <a:off x="640080" y="52120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Caudal medio de </a:t>
            </a:r>
            <a:r>
              <a:rPr lang="en-US" sz="1100" b="0" i="0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llenado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5"/>
          <p:cNvSpPr/>
          <p:nvPr/>
        </p:nvSpPr>
        <p:spPr>
          <a:xfrm>
            <a:off x="3383280" y="52120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onsolas"/>
              <a:buNone/>
            </a:pPr>
            <a:r>
              <a:rPr lang="en-US" sz="1200" b="1" i="0" u="none" strike="noStrike" cap="none" dirty="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36.83 m³/h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5"/>
          <p:cNvSpPr/>
          <p:nvPr/>
        </p:nvSpPr>
        <p:spPr>
          <a:xfrm>
            <a:off x="640080" y="57150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Como % de </a:t>
            </a:r>
            <a:r>
              <a:rPr lang="en-US" sz="1100" b="0" i="0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capacidad</a:t>
            </a:r>
            <a:r>
              <a:rPr lang="en-US" sz="1100" b="0" i="0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(487 m³)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5"/>
          <p:cNvSpPr/>
          <p:nvPr/>
        </p:nvSpPr>
        <p:spPr>
          <a:xfrm>
            <a:off x="3383280" y="57150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47.77 %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5"/>
          <p:cNvSpPr/>
          <p:nvPr/>
        </p:nvSpPr>
        <p:spPr>
          <a:xfrm>
            <a:off x="5760720" y="1417320"/>
            <a:ext cx="5943600" cy="5029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15"/>
          <p:cNvSpPr/>
          <p:nvPr/>
        </p:nvSpPr>
        <p:spPr>
          <a:xfrm>
            <a:off x="5943600" y="155448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¿DE DÓNDE VINIERON ESOS 232.66 m³?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5"/>
          <p:cNvSpPr/>
          <p:nvPr/>
        </p:nvSpPr>
        <p:spPr>
          <a:xfrm>
            <a:off x="5943600" y="2057400"/>
            <a:ext cx="5760720" cy="36576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15"/>
          <p:cNvSpPr/>
          <p:nvPr/>
        </p:nvSpPr>
        <p:spPr>
          <a:xfrm>
            <a:off x="5989320" y="20574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Fuente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5"/>
          <p:cNvSpPr/>
          <p:nvPr/>
        </p:nvSpPr>
        <p:spPr>
          <a:xfrm>
            <a:off x="8732520" y="20574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(m³/h)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5"/>
          <p:cNvSpPr/>
          <p:nvPr/>
        </p:nvSpPr>
        <p:spPr>
          <a:xfrm>
            <a:off x="10287000" y="20574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Aporte (m³)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5"/>
          <p:cNvSpPr/>
          <p:nvPr/>
        </p:nvSpPr>
        <p:spPr>
          <a:xfrm>
            <a:off x="5943600" y="2423160"/>
            <a:ext cx="576072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15"/>
          <p:cNvSpPr/>
          <p:nvPr/>
        </p:nvSpPr>
        <p:spPr>
          <a:xfrm>
            <a:off x="5989320" y="242316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Salida Cl. 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5"/>
          <p:cNvSpPr/>
          <p:nvPr/>
        </p:nvSpPr>
        <p:spPr>
          <a:xfrm>
            <a:off x="8732520" y="242316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11.29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5"/>
          <p:cNvSpPr/>
          <p:nvPr/>
        </p:nvSpPr>
        <p:spPr>
          <a:xfrm>
            <a:off x="10287000" y="242316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+70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5"/>
          <p:cNvSpPr/>
          <p:nvPr/>
        </p:nvSpPr>
        <p:spPr>
          <a:xfrm>
            <a:off x="5943600" y="2807208"/>
            <a:ext cx="5760720" cy="384048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15"/>
          <p:cNvSpPr/>
          <p:nvPr/>
        </p:nvSpPr>
        <p:spPr>
          <a:xfrm>
            <a:off x="5989320" y="280720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Salida Cl. 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5"/>
          <p:cNvSpPr/>
          <p:nvPr/>
        </p:nvSpPr>
        <p:spPr>
          <a:xfrm>
            <a:off x="8732520" y="2807208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31.13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5"/>
          <p:cNvSpPr/>
          <p:nvPr/>
        </p:nvSpPr>
        <p:spPr>
          <a:xfrm>
            <a:off x="10287000" y="280720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+192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5"/>
          <p:cNvSpPr/>
          <p:nvPr/>
        </p:nvSpPr>
        <p:spPr>
          <a:xfrm>
            <a:off x="5943600" y="3191256"/>
            <a:ext cx="5760720" cy="384048"/>
          </a:xfrm>
          <a:prstGeom prst="rect">
            <a:avLst/>
          </a:prstGeom>
          <a:solidFill>
            <a:srgbClr val="D1FAE5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15"/>
          <p:cNvSpPr/>
          <p:nvPr/>
        </p:nvSpPr>
        <p:spPr>
          <a:xfrm>
            <a:off x="5989320" y="3191256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Suma clarificadores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5"/>
          <p:cNvSpPr/>
          <p:nvPr/>
        </p:nvSpPr>
        <p:spPr>
          <a:xfrm>
            <a:off x="8732520" y="319125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5"/>
          <p:cNvSpPr/>
          <p:nvPr/>
        </p:nvSpPr>
        <p:spPr>
          <a:xfrm>
            <a:off x="10287000" y="3191256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+262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5"/>
          <p:cNvSpPr/>
          <p:nvPr/>
        </p:nvSpPr>
        <p:spPr>
          <a:xfrm>
            <a:off x="5943600" y="3575304"/>
            <a:ext cx="5760720" cy="384048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15"/>
          <p:cNvSpPr/>
          <p:nvPr/>
        </p:nvSpPr>
        <p:spPr>
          <a:xfrm>
            <a:off x="5989320" y="3575304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Salida hacia consumos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5"/>
          <p:cNvSpPr/>
          <p:nvPr/>
        </p:nvSpPr>
        <p:spPr>
          <a:xfrm>
            <a:off x="8732520" y="357530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5"/>
          <p:cNvSpPr/>
          <p:nvPr/>
        </p:nvSpPr>
        <p:spPr>
          <a:xfrm>
            <a:off x="10287000" y="357530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−182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5"/>
          <p:cNvSpPr/>
          <p:nvPr/>
        </p:nvSpPr>
        <p:spPr>
          <a:xfrm>
            <a:off x="5943600" y="3959352"/>
            <a:ext cx="576072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15"/>
          <p:cNvSpPr/>
          <p:nvPr/>
        </p:nvSpPr>
        <p:spPr>
          <a:xfrm>
            <a:off x="5989320" y="395935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Esperado en T1+T2+T3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5"/>
          <p:cNvSpPr/>
          <p:nvPr/>
        </p:nvSpPr>
        <p:spPr>
          <a:xfrm>
            <a:off x="8732520" y="395935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5"/>
          <p:cNvSpPr/>
          <p:nvPr/>
        </p:nvSpPr>
        <p:spPr>
          <a:xfrm>
            <a:off x="10287000" y="395935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+80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5"/>
          <p:cNvSpPr/>
          <p:nvPr/>
        </p:nvSpPr>
        <p:spPr>
          <a:xfrm>
            <a:off x="5943600" y="4343400"/>
            <a:ext cx="5760720" cy="384048"/>
          </a:xfrm>
          <a:prstGeom prst="rect">
            <a:avLst/>
          </a:prstGeom>
          <a:solidFill>
            <a:srgbClr val="D1FAE5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15"/>
          <p:cNvSpPr/>
          <p:nvPr/>
        </p:nvSpPr>
        <p:spPr>
          <a:xfrm>
            <a:off x="5989320" y="434340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Medido en T1+T2+T3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5"/>
          <p:cNvSpPr/>
          <p:nvPr/>
        </p:nvSpPr>
        <p:spPr>
          <a:xfrm>
            <a:off x="8732520" y="434340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5"/>
          <p:cNvSpPr/>
          <p:nvPr/>
        </p:nvSpPr>
        <p:spPr>
          <a:xfrm>
            <a:off x="10287000" y="434340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+95.25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5"/>
          <p:cNvSpPr/>
          <p:nvPr/>
        </p:nvSpPr>
        <p:spPr>
          <a:xfrm>
            <a:off x="5943600" y="4727448"/>
            <a:ext cx="5760720" cy="384048"/>
          </a:xfrm>
          <a:prstGeom prst="rect">
            <a:avLst/>
          </a:prstGeom>
          <a:solidFill>
            <a:srgbClr val="D1FAE5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15"/>
          <p:cNvSpPr/>
          <p:nvPr/>
        </p:nvSpPr>
        <p:spPr>
          <a:xfrm>
            <a:off x="5989320" y="472744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Discrepancia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5"/>
          <p:cNvSpPr/>
          <p:nvPr/>
        </p:nvSpPr>
        <p:spPr>
          <a:xfrm>
            <a:off x="8732520" y="4727448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5"/>
          <p:cNvSpPr/>
          <p:nvPr/>
        </p:nvSpPr>
        <p:spPr>
          <a:xfrm>
            <a:off x="10287000" y="472744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+15.25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5"/>
          <p:cNvSpPr/>
          <p:nvPr/>
        </p:nvSpPr>
        <p:spPr>
          <a:xfrm>
            <a:off x="5943600" y="5440680"/>
            <a:ext cx="5760720" cy="914400"/>
          </a:xfrm>
          <a:prstGeom prst="rect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15"/>
          <p:cNvSpPr/>
          <p:nvPr/>
        </p:nvSpPr>
        <p:spPr>
          <a:xfrm>
            <a:off x="6035040" y="5532120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El balance T1+T2+T3 cuadra dentro de 16 %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5"/>
          <p:cNvSpPr/>
          <p:nvPr/>
        </p:nvSpPr>
        <p:spPr>
          <a:xfrm>
            <a:off x="6035040" y="5806440"/>
            <a:ext cx="5577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Esperado</a:t>
            </a: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+80 m³ (262 in − 182 out)  vs  </a:t>
            </a:r>
            <a:r>
              <a:rPr lang="en-US" sz="9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Medido</a:t>
            </a: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+95.25 m³  →  </a:t>
            </a:r>
            <a:r>
              <a:rPr lang="en-US" sz="9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diferencia</a:t>
            </a: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de 15.25 m³ </a:t>
            </a:r>
            <a:r>
              <a:rPr lang="en-US" sz="9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atribuible</a:t>
            </a: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al </a:t>
            </a:r>
            <a:r>
              <a:rPr lang="en-US" sz="9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margen</a:t>
            </a: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de Cl. 1 (no </a:t>
            </a:r>
            <a:r>
              <a:rPr lang="en-US" sz="9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medida</a:t>
            </a: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) y </a:t>
            </a:r>
            <a:r>
              <a:rPr lang="en-US" sz="9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precisión</a:t>
            </a: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95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niveles</a:t>
            </a:r>
            <a:r>
              <a:rPr lang="en-US" sz="95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(±1.56 m³/cm).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6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7" name="Google Shape;767;p16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8" name="Google Shape;768;p16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Tanque 3  ·  análisis del vaciado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6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T3 bajó de 2.32 m a 1.44 m durante el recorrido — entregó −137.41 m³ a la red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6"/>
          <p:cNvSpPr/>
          <p:nvPr/>
        </p:nvSpPr>
        <p:spPr>
          <a:xfrm>
            <a:off x="457200" y="1417320"/>
            <a:ext cx="502920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16"/>
          <p:cNvSpPr/>
          <p:nvPr/>
        </p:nvSpPr>
        <p:spPr>
          <a:xfrm>
            <a:off x="457200" y="1417320"/>
            <a:ext cx="5029200" cy="5029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16"/>
          <p:cNvSpPr/>
          <p:nvPr/>
        </p:nvSpPr>
        <p:spPr>
          <a:xfrm>
            <a:off x="640080" y="146304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PARÁMETROS DEL VACIADO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6"/>
          <p:cNvSpPr/>
          <p:nvPr/>
        </p:nvSpPr>
        <p:spPr>
          <a:xfrm>
            <a:off x="640080" y="2194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Nivel inicial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6"/>
          <p:cNvSpPr/>
          <p:nvPr/>
        </p:nvSpPr>
        <p:spPr>
          <a:xfrm>
            <a:off x="3383280" y="21945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2.32 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6"/>
          <p:cNvSpPr/>
          <p:nvPr/>
        </p:nvSpPr>
        <p:spPr>
          <a:xfrm>
            <a:off x="640080" y="2697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Nivel final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6"/>
          <p:cNvSpPr/>
          <p:nvPr/>
        </p:nvSpPr>
        <p:spPr>
          <a:xfrm>
            <a:off x="3383280" y="26974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1.44 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6"/>
          <p:cNvSpPr/>
          <p:nvPr/>
        </p:nvSpPr>
        <p:spPr>
          <a:xfrm>
            <a:off x="640080" y="32004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Bajada (Δh)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6"/>
          <p:cNvSpPr/>
          <p:nvPr/>
        </p:nvSpPr>
        <p:spPr>
          <a:xfrm>
            <a:off x="3383280" y="32004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0.88 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6"/>
          <p:cNvSpPr/>
          <p:nvPr/>
        </p:nvSpPr>
        <p:spPr>
          <a:xfrm>
            <a:off x="640080" y="37033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Volumen entregado (ΔV)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6"/>
          <p:cNvSpPr/>
          <p:nvPr/>
        </p:nvSpPr>
        <p:spPr>
          <a:xfrm>
            <a:off x="3383280" y="37033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−137.41 m³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6"/>
          <p:cNvSpPr/>
          <p:nvPr/>
        </p:nvSpPr>
        <p:spPr>
          <a:xfrm>
            <a:off x="640080" y="42062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Duración del recorrido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6"/>
          <p:cNvSpPr/>
          <p:nvPr/>
        </p:nvSpPr>
        <p:spPr>
          <a:xfrm>
            <a:off x="3383280" y="42062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6.317 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6"/>
          <p:cNvSpPr/>
          <p:nvPr/>
        </p:nvSpPr>
        <p:spPr>
          <a:xfrm>
            <a:off x="640080" y="4709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Caudal medio de vaciado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6"/>
          <p:cNvSpPr/>
          <p:nvPr/>
        </p:nvSpPr>
        <p:spPr>
          <a:xfrm>
            <a:off x="3383280" y="47091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21.75 m³/h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6"/>
          <p:cNvSpPr/>
          <p:nvPr/>
        </p:nvSpPr>
        <p:spPr>
          <a:xfrm>
            <a:off x="640080" y="52120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Consumo medido en salida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6"/>
          <p:cNvSpPr/>
          <p:nvPr/>
        </p:nvSpPr>
        <p:spPr>
          <a:xfrm>
            <a:off x="3383280" y="52120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182 m³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6"/>
          <p:cNvSpPr/>
          <p:nvPr/>
        </p:nvSpPr>
        <p:spPr>
          <a:xfrm>
            <a:off x="640080" y="57150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Aporte simultáneo de Cl.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6"/>
          <p:cNvSpPr/>
          <p:nvPr/>
        </p:nvSpPr>
        <p:spPr>
          <a:xfrm>
            <a:off x="3383280" y="57150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≈ 44.6 m³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6"/>
          <p:cNvSpPr/>
          <p:nvPr/>
        </p:nvSpPr>
        <p:spPr>
          <a:xfrm>
            <a:off x="5760720" y="1417320"/>
            <a:ext cx="5943600" cy="5029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16"/>
          <p:cNvSpPr/>
          <p:nvPr/>
        </p:nvSpPr>
        <p:spPr>
          <a:xfrm>
            <a:off x="5943600" y="155448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AUTONOMÍA DEL TANQUE  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6"/>
          <p:cNvSpPr/>
          <p:nvPr/>
        </p:nvSpPr>
        <p:spPr>
          <a:xfrm>
            <a:off x="5943600" y="1920240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Si T3 mantiene el ritmo medido (21.75 m³/h) y NO recibe reposición: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6"/>
          <p:cNvSpPr/>
          <p:nvPr/>
        </p:nvSpPr>
        <p:spPr>
          <a:xfrm>
            <a:off x="5943600" y="2331720"/>
            <a:ext cx="5760720" cy="36576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16"/>
          <p:cNvSpPr/>
          <p:nvPr/>
        </p:nvSpPr>
        <p:spPr>
          <a:xfrm>
            <a:off x="5989320" y="23317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restante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6"/>
          <p:cNvSpPr/>
          <p:nvPr/>
        </p:nvSpPr>
        <p:spPr>
          <a:xfrm>
            <a:off x="7818120" y="23317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 restante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6"/>
          <p:cNvSpPr/>
          <p:nvPr/>
        </p:nvSpPr>
        <p:spPr>
          <a:xfrm>
            <a:off x="9646920" y="23317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Tiempo hasta agotamiento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6"/>
          <p:cNvSpPr/>
          <p:nvPr/>
        </p:nvSpPr>
        <p:spPr>
          <a:xfrm>
            <a:off x="5943600" y="2697480"/>
            <a:ext cx="57607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16"/>
          <p:cNvSpPr/>
          <p:nvPr/>
        </p:nvSpPr>
        <p:spPr>
          <a:xfrm>
            <a:off x="5989320" y="26974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1.44 m (actual)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6"/>
          <p:cNvSpPr/>
          <p:nvPr/>
        </p:nvSpPr>
        <p:spPr>
          <a:xfrm>
            <a:off x="7818120" y="26974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224.86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6"/>
          <p:cNvSpPr/>
          <p:nvPr/>
        </p:nvSpPr>
        <p:spPr>
          <a:xfrm>
            <a:off x="9646920" y="26974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10.34 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6"/>
          <p:cNvSpPr/>
          <p:nvPr/>
        </p:nvSpPr>
        <p:spPr>
          <a:xfrm>
            <a:off x="5943600" y="3154680"/>
            <a:ext cx="57607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16"/>
          <p:cNvSpPr/>
          <p:nvPr/>
        </p:nvSpPr>
        <p:spPr>
          <a:xfrm>
            <a:off x="5989320" y="31546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1.00 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6"/>
          <p:cNvSpPr/>
          <p:nvPr/>
        </p:nvSpPr>
        <p:spPr>
          <a:xfrm>
            <a:off x="7818120" y="31546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156.15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6"/>
          <p:cNvSpPr/>
          <p:nvPr/>
        </p:nvSpPr>
        <p:spPr>
          <a:xfrm>
            <a:off x="9646920" y="31546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7.18 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6"/>
          <p:cNvSpPr/>
          <p:nvPr/>
        </p:nvSpPr>
        <p:spPr>
          <a:xfrm>
            <a:off x="5943600" y="3611880"/>
            <a:ext cx="57607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16"/>
          <p:cNvSpPr/>
          <p:nvPr/>
        </p:nvSpPr>
        <p:spPr>
          <a:xfrm>
            <a:off x="5989320" y="36118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0.50 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6"/>
          <p:cNvSpPr/>
          <p:nvPr/>
        </p:nvSpPr>
        <p:spPr>
          <a:xfrm>
            <a:off x="7818120" y="36118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78.08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6"/>
          <p:cNvSpPr/>
          <p:nvPr/>
        </p:nvSpPr>
        <p:spPr>
          <a:xfrm>
            <a:off x="9646920" y="36118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3.59 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6"/>
          <p:cNvSpPr/>
          <p:nvPr/>
        </p:nvSpPr>
        <p:spPr>
          <a:xfrm>
            <a:off x="5943600" y="4069080"/>
            <a:ext cx="57607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16"/>
          <p:cNvSpPr/>
          <p:nvPr/>
        </p:nvSpPr>
        <p:spPr>
          <a:xfrm>
            <a:off x="5989320" y="40690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0.20 m (mínimo)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6"/>
          <p:cNvSpPr/>
          <p:nvPr/>
        </p:nvSpPr>
        <p:spPr>
          <a:xfrm>
            <a:off x="7818120" y="40690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31.23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6"/>
          <p:cNvSpPr/>
          <p:nvPr/>
        </p:nvSpPr>
        <p:spPr>
          <a:xfrm>
            <a:off x="9646920" y="40690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1.44 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6"/>
          <p:cNvSpPr/>
          <p:nvPr/>
        </p:nvSpPr>
        <p:spPr>
          <a:xfrm>
            <a:off x="5943600" y="4937760"/>
            <a:ext cx="5760720" cy="1417320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16"/>
          <p:cNvSpPr/>
          <p:nvPr/>
        </p:nvSpPr>
        <p:spPr>
          <a:xfrm>
            <a:off x="6035040" y="5029200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⚠  RIESGO OPERATIVO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6"/>
          <p:cNvSpPr/>
          <p:nvPr/>
        </p:nvSpPr>
        <p:spPr>
          <a:xfrm>
            <a:off x="6035040" y="5349240"/>
            <a:ext cx="557784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Sin reposición por bombeo, T3 alcanza nivel mínimo operativo (0.20 m) en menos de 1 h 30 min adicionales. La continuidad depende de que la suma de aportes desde clarificadores supere al caudal de despacho RD + CNP.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7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1" name="Google Shape;821;p17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2" name="Google Shape;822;p17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Verificación</a:t>
            </a:r>
            <a:r>
              <a:rPr lang="en-US" sz="2600" b="1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del </a:t>
            </a:r>
            <a:r>
              <a:rPr lang="en-US" sz="2600" b="1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nivel</a:t>
            </a:r>
            <a:r>
              <a:rPr lang="en-US" sz="2600" b="1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final de T2  ·  ¿2.92 m o 1.50 m?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7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dato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de campo era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ambiguo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entre dos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lecturas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— se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resuelve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por balance de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masas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estricto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7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17"/>
          <p:cNvSpPr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DATO AMBIGUO EN SITIO:  </a:t>
            </a:r>
            <a:r>
              <a:rPr lang="en-US" sz="12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12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nivel</a:t>
            </a:r>
            <a:r>
              <a:rPr lang="en-US" sz="12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final de T2 no se </a:t>
            </a:r>
            <a:r>
              <a:rPr lang="en-US" sz="12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distinguía</a:t>
            </a:r>
            <a:r>
              <a:rPr lang="en-US" sz="12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con </a:t>
            </a:r>
            <a:r>
              <a:rPr lang="en-US" sz="12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r>
              <a:rPr lang="en-US" sz="12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entre  </a:t>
            </a:r>
            <a:r>
              <a:rPr lang="en-US" sz="1600" b="1" i="0" u="none" strike="noStrike" cap="none" dirty="0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2.92 m  </a:t>
            </a:r>
            <a:r>
              <a:rPr lang="en-US" sz="12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ó  </a:t>
            </a:r>
            <a:r>
              <a:rPr lang="en-US" sz="1600" b="1" i="0" u="none" strike="noStrike" cap="none" dirty="0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1.50 m  </a:t>
            </a:r>
            <a:r>
              <a:rPr lang="en-US" sz="12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→  se </a:t>
            </a:r>
            <a:r>
              <a:rPr lang="en-US" sz="12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determina</a:t>
            </a:r>
            <a:r>
              <a:rPr lang="en-US" sz="12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por </a:t>
            </a:r>
            <a:r>
              <a:rPr lang="en-US" sz="12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12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r>
              <a:rPr lang="en-US" sz="12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del balance de </a:t>
            </a:r>
            <a:r>
              <a:rPr lang="en-US" sz="12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masas</a:t>
            </a:r>
            <a:r>
              <a:rPr lang="en-US" sz="12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7"/>
          <p:cNvSpPr/>
          <p:nvPr/>
        </p:nvSpPr>
        <p:spPr>
          <a:xfrm>
            <a:off x="457200" y="2240280"/>
            <a:ext cx="5577840" cy="4206240"/>
          </a:xfrm>
          <a:prstGeom prst="rect">
            <a:avLst/>
          </a:prstGeom>
          <a:solidFill>
            <a:srgbClr val="F0F4FA"/>
          </a:solidFill>
          <a:ln w="1905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457200" y="2240280"/>
            <a:ext cx="5577840" cy="45720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640080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 A · T2 final = 1.50 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7"/>
          <p:cNvSpPr/>
          <p:nvPr/>
        </p:nvSpPr>
        <p:spPr>
          <a:xfrm>
            <a:off x="640080" y="278892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Δh T2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7"/>
          <p:cNvSpPr/>
          <p:nvPr/>
        </p:nvSpPr>
        <p:spPr>
          <a:xfrm>
            <a:off x="3840480" y="278892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+0.07 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7"/>
          <p:cNvSpPr/>
          <p:nvPr/>
        </p:nvSpPr>
        <p:spPr>
          <a:xfrm>
            <a:off x="640080" y="310896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ΔV T2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7"/>
          <p:cNvSpPr/>
          <p:nvPr/>
        </p:nvSpPr>
        <p:spPr>
          <a:xfrm>
            <a:off x="3840480" y="310896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+10.93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7"/>
          <p:cNvSpPr/>
          <p:nvPr/>
        </p:nvSpPr>
        <p:spPr>
          <a:xfrm>
            <a:off x="640080" y="34290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ΔV T1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7"/>
          <p:cNvSpPr/>
          <p:nvPr/>
        </p:nvSpPr>
        <p:spPr>
          <a:xfrm>
            <a:off x="3840480" y="342900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7"/>
          <p:cNvSpPr/>
          <p:nvPr/>
        </p:nvSpPr>
        <p:spPr>
          <a:xfrm>
            <a:off x="640080" y="374904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ΔV T3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7"/>
          <p:cNvSpPr/>
          <p:nvPr/>
        </p:nvSpPr>
        <p:spPr>
          <a:xfrm>
            <a:off x="3840480" y="374904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−137.41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7"/>
          <p:cNvSpPr/>
          <p:nvPr/>
        </p:nvSpPr>
        <p:spPr>
          <a:xfrm>
            <a:off x="640080" y="40690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ΔV total tanques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7"/>
          <p:cNvSpPr/>
          <p:nvPr/>
        </p:nvSpPr>
        <p:spPr>
          <a:xfrm>
            <a:off x="3840480" y="406908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−126.48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7"/>
          <p:cNvSpPr/>
          <p:nvPr/>
        </p:nvSpPr>
        <p:spPr>
          <a:xfrm>
            <a:off x="640080" y="438912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Esperado: Salida Cl. − Consumo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7"/>
          <p:cNvSpPr/>
          <p:nvPr/>
        </p:nvSpPr>
        <p:spPr>
          <a:xfrm>
            <a:off x="3840480" y="438912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+80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7"/>
          <p:cNvSpPr/>
          <p:nvPr/>
        </p:nvSpPr>
        <p:spPr>
          <a:xfrm>
            <a:off x="640080" y="470916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INCONSISTENCIA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7"/>
          <p:cNvSpPr/>
          <p:nvPr/>
        </p:nvSpPr>
        <p:spPr>
          <a:xfrm>
            <a:off x="3840480" y="470916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−206.5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7"/>
          <p:cNvSpPr/>
          <p:nvPr/>
        </p:nvSpPr>
        <p:spPr>
          <a:xfrm>
            <a:off x="594360" y="5120640"/>
            <a:ext cx="5303520" cy="1234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17"/>
          <p:cNvSpPr/>
          <p:nvPr/>
        </p:nvSpPr>
        <p:spPr>
          <a:xfrm>
            <a:off x="685800" y="516636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INCONSISTENTE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7"/>
          <p:cNvSpPr/>
          <p:nvPr/>
        </p:nvSpPr>
        <p:spPr>
          <a:xfrm>
            <a:off x="685800" y="5440680"/>
            <a:ext cx="51206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IMPOSIBLE — implicaría que de los clarificadores solo salieron ≈ 56 m³ en 6 h (10 min de operación total). Se cronometraron varios aforos al Cl. 2 funcionando.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17"/>
          <p:cNvSpPr/>
          <p:nvPr/>
        </p:nvSpPr>
        <p:spPr>
          <a:xfrm>
            <a:off x="6126480" y="2240280"/>
            <a:ext cx="5577840" cy="4206240"/>
          </a:xfrm>
          <a:prstGeom prst="rect">
            <a:avLst/>
          </a:prstGeom>
          <a:solidFill>
            <a:srgbClr val="F0F4FA"/>
          </a:solidFill>
          <a:ln w="1905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17"/>
          <p:cNvSpPr/>
          <p:nvPr/>
        </p:nvSpPr>
        <p:spPr>
          <a:xfrm>
            <a:off x="6126480" y="2240280"/>
            <a:ext cx="5577840" cy="45720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7"/>
          <p:cNvSpPr/>
          <p:nvPr/>
        </p:nvSpPr>
        <p:spPr>
          <a:xfrm>
            <a:off x="6309360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 B · T2 final = 2.92 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7"/>
          <p:cNvSpPr/>
          <p:nvPr/>
        </p:nvSpPr>
        <p:spPr>
          <a:xfrm>
            <a:off x="6309360" y="278892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Δh T2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7"/>
          <p:cNvSpPr/>
          <p:nvPr/>
        </p:nvSpPr>
        <p:spPr>
          <a:xfrm>
            <a:off x="9509760" y="278892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+1.49 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7"/>
          <p:cNvSpPr/>
          <p:nvPr/>
        </p:nvSpPr>
        <p:spPr>
          <a:xfrm>
            <a:off x="6309360" y="310896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ΔV T2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17"/>
          <p:cNvSpPr/>
          <p:nvPr/>
        </p:nvSpPr>
        <p:spPr>
          <a:xfrm>
            <a:off x="9509760" y="310896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+232.66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7"/>
          <p:cNvSpPr/>
          <p:nvPr/>
        </p:nvSpPr>
        <p:spPr>
          <a:xfrm>
            <a:off x="6309360" y="34290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ΔV T1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7"/>
          <p:cNvSpPr/>
          <p:nvPr/>
        </p:nvSpPr>
        <p:spPr>
          <a:xfrm>
            <a:off x="9509760" y="342900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7"/>
          <p:cNvSpPr/>
          <p:nvPr/>
        </p:nvSpPr>
        <p:spPr>
          <a:xfrm>
            <a:off x="6309360" y="374904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ΔV T3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7"/>
          <p:cNvSpPr/>
          <p:nvPr/>
        </p:nvSpPr>
        <p:spPr>
          <a:xfrm>
            <a:off x="9509760" y="374904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−137.41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7"/>
          <p:cNvSpPr/>
          <p:nvPr/>
        </p:nvSpPr>
        <p:spPr>
          <a:xfrm>
            <a:off x="6309360" y="40690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ΔV total tanques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7"/>
          <p:cNvSpPr/>
          <p:nvPr/>
        </p:nvSpPr>
        <p:spPr>
          <a:xfrm>
            <a:off x="9509760" y="406908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+95.25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7"/>
          <p:cNvSpPr/>
          <p:nvPr/>
        </p:nvSpPr>
        <p:spPr>
          <a:xfrm>
            <a:off x="6309360" y="438912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Esperado: Salida Cl. − Consumo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17"/>
          <p:cNvSpPr/>
          <p:nvPr/>
        </p:nvSpPr>
        <p:spPr>
          <a:xfrm>
            <a:off x="9509760" y="438912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+80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17"/>
          <p:cNvSpPr/>
          <p:nvPr/>
        </p:nvSpPr>
        <p:spPr>
          <a:xfrm>
            <a:off x="6309360" y="470916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DISCREPANCIA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17"/>
          <p:cNvSpPr/>
          <p:nvPr/>
        </p:nvSpPr>
        <p:spPr>
          <a:xfrm>
            <a:off x="9509760" y="470916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+15.25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7"/>
          <p:cNvSpPr/>
          <p:nvPr/>
        </p:nvSpPr>
        <p:spPr>
          <a:xfrm>
            <a:off x="6263640" y="5120640"/>
            <a:ext cx="5303520" cy="1234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17"/>
          <p:cNvSpPr/>
          <p:nvPr/>
        </p:nvSpPr>
        <p:spPr>
          <a:xfrm>
            <a:off x="6355080" y="516636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CONFIRMADO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17"/>
          <p:cNvSpPr/>
          <p:nvPr/>
        </p:nvSpPr>
        <p:spPr>
          <a:xfrm>
            <a:off x="6355080" y="5440680"/>
            <a:ext cx="51206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CONSISTENTE — diferencia del 16 % es compatible con margen de precisión de niveles (±1.56 m³/cm) y la pequeña diferencia entre Q Cl.1 aforada y promedio. El llenado de T2 calza con la operación del Cl. 2 (≈45 % del tiempo).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8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2" name="Google Shape;872;p18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3" name="Google Shape;873;p18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Capacidades nominales de los clarificadores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8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Conversión de las cifras de placa (GPM) a unidades del sistema internacional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8"/>
          <p:cNvSpPr/>
          <p:nvPr/>
        </p:nvSpPr>
        <p:spPr>
          <a:xfrm>
            <a:off x="457200" y="1417320"/>
            <a:ext cx="3566160" cy="36576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18"/>
          <p:cNvSpPr/>
          <p:nvPr/>
        </p:nvSpPr>
        <p:spPr>
          <a:xfrm>
            <a:off x="457200" y="1417320"/>
            <a:ext cx="3566160" cy="64008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18"/>
          <p:cNvSpPr/>
          <p:nvPr/>
        </p:nvSpPr>
        <p:spPr>
          <a:xfrm>
            <a:off x="594360" y="14630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CLARIFICADOR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8"/>
          <p:cNvSpPr/>
          <p:nvPr/>
        </p:nvSpPr>
        <p:spPr>
          <a:xfrm>
            <a:off x="594360" y="17830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Tratamiento batch — solución madre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9" name="Google Shape;879;p18"/>
          <p:cNvCxnSpPr/>
          <p:nvPr/>
        </p:nvCxnSpPr>
        <p:spPr>
          <a:xfrm>
            <a:off x="594360" y="25786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0" name="Google Shape;880;p18"/>
          <p:cNvSpPr/>
          <p:nvPr/>
        </p:nvSpPr>
        <p:spPr>
          <a:xfrm>
            <a:off x="594360" y="21945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Caudal nominal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8"/>
          <p:cNvSpPr/>
          <p:nvPr/>
        </p:nvSpPr>
        <p:spPr>
          <a:xfrm>
            <a:off x="2286000" y="21945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50 GPM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2" name="Google Shape;882;p18"/>
          <p:cNvCxnSpPr/>
          <p:nvPr/>
        </p:nvCxnSpPr>
        <p:spPr>
          <a:xfrm>
            <a:off x="594360" y="30358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3" name="Google Shape;883;p18"/>
          <p:cNvSpPr/>
          <p:nvPr/>
        </p:nvSpPr>
        <p:spPr>
          <a:xfrm>
            <a:off x="594360" y="26517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Equivalente SI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8"/>
          <p:cNvSpPr/>
          <p:nvPr/>
        </p:nvSpPr>
        <p:spPr>
          <a:xfrm>
            <a:off x="2286000" y="26517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189.27 L/min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5" name="Google Shape;885;p18"/>
          <p:cNvCxnSpPr/>
          <p:nvPr/>
        </p:nvCxnSpPr>
        <p:spPr>
          <a:xfrm>
            <a:off x="594360" y="34930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6" name="Google Shape;886;p18"/>
          <p:cNvSpPr/>
          <p:nvPr/>
        </p:nvSpPr>
        <p:spPr>
          <a:xfrm>
            <a:off x="594360" y="31089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8"/>
          <p:cNvSpPr/>
          <p:nvPr/>
        </p:nvSpPr>
        <p:spPr>
          <a:xfrm>
            <a:off x="2286000" y="31089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11.36 m³/h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8" name="Google Shape;888;p18"/>
          <p:cNvCxnSpPr/>
          <p:nvPr/>
        </p:nvCxnSpPr>
        <p:spPr>
          <a:xfrm>
            <a:off x="594360" y="39502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9" name="Google Shape;889;p18"/>
          <p:cNvSpPr/>
          <p:nvPr/>
        </p:nvSpPr>
        <p:spPr>
          <a:xfrm>
            <a:off x="594360" y="35661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18"/>
          <p:cNvSpPr/>
          <p:nvPr/>
        </p:nvSpPr>
        <p:spPr>
          <a:xfrm>
            <a:off x="2286000" y="35661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0.272 m³/min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1" name="Google Shape;891;p18"/>
          <p:cNvCxnSpPr/>
          <p:nvPr/>
        </p:nvCxnSpPr>
        <p:spPr>
          <a:xfrm>
            <a:off x="594360" y="44074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2" name="Google Shape;892;p18"/>
          <p:cNvSpPr/>
          <p:nvPr/>
        </p:nvSpPr>
        <p:spPr>
          <a:xfrm>
            <a:off x="594360" y="40233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Volumen diario (8 h)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18"/>
          <p:cNvSpPr/>
          <p:nvPr/>
        </p:nvSpPr>
        <p:spPr>
          <a:xfrm>
            <a:off x="2286000" y="40233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90.85 m³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4" name="Google Shape;894;p18"/>
          <p:cNvCxnSpPr/>
          <p:nvPr/>
        </p:nvCxnSpPr>
        <p:spPr>
          <a:xfrm>
            <a:off x="594360" y="48646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5" name="Google Shape;895;p18"/>
          <p:cNvSpPr/>
          <p:nvPr/>
        </p:nvSpPr>
        <p:spPr>
          <a:xfrm>
            <a:off x="594360" y="44805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Volumen diario (24 h)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18"/>
          <p:cNvSpPr/>
          <p:nvPr/>
        </p:nvSpPr>
        <p:spPr>
          <a:xfrm>
            <a:off x="2286000" y="44805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272.55 m³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8"/>
          <p:cNvSpPr/>
          <p:nvPr/>
        </p:nvSpPr>
        <p:spPr>
          <a:xfrm>
            <a:off x="4297680" y="1417320"/>
            <a:ext cx="3566160" cy="36576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18"/>
          <p:cNvSpPr/>
          <p:nvPr/>
        </p:nvSpPr>
        <p:spPr>
          <a:xfrm>
            <a:off x="4297680" y="1417320"/>
            <a:ext cx="3566160" cy="64008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18"/>
          <p:cNvSpPr/>
          <p:nvPr/>
        </p:nvSpPr>
        <p:spPr>
          <a:xfrm>
            <a:off x="4434840" y="14630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CLARIFICADOR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8"/>
          <p:cNvSpPr/>
          <p:nvPr/>
        </p:nvSpPr>
        <p:spPr>
          <a:xfrm>
            <a:off x="4434840" y="17830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Tratamiento continuo — dosis por ciclo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1" name="Google Shape;901;p18"/>
          <p:cNvCxnSpPr/>
          <p:nvPr/>
        </p:nvCxnSpPr>
        <p:spPr>
          <a:xfrm>
            <a:off x="4434840" y="25786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2" name="Google Shape;902;p18"/>
          <p:cNvSpPr/>
          <p:nvPr/>
        </p:nvSpPr>
        <p:spPr>
          <a:xfrm>
            <a:off x="4434840" y="21945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Caudal nominal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8"/>
          <p:cNvSpPr/>
          <p:nvPr/>
        </p:nvSpPr>
        <p:spPr>
          <a:xfrm>
            <a:off x="6126480" y="21945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125 GPM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4" name="Google Shape;904;p18"/>
          <p:cNvCxnSpPr/>
          <p:nvPr/>
        </p:nvCxnSpPr>
        <p:spPr>
          <a:xfrm>
            <a:off x="4434840" y="30358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5" name="Google Shape;905;p18"/>
          <p:cNvSpPr/>
          <p:nvPr/>
        </p:nvSpPr>
        <p:spPr>
          <a:xfrm>
            <a:off x="4434840" y="26517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Equivalente SI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18"/>
          <p:cNvSpPr/>
          <p:nvPr/>
        </p:nvSpPr>
        <p:spPr>
          <a:xfrm>
            <a:off x="6126480" y="26517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473.18 L/min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7" name="Google Shape;907;p18"/>
          <p:cNvCxnSpPr/>
          <p:nvPr/>
        </p:nvCxnSpPr>
        <p:spPr>
          <a:xfrm>
            <a:off x="4434840" y="34930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8" name="Google Shape;908;p18"/>
          <p:cNvSpPr/>
          <p:nvPr/>
        </p:nvSpPr>
        <p:spPr>
          <a:xfrm>
            <a:off x="4434840" y="31089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18"/>
          <p:cNvSpPr/>
          <p:nvPr/>
        </p:nvSpPr>
        <p:spPr>
          <a:xfrm>
            <a:off x="6126480" y="31089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28.39 m³/h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0" name="Google Shape;910;p18"/>
          <p:cNvCxnSpPr/>
          <p:nvPr/>
        </p:nvCxnSpPr>
        <p:spPr>
          <a:xfrm>
            <a:off x="4434840" y="39502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1" name="Google Shape;911;p18"/>
          <p:cNvSpPr/>
          <p:nvPr/>
        </p:nvSpPr>
        <p:spPr>
          <a:xfrm>
            <a:off x="4434840" y="35661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18"/>
          <p:cNvSpPr/>
          <p:nvPr/>
        </p:nvSpPr>
        <p:spPr>
          <a:xfrm>
            <a:off x="6126480" y="35661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0.473 m³/min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3" name="Google Shape;913;p18"/>
          <p:cNvCxnSpPr/>
          <p:nvPr/>
        </p:nvCxnSpPr>
        <p:spPr>
          <a:xfrm>
            <a:off x="4434840" y="44074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4" name="Google Shape;914;p18"/>
          <p:cNvSpPr/>
          <p:nvPr/>
        </p:nvSpPr>
        <p:spPr>
          <a:xfrm>
            <a:off x="4434840" y="40233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Volumen diario (8 h)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18"/>
          <p:cNvSpPr/>
          <p:nvPr/>
        </p:nvSpPr>
        <p:spPr>
          <a:xfrm>
            <a:off x="6126480" y="40233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227.10 m³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6" name="Google Shape;916;p18"/>
          <p:cNvCxnSpPr/>
          <p:nvPr/>
        </p:nvCxnSpPr>
        <p:spPr>
          <a:xfrm>
            <a:off x="4434840" y="48646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7" name="Google Shape;917;p18"/>
          <p:cNvSpPr/>
          <p:nvPr/>
        </p:nvSpPr>
        <p:spPr>
          <a:xfrm>
            <a:off x="4434840" y="44805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Volumen diario (24 h)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18"/>
          <p:cNvSpPr/>
          <p:nvPr/>
        </p:nvSpPr>
        <p:spPr>
          <a:xfrm>
            <a:off x="6126480" y="44805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681.30 m³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8"/>
          <p:cNvSpPr/>
          <p:nvPr/>
        </p:nvSpPr>
        <p:spPr>
          <a:xfrm>
            <a:off x="8138160" y="1417320"/>
            <a:ext cx="3566160" cy="36576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18"/>
          <p:cNvSpPr/>
          <p:nvPr/>
        </p:nvSpPr>
        <p:spPr>
          <a:xfrm>
            <a:off x="8138160" y="1417320"/>
            <a:ext cx="3566160" cy="640080"/>
          </a:xfrm>
          <a:prstGeom prst="rect">
            <a:avLst/>
          </a:prstGeom>
          <a:solidFill>
            <a:srgbClr val="21295C"/>
          </a:solidFill>
          <a:ln w="12700" cap="flat" cmpd="sng">
            <a:solidFill>
              <a:srgbClr val="2129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18"/>
          <p:cNvSpPr/>
          <p:nvPr/>
        </p:nvSpPr>
        <p:spPr>
          <a:xfrm>
            <a:off x="8275320" y="14630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COMBINADO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18"/>
          <p:cNvSpPr/>
          <p:nvPr/>
        </p:nvSpPr>
        <p:spPr>
          <a:xfrm>
            <a:off x="8275320" y="17830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Capacidad agregada del sistema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3" name="Google Shape;923;p18"/>
          <p:cNvCxnSpPr/>
          <p:nvPr/>
        </p:nvCxnSpPr>
        <p:spPr>
          <a:xfrm>
            <a:off x="8275320" y="25786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4" name="Google Shape;924;p18"/>
          <p:cNvSpPr/>
          <p:nvPr/>
        </p:nvSpPr>
        <p:spPr>
          <a:xfrm>
            <a:off x="8275320" y="21945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Caudal total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8"/>
          <p:cNvSpPr/>
          <p:nvPr/>
        </p:nvSpPr>
        <p:spPr>
          <a:xfrm>
            <a:off x="9966960" y="21945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175 GPM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6" name="Google Shape;926;p18"/>
          <p:cNvCxnSpPr/>
          <p:nvPr/>
        </p:nvCxnSpPr>
        <p:spPr>
          <a:xfrm>
            <a:off x="8275320" y="30358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7" name="Google Shape;927;p18"/>
          <p:cNvSpPr/>
          <p:nvPr/>
        </p:nvSpPr>
        <p:spPr>
          <a:xfrm>
            <a:off x="8275320" y="26517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Equivalente SI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18"/>
          <p:cNvSpPr/>
          <p:nvPr/>
        </p:nvSpPr>
        <p:spPr>
          <a:xfrm>
            <a:off x="9966960" y="26517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662.45 L/min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9" name="Google Shape;929;p18"/>
          <p:cNvCxnSpPr/>
          <p:nvPr/>
        </p:nvCxnSpPr>
        <p:spPr>
          <a:xfrm>
            <a:off x="8275320" y="34930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0" name="Google Shape;930;p18"/>
          <p:cNvSpPr/>
          <p:nvPr/>
        </p:nvSpPr>
        <p:spPr>
          <a:xfrm>
            <a:off x="8275320" y="31089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8"/>
          <p:cNvSpPr/>
          <p:nvPr/>
        </p:nvSpPr>
        <p:spPr>
          <a:xfrm>
            <a:off x="9966960" y="31089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39.75 m³/h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2" name="Google Shape;932;p18"/>
          <p:cNvCxnSpPr/>
          <p:nvPr/>
        </p:nvCxnSpPr>
        <p:spPr>
          <a:xfrm>
            <a:off x="8275320" y="39502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3" name="Google Shape;933;p18"/>
          <p:cNvSpPr/>
          <p:nvPr/>
        </p:nvSpPr>
        <p:spPr>
          <a:xfrm>
            <a:off x="8275320" y="35661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Razón Cl. 2 / Cl. 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18"/>
          <p:cNvSpPr/>
          <p:nvPr/>
        </p:nvSpPr>
        <p:spPr>
          <a:xfrm>
            <a:off x="9966960" y="35661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2.50 ×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5" name="Google Shape;935;p18"/>
          <p:cNvCxnSpPr/>
          <p:nvPr/>
        </p:nvCxnSpPr>
        <p:spPr>
          <a:xfrm>
            <a:off x="8275320" y="44074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6" name="Google Shape;936;p18"/>
          <p:cNvSpPr/>
          <p:nvPr/>
        </p:nvSpPr>
        <p:spPr>
          <a:xfrm>
            <a:off x="8275320" y="40233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Volumen diario (8 h)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8"/>
          <p:cNvSpPr/>
          <p:nvPr/>
        </p:nvSpPr>
        <p:spPr>
          <a:xfrm>
            <a:off x="9966960" y="40233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318.00 m³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8" name="Google Shape;938;p18"/>
          <p:cNvCxnSpPr/>
          <p:nvPr/>
        </p:nvCxnSpPr>
        <p:spPr>
          <a:xfrm>
            <a:off x="8275320" y="48646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9" name="Google Shape;939;p18"/>
          <p:cNvSpPr/>
          <p:nvPr/>
        </p:nvSpPr>
        <p:spPr>
          <a:xfrm>
            <a:off x="8275320" y="44805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Volumen diario (24 h)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18"/>
          <p:cNvSpPr/>
          <p:nvPr/>
        </p:nvSpPr>
        <p:spPr>
          <a:xfrm>
            <a:off x="9966960" y="44805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954.00 m³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18"/>
          <p:cNvSpPr/>
          <p:nvPr/>
        </p:nvSpPr>
        <p:spPr>
          <a:xfrm>
            <a:off x="457200" y="5257800"/>
            <a:ext cx="11247120" cy="1188720"/>
          </a:xfrm>
          <a:prstGeom prst="rect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18"/>
          <p:cNvSpPr/>
          <p:nvPr/>
        </p:nvSpPr>
        <p:spPr>
          <a:xfrm>
            <a:off x="640080" y="534924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VERIFICACIÓN CONTRA OPERACIÓN REAL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18"/>
          <p:cNvSpPr/>
          <p:nvPr/>
        </p:nvSpPr>
        <p:spPr>
          <a:xfrm>
            <a:off x="640080" y="56235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•  Cl. 1 medido:  </a:t>
            </a:r>
            <a:r>
              <a:rPr lang="en-US" sz="10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11.29 m³/h</a:t>
            </a: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 vs nominal  </a:t>
            </a:r>
            <a: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11.36 m³/h</a:t>
            </a: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   →    desviación   </a:t>
            </a:r>
            <a: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−0.6 %</a:t>
            </a:r>
            <a:b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•  Cl. 2 medido:  </a:t>
            </a:r>
            <a:r>
              <a:rPr lang="en-US" sz="10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31.13 m³/h</a:t>
            </a: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 vs nominal  </a:t>
            </a:r>
            <a: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28.39 m³/h</a:t>
            </a: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   →    desviación   </a:t>
            </a:r>
            <a:r>
              <a:rPr lang="en-US" sz="105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+9.6 %</a:t>
            </a:r>
            <a:r>
              <a:rPr lang="en-US" sz="10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 (operó algo por encima del diseño)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9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0" name="Google Shape;950;p19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1" name="Google Shape;951;p19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Análisis de carga y sobrecarga en clarificadores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19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Diferentes escenarios operativos contra la capacidad nominal disponible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19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19"/>
          <p:cNvSpPr/>
          <p:nvPr/>
        </p:nvSpPr>
        <p:spPr>
          <a:xfrm>
            <a:off x="548640" y="141732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9"/>
          <p:cNvSpPr/>
          <p:nvPr/>
        </p:nvSpPr>
        <p:spPr>
          <a:xfrm>
            <a:off x="4937760" y="141732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entrante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19"/>
          <p:cNvSpPr/>
          <p:nvPr/>
        </p:nvSpPr>
        <p:spPr>
          <a:xfrm>
            <a:off x="6766560" y="14173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Capacidad usada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19"/>
          <p:cNvSpPr/>
          <p:nvPr/>
        </p:nvSpPr>
        <p:spPr>
          <a:xfrm>
            <a:off x="8778240" y="14173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 carga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19"/>
          <p:cNvSpPr/>
          <p:nvPr/>
        </p:nvSpPr>
        <p:spPr>
          <a:xfrm>
            <a:off x="10241280" y="141732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9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19"/>
          <p:cNvSpPr/>
          <p:nvPr/>
        </p:nvSpPr>
        <p:spPr>
          <a:xfrm>
            <a:off x="548640" y="182880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Solo B. Principal · ambos Cl. operando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9"/>
          <p:cNvSpPr/>
          <p:nvPr/>
        </p:nvSpPr>
        <p:spPr>
          <a:xfrm>
            <a:off x="4937760" y="18288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11.37 m³/h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9"/>
          <p:cNvSpPr/>
          <p:nvPr/>
        </p:nvSpPr>
        <p:spPr>
          <a:xfrm>
            <a:off x="6766560" y="18288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11.37 / 39.75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9"/>
          <p:cNvSpPr/>
          <p:nvPr/>
        </p:nvSpPr>
        <p:spPr>
          <a:xfrm>
            <a:off x="8778240" y="182880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28.6 %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9"/>
          <p:cNvSpPr/>
          <p:nvPr/>
        </p:nvSpPr>
        <p:spPr>
          <a:xfrm>
            <a:off x="10241280" y="1828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 Holgado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9"/>
          <p:cNvSpPr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19"/>
          <p:cNvSpPr/>
          <p:nvPr/>
        </p:nvSpPr>
        <p:spPr>
          <a:xfrm>
            <a:off x="548640" y="228600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Principal + Auxiliar · ambos Cl.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9"/>
          <p:cNvSpPr/>
          <p:nvPr/>
        </p:nvSpPr>
        <p:spPr>
          <a:xfrm>
            <a:off x="4937760" y="22860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≈ 39 m³/h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19"/>
          <p:cNvSpPr/>
          <p:nvPr/>
        </p:nvSpPr>
        <p:spPr>
          <a:xfrm>
            <a:off x="6766560" y="22860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39 / 39.75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19"/>
          <p:cNvSpPr/>
          <p:nvPr/>
        </p:nvSpPr>
        <p:spPr>
          <a:xfrm>
            <a:off x="8778240" y="228600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98.1 %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19"/>
          <p:cNvSpPr/>
          <p:nvPr/>
        </p:nvSpPr>
        <p:spPr>
          <a:xfrm>
            <a:off x="10241280" y="22860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⚠ Al límite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19"/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19"/>
          <p:cNvSpPr/>
          <p:nvPr/>
        </p:nvSpPr>
        <p:spPr>
          <a:xfrm>
            <a:off x="548640" y="274320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Solo B. Principal · solo Cl.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19"/>
          <p:cNvSpPr/>
          <p:nvPr/>
        </p:nvSpPr>
        <p:spPr>
          <a:xfrm>
            <a:off x="4937760" y="2743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11.37 m³/h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19"/>
          <p:cNvSpPr/>
          <p:nvPr/>
        </p:nvSpPr>
        <p:spPr>
          <a:xfrm>
            <a:off x="6766560" y="27432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11.37 / 28.39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19"/>
          <p:cNvSpPr/>
          <p:nvPr/>
        </p:nvSpPr>
        <p:spPr>
          <a:xfrm>
            <a:off x="8778240" y="274320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40.1 %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9"/>
          <p:cNvSpPr/>
          <p:nvPr/>
        </p:nvSpPr>
        <p:spPr>
          <a:xfrm>
            <a:off x="10241280" y="27432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 Aceptable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19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19"/>
          <p:cNvSpPr/>
          <p:nvPr/>
        </p:nvSpPr>
        <p:spPr>
          <a:xfrm>
            <a:off x="548640" y="320040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Solo B. Principal · solo Cl.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19"/>
          <p:cNvSpPr/>
          <p:nvPr/>
        </p:nvSpPr>
        <p:spPr>
          <a:xfrm>
            <a:off x="4937760" y="32004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11.37 m³/h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19"/>
          <p:cNvSpPr/>
          <p:nvPr/>
        </p:nvSpPr>
        <p:spPr>
          <a:xfrm>
            <a:off x="6766560" y="32004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11.37 / 11.36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9"/>
          <p:cNvSpPr/>
          <p:nvPr/>
        </p:nvSpPr>
        <p:spPr>
          <a:xfrm>
            <a:off x="8778240" y="320040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100.1 %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9"/>
          <p:cNvSpPr/>
          <p:nvPr/>
        </p:nvSpPr>
        <p:spPr>
          <a:xfrm>
            <a:off x="10241280" y="32004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⚠ Sin margen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19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19"/>
          <p:cNvSpPr/>
          <p:nvPr/>
        </p:nvSpPr>
        <p:spPr>
          <a:xfrm>
            <a:off x="548640" y="365760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Principal + Auxiliar · solo Cl.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19"/>
          <p:cNvSpPr/>
          <p:nvPr/>
        </p:nvSpPr>
        <p:spPr>
          <a:xfrm>
            <a:off x="4937760" y="36576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≈ 39 m³/h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19"/>
          <p:cNvSpPr/>
          <p:nvPr/>
        </p:nvSpPr>
        <p:spPr>
          <a:xfrm>
            <a:off x="6766560" y="36576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39 / 11.36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19"/>
          <p:cNvSpPr/>
          <p:nvPr/>
        </p:nvSpPr>
        <p:spPr>
          <a:xfrm>
            <a:off x="8778240" y="365760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343 %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19"/>
          <p:cNvSpPr/>
          <p:nvPr/>
        </p:nvSpPr>
        <p:spPr>
          <a:xfrm>
            <a:off x="10241280" y="3657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Sobrecarga grave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9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19"/>
          <p:cNvSpPr/>
          <p:nvPr/>
        </p:nvSpPr>
        <p:spPr>
          <a:xfrm>
            <a:off x="548640" y="411480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Principal + Auxiliar · solo Cl.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9"/>
          <p:cNvSpPr/>
          <p:nvPr/>
        </p:nvSpPr>
        <p:spPr>
          <a:xfrm>
            <a:off x="4937760" y="41148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≈ 39 m³/h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19"/>
          <p:cNvSpPr/>
          <p:nvPr/>
        </p:nvSpPr>
        <p:spPr>
          <a:xfrm>
            <a:off x="6766560" y="41148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39 / 28.39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19"/>
          <p:cNvSpPr/>
          <p:nvPr/>
        </p:nvSpPr>
        <p:spPr>
          <a:xfrm>
            <a:off x="8778240" y="411480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137 %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19"/>
          <p:cNvSpPr/>
          <p:nvPr/>
        </p:nvSpPr>
        <p:spPr>
          <a:xfrm>
            <a:off x="10241280" y="4114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 Sobrecargado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19"/>
          <p:cNvSpPr/>
          <p:nvPr/>
        </p:nvSpPr>
        <p:spPr>
          <a:xfrm>
            <a:off x="457200" y="4754880"/>
            <a:ext cx="11247120" cy="169164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19"/>
          <p:cNvSpPr/>
          <p:nvPr/>
        </p:nvSpPr>
        <p:spPr>
          <a:xfrm>
            <a:off x="640080" y="484632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DIAGNÓSTICO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19"/>
          <p:cNvSpPr/>
          <p:nvPr/>
        </p:nvSpPr>
        <p:spPr>
          <a:xfrm>
            <a:off x="640080" y="5074920"/>
            <a:ext cx="1088136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•  El sistema opera con holgura solo si ambos clarificadores están activos en paralelo.</a:t>
            </a:r>
            <a:b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•  Si el Cl. 2 falla y solo opera el Cl. 1, la capacidad cae a 11.36 m³/h — el B. Principal por sí solo ya lo deja sin margen (100.1 %). Con el Auxiliar entrando, se produciría sobrecarga grave de 343 % → bypass forzado o degradación de la calidad del agua.</a:t>
            </a:r>
            <a:b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•  Si el Cl. 1 falla y solo opera el Cl. 2, la operación sigue siendo viable con B. Principal (40.1 %) pero entra en sobrecarga al activar también el B. Auxiliar (137 %).</a:t>
            </a:r>
            <a:b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•  Recomendación: la capacidad combinada (39.75 m³/h) es el techo operativo seguro. Evitar arrancar ambas bombas con un solo clarificador en línea.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20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4" name="Google Shape;1004;p20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5" name="Google Shape;1005;p20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Tiempo de llenado de un tanque de 487 m³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0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Cálculo t = V / Q para distintas configuraciones de aporte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0"/>
          <p:cNvSpPr/>
          <p:nvPr/>
        </p:nvSpPr>
        <p:spPr>
          <a:xfrm>
            <a:off x="457200" y="1417320"/>
            <a:ext cx="7498080" cy="41148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20"/>
          <p:cNvSpPr/>
          <p:nvPr/>
        </p:nvSpPr>
        <p:spPr>
          <a:xfrm>
            <a:off x="548640" y="14173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Configuración de aporte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0"/>
          <p:cNvSpPr/>
          <p:nvPr/>
        </p:nvSpPr>
        <p:spPr>
          <a:xfrm>
            <a:off x="4023360" y="141732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Caudal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0"/>
          <p:cNvSpPr/>
          <p:nvPr/>
        </p:nvSpPr>
        <p:spPr>
          <a:xfrm>
            <a:off x="5577840" y="141732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 llenado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0"/>
          <p:cNvSpPr/>
          <p:nvPr/>
        </p:nvSpPr>
        <p:spPr>
          <a:xfrm>
            <a:off x="7132320" y="141732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Días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20"/>
          <p:cNvSpPr/>
          <p:nvPr/>
        </p:nvSpPr>
        <p:spPr>
          <a:xfrm>
            <a:off x="457200" y="1828800"/>
            <a:ext cx="7498080" cy="411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20"/>
          <p:cNvSpPr/>
          <p:nvPr/>
        </p:nvSpPr>
        <p:spPr>
          <a:xfrm>
            <a:off x="548640" y="182880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Cl. 1 al diseño nominal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0"/>
          <p:cNvSpPr/>
          <p:nvPr/>
        </p:nvSpPr>
        <p:spPr>
          <a:xfrm>
            <a:off x="4023360" y="18288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11.36 m³/h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20"/>
          <p:cNvSpPr/>
          <p:nvPr/>
        </p:nvSpPr>
        <p:spPr>
          <a:xfrm>
            <a:off x="5577840" y="18288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42.87 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0"/>
          <p:cNvSpPr/>
          <p:nvPr/>
        </p:nvSpPr>
        <p:spPr>
          <a:xfrm>
            <a:off x="7132320" y="182880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1.79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0"/>
          <p:cNvSpPr/>
          <p:nvPr/>
        </p:nvSpPr>
        <p:spPr>
          <a:xfrm>
            <a:off x="457200" y="2240280"/>
            <a:ext cx="7498080" cy="4114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20"/>
          <p:cNvSpPr/>
          <p:nvPr/>
        </p:nvSpPr>
        <p:spPr>
          <a:xfrm>
            <a:off x="548640" y="22402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Cl. 1 al promedio medido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0"/>
          <p:cNvSpPr/>
          <p:nvPr/>
        </p:nvSpPr>
        <p:spPr>
          <a:xfrm>
            <a:off x="4023360" y="22402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11.29 m³/h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20"/>
          <p:cNvSpPr/>
          <p:nvPr/>
        </p:nvSpPr>
        <p:spPr>
          <a:xfrm>
            <a:off x="5577840" y="22402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43.14 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0"/>
          <p:cNvSpPr/>
          <p:nvPr/>
        </p:nvSpPr>
        <p:spPr>
          <a:xfrm>
            <a:off x="7132320" y="224028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1.80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0"/>
          <p:cNvSpPr/>
          <p:nvPr/>
        </p:nvSpPr>
        <p:spPr>
          <a:xfrm>
            <a:off x="457200" y="2651760"/>
            <a:ext cx="7498080" cy="411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p20"/>
          <p:cNvSpPr/>
          <p:nvPr/>
        </p:nvSpPr>
        <p:spPr>
          <a:xfrm>
            <a:off x="548640" y="26517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Cl. 2 al diseño nominal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0"/>
          <p:cNvSpPr/>
          <p:nvPr/>
        </p:nvSpPr>
        <p:spPr>
          <a:xfrm>
            <a:off x="4023360" y="26517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28.39 m³/h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0"/>
          <p:cNvSpPr/>
          <p:nvPr/>
        </p:nvSpPr>
        <p:spPr>
          <a:xfrm>
            <a:off x="5577840" y="26517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17.16 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20"/>
          <p:cNvSpPr/>
          <p:nvPr/>
        </p:nvSpPr>
        <p:spPr>
          <a:xfrm>
            <a:off x="7132320" y="265176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0.71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0"/>
          <p:cNvSpPr/>
          <p:nvPr/>
        </p:nvSpPr>
        <p:spPr>
          <a:xfrm>
            <a:off x="457200" y="3063240"/>
            <a:ext cx="7498080" cy="4114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20"/>
          <p:cNvSpPr/>
          <p:nvPr/>
        </p:nvSpPr>
        <p:spPr>
          <a:xfrm>
            <a:off x="548640" y="306324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Cl. 2 al promedio medido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0"/>
          <p:cNvSpPr/>
          <p:nvPr/>
        </p:nvSpPr>
        <p:spPr>
          <a:xfrm>
            <a:off x="4023360" y="306324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31.13 m³/h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20"/>
          <p:cNvSpPr/>
          <p:nvPr/>
        </p:nvSpPr>
        <p:spPr>
          <a:xfrm>
            <a:off x="5577840" y="306324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15.65 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0"/>
          <p:cNvSpPr/>
          <p:nvPr/>
        </p:nvSpPr>
        <p:spPr>
          <a:xfrm>
            <a:off x="7132320" y="306324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0.65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0"/>
          <p:cNvSpPr/>
          <p:nvPr/>
        </p:nvSpPr>
        <p:spPr>
          <a:xfrm>
            <a:off x="457200" y="3474720"/>
            <a:ext cx="7498080" cy="411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20"/>
          <p:cNvSpPr/>
          <p:nvPr/>
        </p:nvSpPr>
        <p:spPr>
          <a:xfrm>
            <a:off x="548640" y="34747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Cl. 1 + Cl. 2 al diseño (combinado)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20"/>
          <p:cNvSpPr/>
          <p:nvPr/>
        </p:nvSpPr>
        <p:spPr>
          <a:xfrm>
            <a:off x="4023360" y="347472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39.75 m³/h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0"/>
          <p:cNvSpPr/>
          <p:nvPr/>
        </p:nvSpPr>
        <p:spPr>
          <a:xfrm>
            <a:off x="5577840" y="347472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12.25 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0"/>
          <p:cNvSpPr/>
          <p:nvPr/>
        </p:nvSpPr>
        <p:spPr>
          <a:xfrm>
            <a:off x="7132320" y="347472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0.51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0"/>
          <p:cNvSpPr/>
          <p:nvPr/>
        </p:nvSpPr>
        <p:spPr>
          <a:xfrm>
            <a:off x="457200" y="3886200"/>
            <a:ext cx="7498080" cy="4114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20"/>
          <p:cNvSpPr/>
          <p:nvPr/>
        </p:nvSpPr>
        <p:spPr>
          <a:xfrm>
            <a:off x="548640" y="388620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Cl. 1 + Cl. 2 al promedio medido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0"/>
          <p:cNvSpPr/>
          <p:nvPr/>
        </p:nvSpPr>
        <p:spPr>
          <a:xfrm>
            <a:off x="4023360" y="38862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42.42 m³/h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0"/>
          <p:cNvSpPr/>
          <p:nvPr/>
        </p:nvSpPr>
        <p:spPr>
          <a:xfrm>
            <a:off x="5577840" y="38862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11.48 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0"/>
          <p:cNvSpPr/>
          <p:nvPr/>
        </p:nvSpPr>
        <p:spPr>
          <a:xfrm>
            <a:off x="7132320" y="388620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0.48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20"/>
          <p:cNvSpPr/>
          <p:nvPr/>
        </p:nvSpPr>
        <p:spPr>
          <a:xfrm>
            <a:off x="457200" y="4297680"/>
            <a:ext cx="7498080" cy="411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20"/>
          <p:cNvSpPr/>
          <p:nvPr/>
        </p:nvSpPr>
        <p:spPr>
          <a:xfrm>
            <a:off x="548640" y="42976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Principal aforado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20"/>
          <p:cNvSpPr/>
          <p:nvPr/>
        </p:nvSpPr>
        <p:spPr>
          <a:xfrm>
            <a:off x="4023360" y="42976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8.48 m³/h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0"/>
          <p:cNvSpPr/>
          <p:nvPr/>
        </p:nvSpPr>
        <p:spPr>
          <a:xfrm>
            <a:off x="5577840" y="42976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57.43 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0"/>
          <p:cNvSpPr/>
          <p:nvPr/>
        </p:nvSpPr>
        <p:spPr>
          <a:xfrm>
            <a:off x="7132320" y="429768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2.39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0"/>
          <p:cNvSpPr/>
          <p:nvPr/>
        </p:nvSpPr>
        <p:spPr>
          <a:xfrm>
            <a:off x="457200" y="4709160"/>
            <a:ext cx="7498080" cy="41148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20"/>
          <p:cNvSpPr/>
          <p:nvPr/>
        </p:nvSpPr>
        <p:spPr>
          <a:xfrm>
            <a:off x="548640" y="47091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Principal promedio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0"/>
          <p:cNvSpPr/>
          <p:nvPr/>
        </p:nvSpPr>
        <p:spPr>
          <a:xfrm>
            <a:off x="4023360" y="47091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11.37 m³/h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0"/>
          <p:cNvSpPr/>
          <p:nvPr/>
        </p:nvSpPr>
        <p:spPr>
          <a:xfrm>
            <a:off x="5577840" y="47091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42.83 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0"/>
          <p:cNvSpPr/>
          <p:nvPr/>
        </p:nvSpPr>
        <p:spPr>
          <a:xfrm>
            <a:off x="7132320" y="470916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1.79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0"/>
          <p:cNvSpPr/>
          <p:nvPr/>
        </p:nvSpPr>
        <p:spPr>
          <a:xfrm>
            <a:off x="8229600" y="1417320"/>
            <a:ext cx="3474720" cy="310896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20"/>
          <p:cNvSpPr/>
          <p:nvPr/>
        </p:nvSpPr>
        <p:spPr>
          <a:xfrm>
            <a:off x="8412480" y="15087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LLENADO ÓPTIMO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20"/>
          <p:cNvSpPr/>
          <p:nvPr/>
        </p:nvSpPr>
        <p:spPr>
          <a:xfrm>
            <a:off x="8412480" y="17830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Cl. 1 + Cl. 2 medidos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0"/>
          <p:cNvSpPr/>
          <p:nvPr/>
        </p:nvSpPr>
        <p:spPr>
          <a:xfrm>
            <a:off x="8412480" y="2103120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000"/>
              <a:buFont typeface="Calibri"/>
              <a:buNone/>
            </a:pPr>
            <a:r>
              <a:rPr lang="en-US" sz="5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11.48 h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20"/>
          <p:cNvSpPr/>
          <p:nvPr/>
        </p:nvSpPr>
        <p:spPr>
          <a:xfrm>
            <a:off x="8412480" y="29260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por cada tanque de 487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7" name="Google Shape;1057;p20"/>
          <p:cNvCxnSpPr/>
          <p:nvPr/>
        </p:nvCxnSpPr>
        <p:spPr>
          <a:xfrm>
            <a:off x="8412480" y="3291840"/>
            <a:ext cx="3108960" cy="0"/>
          </a:xfrm>
          <a:prstGeom prst="straightConnector1">
            <a:avLst/>
          </a:prstGeom>
          <a:noFill/>
          <a:ln w="9525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8" name="Google Shape;1058;p20"/>
          <p:cNvSpPr/>
          <p:nvPr/>
        </p:nvSpPr>
        <p:spPr>
          <a:xfrm>
            <a:off x="8412480" y="333756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Llenar T1 + T2 + T3  (1,461 m³)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0"/>
          <p:cNvSpPr/>
          <p:nvPr/>
        </p:nvSpPr>
        <p:spPr>
          <a:xfrm>
            <a:off x="8412480" y="356616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≈ 34.4 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20"/>
          <p:cNvSpPr/>
          <p:nvPr/>
        </p:nvSpPr>
        <p:spPr>
          <a:xfrm>
            <a:off x="8412480" y="384048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Llenar T0 + T1 + T2 + T3  (1,948 m³)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0"/>
          <p:cNvSpPr/>
          <p:nvPr/>
        </p:nvSpPr>
        <p:spPr>
          <a:xfrm>
            <a:off x="8412480" y="406908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≈ 45.9 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20"/>
          <p:cNvSpPr/>
          <p:nvPr/>
        </p:nvSpPr>
        <p:spPr>
          <a:xfrm>
            <a:off x="8229600" y="4663440"/>
            <a:ext cx="3474720" cy="1783080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20"/>
          <p:cNvSpPr/>
          <p:nvPr/>
        </p:nvSpPr>
        <p:spPr>
          <a:xfrm>
            <a:off x="8412480" y="47548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LIMITACIÓN POR BOMBEO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20"/>
          <p:cNvSpPr/>
          <p:nvPr/>
        </p:nvSpPr>
        <p:spPr>
          <a:xfrm>
            <a:off x="8412480" y="50292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Aunque la capacidad de tratamiento permite llenar un tanque en 11.5 h, la B. Principal aforada en 8.48 m³/h tardaría 57.4 h. La operación real está limitada por el caudal entrante a T0, no por el clarificador.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21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1" name="Google Shape;1071;p21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2" name="Google Shape;1072;p21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Balance de masas estricto  ·  Tanque T0 (agua cruda)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21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Entradas (bombeo) vs salidas hacia los clarificadores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1"/>
          <p:cNvSpPr/>
          <p:nvPr/>
        </p:nvSpPr>
        <p:spPr>
          <a:xfrm>
            <a:off x="457200" y="1417320"/>
            <a:ext cx="3657600" cy="5029200"/>
          </a:xfrm>
          <a:prstGeom prst="rect">
            <a:avLst/>
          </a:prstGeom>
          <a:solidFill>
            <a:srgbClr val="F0F4FA"/>
          </a:solidFill>
          <a:ln w="1905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21"/>
          <p:cNvSpPr/>
          <p:nvPr/>
        </p:nvSpPr>
        <p:spPr>
          <a:xfrm>
            <a:off x="457200" y="1417320"/>
            <a:ext cx="3657600" cy="54864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21"/>
          <p:cNvSpPr/>
          <p:nvPr/>
        </p:nvSpPr>
        <p:spPr>
          <a:xfrm>
            <a:off x="548640" y="14630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ENTRADAS  →  T0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21"/>
          <p:cNvSpPr/>
          <p:nvPr/>
        </p:nvSpPr>
        <p:spPr>
          <a:xfrm>
            <a:off x="548640" y="2103120"/>
            <a:ext cx="347472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21"/>
          <p:cNvSpPr/>
          <p:nvPr/>
        </p:nvSpPr>
        <p:spPr>
          <a:xfrm>
            <a:off x="685800" y="210312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Principal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21"/>
          <p:cNvSpPr/>
          <p:nvPr/>
        </p:nvSpPr>
        <p:spPr>
          <a:xfrm>
            <a:off x="2377440" y="2103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+68 m³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21"/>
          <p:cNvSpPr/>
          <p:nvPr/>
        </p:nvSpPr>
        <p:spPr>
          <a:xfrm>
            <a:off x="2377440" y="245059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11.37 m³/h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1"/>
          <p:cNvSpPr/>
          <p:nvPr/>
        </p:nvSpPr>
        <p:spPr>
          <a:xfrm>
            <a:off x="548640" y="2880360"/>
            <a:ext cx="347472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21"/>
          <p:cNvSpPr/>
          <p:nvPr/>
        </p:nvSpPr>
        <p:spPr>
          <a:xfrm>
            <a:off x="685800" y="288036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Auxiliar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1"/>
          <p:cNvSpPr/>
          <p:nvPr/>
        </p:nvSpPr>
        <p:spPr>
          <a:xfrm>
            <a:off x="2377440" y="28803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0 m³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1"/>
          <p:cNvSpPr/>
          <p:nvPr/>
        </p:nvSpPr>
        <p:spPr>
          <a:xfrm>
            <a:off x="2377440" y="322783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0 m³/h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1"/>
          <p:cNvSpPr/>
          <p:nvPr/>
        </p:nvSpPr>
        <p:spPr>
          <a:xfrm>
            <a:off x="548640" y="3657600"/>
            <a:ext cx="3474720" cy="68580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21"/>
          <p:cNvSpPr/>
          <p:nvPr/>
        </p:nvSpPr>
        <p:spPr>
          <a:xfrm>
            <a:off x="685800" y="365760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ENTRADAS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1"/>
          <p:cNvSpPr/>
          <p:nvPr/>
        </p:nvSpPr>
        <p:spPr>
          <a:xfrm>
            <a:off x="2377440" y="36576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+68 m³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1"/>
          <p:cNvSpPr/>
          <p:nvPr/>
        </p:nvSpPr>
        <p:spPr>
          <a:xfrm>
            <a:off x="2377440" y="400507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11.37 m³/h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1"/>
          <p:cNvSpPr/>
          <p:nvPr/>
        </p:nvSpPr>
        <p:spPr>
          <a:xfrm>
            <a:off x="548640" y="4480560"/>
            <a:ext cx="3474720" cy="1828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21"/>
          <p:cNvSpPr/>
          <p:nvPr/>
        </p:nvSpPr>
        <p:spPr>
          <a:xfrm>
            <a:off x="685800" y="4572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1"/>
          <p:cNvSpPr/>
          <p:nvPr/>
        </p:nvSpPr>
        <p:spPr>
          <a:xfrm>
            <a:off x="685800" y="4846320"/>
            <a:ext cx="320040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•  B. Principal operó toda la jornada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•  B. Auxiliar estuvo apagado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•  T0 sin nivel medido en sitio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•  T0 cumple función de buffer entre bombeo y clarificación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21"/>
          <p:cNvSpPr/>
          <p:nvPr/>
        </p:nvSpPr>
        <p:spPr>
          <a:xfrm>
            <a:off x="4297680" y="1417320"/>
            <a:ext cx="3566160" cy="5029200"/>
          </a:xfrm>
          <a:prstGeom prst="rect">
            <a:avLst/>
          </a:prstGeom>
          <a:solidFill>
            <a:srgbClr val="21295C"/>
          </a:solidFill>
          <a:ln w="12700" cap="flat" cmpd="sng">
            <a:solidFill>
              <a:srgbClr val="2129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21"/>
          <p:cNvSpPr/>
          <p:nvPr/>
        </p:nvSpPr>
        <p:spPr>
          <a:xfrm>
            <a:off x="4434840" y="15544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BALANCE T0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1"/>
          <p:cNvSpPr/>
          <p:nvPr/>
        </p:nvSpPr>
        <p:spPr>
          <a:xfrm>
            <a:off x="4434840" y="20116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IN  −  OUT  =  ΔV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1"/>
          <p:cNvSpPr/>
          <p:nvPr/>
        </p:nvSpPr>
        <p:spPr>
          <a:xfrm>
            <a:off x="4434840" y="2514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68  −  OUT_total  =  ΔV_T0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6" name="Google Shape;1096;p21"/>
          <p:cNvCxnSpPr/>
          <p:nvPr/>
        </p:nvCxnSpPr>
        <p:spPr>
          <a:xfrm>
            <a:off x="4434840" y="3108960"/>
            <a:ext cx="3291840" cy="0"/>
          </a:xfrm>
          <a:prstGeom prst="straightConnector1">
            <a:avLst/>
          </a:prstGeom>
          <a:noFill/>
          <a:ln w="1270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7" name="Google Shape;1097;p21"/>
          <p:cNvSpPr/>
          <p:nvPr/>
        </p:nvSpPr>
        <p:spPr>
          <a:xfrm>
            <a:off x="4434840" y="32004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 OUT_total = 148 m³  (Entrada Cl.2 +78 + Salida Cl.1 +70)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1"/>
          <p:cNvSpPr/>
          <p:nvPr/>
        </p:nvSpPr>
        <p:spPr>
          <a:xfrm>
            <a:off x="4434840" y="36118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ΔV_T0 = 68 − 148 = −80 m³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1"/>
          <p:cNvSpPr/>
          <p:nvPr/>
        </p:nvSpPr>
        <p:spPr>
          <a:xfrm>
            <a:off x="4434840" y="402336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T0 debería haber perdido 80 m³, pero no se midió el nivel.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0" name="Google Shape;1100;p21"/>
          <p:cNvCxnSpPr/>
          <p:nvPr/>
        </p:nvCxnSpPr>
        <p:spPr>
          <a:xfrm>
            <a:off x="4434840" y="4663440"/>
            <a:ext cx="3291840" cy="0"/>
          </a:xfrm>
          <a:prstGeom prst="straightConnector1">
            <a:avLst/>
          </a:prstGeom>
          <a:noFill/>
          <a:ln w="1270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1" name="Google Shape;1101;p21"/>
          <p:cNvSpPr/>
          <p:nvPr/>
        </p:nvSpPr>
        <p:spPr>
          <a:xfrm>
            <a:off x="4434840" y="47548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Implicación: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1"/>
          <p:cNvSpPr/>
          <p:nvPr/>
        </p:nvSpPr>
        <p:spPr>
          <a:xfrm>
            <a:off x="4434840" y="5074920"/>
            <a:ext cx="32918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T0 estaba alimentando los clarificadores tomando agua de su propio almacenamiento previo, no únicamente de lo aportado durante el recorrido.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1"/>
          <p:cNvSpPr/>
          <p:nvPr/>
        </p:nvSpPr>
        <p:spPr>
          <a:xfrm>
            <a:off x="8046720" y="1417320"/>
            <a:ext cx="3657600" cy="5029200"/>
          </a:xfrm>
          <a:prstGeom prst="rect">
            <a:avLst/>
          </a:prstGeom>
          <a:solidFill>
            <a:srgbClr val="F0F4FA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21"/>
          <p:cNvSpPr/>
          <p:nvPr/>
        </p:nvSpPr>
        <p:spPr>
          <a:xfrm>
            <a:off x="8046720" y="1417320"/>
            <a:ext cx="3657600" cy="54864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5" name="Google Shape;1105;p21"/>
          <p:cNvSpPr/>
          <p:nvPr/>
        </p:nvSpPr>
        <p:spPr>
          <a:xfrm>
            <a:off x="8138160" y="14630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SALIDAS  T0  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1"/>
          <p:cNvSpPr/>
          <p:nvPr/>
        </p:nvSpPr>
        <p:spPr>
          <a:xfrm>
            <a:off x="8138160" y="2103120"/>
            <a:ext cx="347472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21"/>
          <p:cNvSpPr/>
          <p:nvPr/>
        </p:nvSpPr>
        <p:spPr>
          <a:xfrm>
            <a:off x="8275320" y="210312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Entrada Cl. 2 (medida)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1"/>
          <p:cNvSpPr/>
          <p:nvPr/>
        </p:nvSpPr>
        <p:spPr>
          <a:xfrm>
            <a:off x="10058400" y="2103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+78 m³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21"/>
          <p:cNvSpPr/>
          <p:nvPr/>
        </p:nvSpPr>
        <p:spPr>
          <a:xfrm>
            <a:off x="10058400" y="2450592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12.65 m³/h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21"/>
          <p:cNvSpPr/>
          <p:nvPr/>
        </p:nvSpPr>
        <p:spPr>
          <a:xfrm>
            <a:off x="8138160" y="2880360"/>
            <a:ext cx="347472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1" name="Google Shape;1111;p21"/>
          <p:cNvSpPr/>
          <p:nvPr/>
        </p:nvSpPr>
        <p:spPr>
          <a:xfrm>
            <a:off x="8275320" y="288036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Entrada Cl. 1 (estim.)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1"/>
          <p:cNvSpPr/>
          <p:nvPr/>
        </p:nvSpPr>
        <p:spPr>
          <a:xfrm>
            <a:off x="10058400" y="28803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+70 m³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21"/>
          <p:cNvSpPr/>
          <p:nvPr/>
        </p:nvSpPr>
        <p:spPr>
          <a:xfrm>
            <a:off x="10058400" y="3227832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11.29 m³/h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21"/>
          <p:cNvSpPr/>
          <p:nvPr/>
        </p:nvSpPr>
        <p:spPr>
          <a:xfrm>
            <a:off x="8138160" y="3657600"/>
            <a:ext cx="3474720" cy="6858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21"/>
          <p:cNvSpPr/>
          <p:nvPr/>
        </p:nvSpPr>
        <p:spPr>
          <a:xfrm>
            <a:off x="8275320" y="365760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SALIDAS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21"/>
          <p:cNvSpPr/>
          <p:nvPr/>
        </p:nvSpPr>
        <p:spPr>
          <a:xfrm>
            <a:off x="10058400" y="36576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+148 m³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21"/>
          <p:cNvSpPr/>
          <p:nvPr/>
        </p:nvSpPr>
        <p:spPr>
          <a:xfrm>
            <a:off x="10058400" y="4005072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23.94 m³/h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1"/>
          <p:cNvSpPr/>
          <p:nvPr/>
        </p:nvSpPr>
        <p:spPr>
          <a:xfrm>
            <a:off x="8138160" y="4480560"/>
            <a:ext cx="3474720" cy="1828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21"/>
          <p:cNvSpPr/>
          <p:nvPr/>
        </p:nvSpPr>
        <p:spPr>
          <a:xfrm>
            <a:off x="8275320" y="4572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OBSERVACIÓN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21"/>
          <p:cNvSpPr/>
          <p:nvPr/>
        </p:nvSpPr>
        <p:spPr>
          <a:xfrm>
            <a:off x="8275320" y="4846320"/>
            <a:ext cx="320040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•  No hay medidor en la entrada de Cl. 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•  Se asume que Entrada Cl. 1 ≈ Salida Cl. 1 (pérdidas internas despreciables)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•  El medidor de Entrada Cl. 2 marca solo 78 m³ → ver slide 22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22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7" name="Google Shape;1127;p22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8" name="Google Shape;1128;p22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Balance de masas estricto  ·  T1 + T2 + T3 (agua tratada)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2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Entradas desde clarificadores vs salidas a consumos vs ΔV medido en tanques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22"/>
          <p:cNvSpPr/>
          <p:nvPr/>
        </p:nvSpPr>
        <p:spPr>
          <a:xfrm>
            <a:off x="457200" y="1417320"/>
            <a:ext cx="3657600" cy="5029200"/>
          </a:xfrm>
          <a:prstGeom prst="rect">
            <a:avLst/>
          </a:prstGeom>
          <a:solidFill>
            <a:srgbClr val="F0F4FA"/>
          </a:solidFill>
          <a:ln w="1905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22"/>
          <p:cNvSpPr/>
          <p:nvPr/>
        </p:nvSpPr>
        <p:spPr>
          <a:xfrm>
            <a:off x="457200" y="1417320"/>
            <a:ext cx="3657600" cy="54864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22"/>
          <p:cNvSpPr/>
          <p:nvPr/>
        </p:nvSpPr>
        <p:spPr>
          <a:xfrm>
            <a:off x="548640" y="14630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ENTRADAS  (clarificadores)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2"/>
          <p:cNvSpPr/>
          <p:nvPr/>
        </p:nvSpPr>
        <p:spPr>
          <a:xfrm>
            <a:off x="594360" y="2194560"/>
            <a:ext cx="338328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22"/>
          <p:cNvSpPr/>
          <p:nvPr/>
        </p:nvSpPr>
        <p:spPr>
          <a:xfrm>
            <a:off x="731520" y="21945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Cl. 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22"/>
          <p:cNvSpPr/>
          <p:nvPr/>
        </p:nvSpPr>
        <p:spPr>
          <a:xfrm>
            <a:off x="2468880" y="219456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onsolas"/>
              <a:buNone/>
            </a:pPr>
            <a:r>
              <a:rPr lang="en-US" sz="1600" b="1" i="0" u="none" strike="noStrike" cap="non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+70 m³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22"/>
          <p:cNvSpPr/>
          <p:nvPr/>
        </p:nvSpPr>
        <p:spPr>
          <a:xfrm>
            <a:off x="594360" y="2971800"/>
            <a:ext cx="338328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22"/>
          <p:cNvSpPr/>
          <p:nvPr/>
        </p:nvSpPr>
        <p:spPr>
          <a:xfrm>
            <a:off x="731520" y="29718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Cl.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2"/>
          <p:cNvSpPr/>
          <p:nvPr/>
        </p:nvSpPr>
        <p:spPr>
          <a:xfrm>
            <a:off x="2468880" y="297180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onsolas"/>
              <a:buNone/>
            </a:pPr>
            <a:r>
              <a:rPr lang="en-US" sz="1600" b="1" i="0" u="none" strike="noStrike" cap="non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+192 m³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2"/>
          <p:cNvSpPr/>
          <p:nvPr/>
        </p:nvSpPr>
        <p:spPr>
          <a:xfrm>
            <a:off x="594360" y="3749040"/>
            <a:ext cx="3383280" cy="64008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22"/>
          <p:cNvSpPr/>
          <p:nvPr/>
        </p:nvSpPr>
        <p:spPr>
          <a:xfrm>
            <a:off x="731520" y="37490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2"/>
          <p:cNvSpPr/>
          <p:nvPr/>
        </p:nvSpPr>
        <p:spPr>
          <a:xfrm>
            <a:off x="2468880" y="374904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+262 m³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2"/>
          <p:cNvSpPr/>
          <p:nvPr/>
        </p:nvSpPr>
        <p:spPr>
          <a:xfrm>
            <a:off x="594360" y="4617720"/>
            <a:ext cx="3383280" cy="1691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22"/>
          <p:cNvSpPr/>
          <p:nvPr/>
        </p:nvSpPr>
        <p:spPr>
          <a:xfrm>
            <a:off x="731520" y="47091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Caudales medios: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2"/>
          <p:cNvSpPr/>
          <p:nvPr/>
        </p:nvSpPr>
        <p:spPr>
          <a:xfrm>
            <a:off x="731520" y="498348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•  Cl. 1:  11.29 m³/h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•  Cl. 2:  31.13 m³/h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•  Razón Cl.2 / Cl.1 = 2.74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  (nominal 2.50)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2"/>
          <p:cNvSpPr/>
          <p:nvPr/>
        </p:nvSpPr>
        <p:spPr>
          <a:xfrm>
            <a:off x="4297680" y="1417320"/>
            <a:ext cx="3657600" cy="5029200"/>
          </a:xfrm>
          <a:prstGeom prst="rect">
            <a:avLst/>
          </a:prstGeom>
          <a:solidFill>
            <a:srgbClr val="F0F4FA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22"/>
          <p:cNvSpPr/>
          <p:nvPr/>
        </p:nvSpPr>
        <p:spPr>
          <a:xfrm>
            <a:off x="4297680" y="1417320"/>
            <a:ext cx="3657600" cy="54864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22"/>
          <p:cNvSpPr/>
          <p:nvPr/>
        </p:nvSpPr>
        <p:spPr>
          <a:xfrm>
            <a:off x="4389120" y="14630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SALIDAS  (consumos)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2"/>
          <p:cNvSpPr/>
          <p:nvPr/>
        </p:nvSpPr>
        <p:spPr>
          <a:xfrm>
            <a:off x="4434840" y="2194560"/>
            <a:ext cx="3383280" cy="502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22"/>
          <p:cNvSpPr/>
          <p:nvPr/>
        </p:nvSpPr>
        <p:spPr>
          <a:xfrm>
            <a:off x="4572000" y="219456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22"/>
          <p:cNvSpPr/>
          <p:nvPr/>
        </p:nvSpPr>
        <p:spPr>
          <a:xfrm>
            <a:off x="6309360" y="219456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−110 m³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2"/>
          <p:cNvSpPr/>
          <p:nvPr/>
        </p:nvSpPr>
        <p:spPr>
          <a:xfrm>
            <a:off x="4434840" y="2788920"/>
            <a:ext cx="3383280" cy="502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22"/>
          <p:cNvSpPr/>
          <p:nvPr/>
        </p:nvSpPr>
        <p:spPr>
          <a:xfrm>
            <a:off x="4572000" y="27889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CNP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2"/>
          <p:cNvSpPr/>
          <p:nvPr/>
        </p:nvSpPr>
        <p:spPr>
          <a:xfrm>
            <a:off x="6309360" y="278892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−40 m³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2"/>
          <p:cNvSpPr/>
          <p:nvPr/>
        </p:nvSpPr>
        <p:spPr>
          <a:xfrm>
            <a:off x="4434840" y="3383280"/>
            <a:ext cx="3383280" cy="502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22"/>
          <p:cNvSpPr/>
          <p:nvPr/>
        </p:nvSpPr>
        <p:spPr>
          <a:xfrm>
            <a:off x="4572000" y="338328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Agua potable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22"/>
          <p:cNvSpPr/>
          <p:nvPr/>
        </p:nvSpPr>
        <p:spPr>
          <a:xfrm>
            <a:off x="6309360" y="338328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−32 m³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22"/>
          <p:cNvSpPr/>
          <p:nvPr/>
        </p:nvSpPr>
        <p:spPr>
          <a:xfrm>
            <a:off x="4434840" y="3977640"/>
            <a:ext cx="3383280" cy="5029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22"/>
          <p:cNvSpPr/>
          <p:nvPr/>
        </p:nvSpPr>
        <p:spPr>
          <a:xfrm>
            <a:off x="4572000" y="39776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OUT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22"/>
          <p:cNvSpPr/>
          <p:nvPr/>
        </p:nvSpPr>
        <p:spPr>
          <a:xfrm>
            <a:off x="6309360" y="397764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−182 m³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22"/>
          <p:cNvSpPr/>
          <p:nvPr/>
        </p:nvSpPr>
        <p:spPr>
          <a:xfrm>
            <a:off x="4434840" y="4709160"/>
            <a:ext cx="3383280" cy="1600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22"/>
          <p:cNvSpPr/>
          <p:nvPr/>
        </p:nvSpPr>
        <p:spPr>
          <a:xfrm>
            <a:off x="4572000" y="48006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Caudales medios: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22"/>
          <p:cNvSpPr/>
          <p:nvPr/>
        </p:nvSpPr>
        <p:spPr>
          <a:xfrm>
            <a:off x="4572000" y="507492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•  RD:  17.69 m³/h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•  CNP:  6.42 m³/h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•  Potable:  5.42 m³/h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•  Suma:  29.53 m³/h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22"/>
          <p:cNvSpPr/>
          <p:nvPr/>
        </p:nvSpPr>
        <p:spPr>
          <a:xfrm>
            <a:off x="8138160" y="1417320"/>
            <a:ext cx="3611880" cy="5029200"/>
          </a:xfrm>
          <a:prstGeom prst="rect">
            <a:avLst/>
          </a:prstGeom>
          <a:solidFill>
            <a:srgbClr val="21295C"/>
          </a:solidFill>
          <a:ln w="12700" cap="flat" cmpd="sng">
            <a:solidFill>
              <a:srgbClr val="2129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22"/>
          <p:cNvSpPr/>
          <p:nvPr/>
        </p:nvSpPr>
        <p:spPr>
          <a:xfrm>
            <a:off x="8229600" y="14630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BALANCE NETO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22"/>
          <p:cNvSpPr/>
          <p:nvPr/>
        </p:nvSpPr>
        <p:spPr>
          <a:xfrm>
            <a:off x="8229600" y="19202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ESPERADO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22"/>
          <p:cNvSpPr/>
          <p:nvPr/>
        </p:nvSpPr>
        <p:spPr>
          <a:xfrm>
            <a:off x="8229600" y="21945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262 − 182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22"/>
          <p:cNvSpPr/>
          <p:nvPr/>
        </p:nvSpPr>
        <p:spPr>
          <a:xfrm>
            <a:off x="8229600" y="25146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+ 80 m³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8" name="Google Shape;1168;p22"/>
          <p:cNvCxnSpPr/>
          <p:nvPr/>
        </p:nvCxnSpPr>
        <p:spPr>
          <a:xfrm>
            <a:off x="8686800" y="3200400"/>
            <a:ext cx="2560320" cy="0"/>
          </a:xfrm>
          <a:prstGeom prst="straightConnector1">
            <a:avLst/>
          </a:prstGeom>
          <a:noFill/>
          <a:ln w="9525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9" name="Google Shape;1169;p22"/>
          <p:cNvSpPr/>
          <p:nvPr/>
        </p:nvSpPr>
        <p:spPr>
          <a:xfrm>
            <a:off x="8229600" y="33375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MEDIDO  EN TANQUES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22"/>
          <p:cNvSpPr/>
          <p:nvPr/>
        </p:nvSpPr>
        <p:spPr>
          <a:xfrm>
            <a:off x="8229600" y="3611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0 + 232.66 − 137.41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22"/>
          <p:cNvSpPr/>
          <p:nvPr/>
        </p:nvSpPr>
        <p:spPr>
          <a:xfrm>
            <a:off x="8229600" y="39319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+ 95.25 m³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2" name="Google Shape;1172;p22"/>
          <p:cNvCxnSpPr/>
          <p:nvPr/>
        </p:nvCxnSpPr>
        <p:spPr>
          <a:xfrm>
            <a:off x="8686800" y="4617720"/>
            <a:ext cx="2560320" cy="0"/>
          </a:xfrm>
          <a:prstGeom prst="straightConnector1">
            <a:avLst/>
          </a:prstGeom>
          <a:noFill/>
          <a:ln w="9525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3" name="Google Shape;1173;p22"/>
          <p:cNvSpPr/>
          <p:nvPr/>
        </p:nvSpPr>
        <p:spPr>
          <a:xfrm>
            <a:off x="8229600" y="47548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DESVIACIÓN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22"/>
          <p:cNvSpPr/>
          <p:nvPr/>
        </p:nvSpPr>
        <p:spPr>
          <a:xfrm>
            <a:off x="8229600" y="50292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+15.25 m³  ·  19 %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22"/>
          <p:cNvSpPr/>
          <p:nvPr/>
        </p:nvSpPr>
        <p:spPr>
          <a:xfrm>
            <a:off x="8229600" y="54864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Compatible con precisión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 lectura de niveles  (±1.56 m³/cm) y caudal residual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 Cl. 1.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3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2" name="Google Shape;1182;p23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3" name="Google Shape;1183;p2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Verificación de proporción  Cl. 1 : Cl. 2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23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La razón nominal de caudal entre clarificadores es 1 : 2.5 (50 GPM vs 125 GPM)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23"/>
          <p:cNvSpPr/>
          <p:nvPr/>
        </p:nvSpPr>
        <p:spPr>
          <a:xfrm>
            <a:off x="457200" y="1417320"/>
            <a:ext cx="3566160" cy="310896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6" name="Google Shape;1186;p23"/>
          <p:cNvSpPr/>
          <p:nvPr/>
        </p:nvSpPr>
        <p:spPr>
          <a:xfrm>
            <a:off x="457200" y="1417320"/>
            <a:ext cx="356616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7" name="Google Shape;1187;p23"/>
          <p:cNvSpPr/>
          <p:nvPr/>
        </p:nvSpPr>
        <p:spPr>
          <a:xfrm>
            <a:off x="594360" y="146304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RAZÓN NOMINAL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23"/>
          <p:cNvSpPr/>
          <p:nvPr/>
        </p:nvSpPr>
        <p:spPr>
          <a:xfrm>
            <a:off x="640080" y="20116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125 / 50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23"/>
          <p:cNvSpPr/>
          <p:nvPr/>
        </p:nvSpPr>
        <p:spPr>
          <a:xfrm>
            <a:off x="640080" y="246888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2.50 ×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23"/>
          <p:cNvSpPr/>
          <p:nvPr/>
        </p:nvSpPr>
        <p:spPr>
          <a:xfrm>
            <a:off x="640080" y="3383280"/>
            <a:ext cx="32004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Por capacidad de diseño:  Cl. 2 trata 2.5 veces más volumen que el Cl. 1 a igualdad de tiempo.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23"/>
          <p:cNvSpPr/>
          <p:nvPr/>
        </p:nvSpPr>
        <p:spPr>
          <a:xfrm>
            <a:off x="4297680" y="1417320"/>
            <a:ext cx="3566160" cy="310896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2" name="Google Shape;1192;p23"/>
          <p:cNvSpPr/>
          <p:nvPr/>
        </p:nvSpPr>
        <p:spPr>
          <a:xfrm>
            <a:off x="4297680" y="1417320"/>
            <a:ext cx="3566160" cy="50292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23"/>
          <p:cNvSpPr/>
          <p:nvPr/>
        </p:nvSpPr>
        <p:spPr>
          <a:xfrm>
            <a:off x="4434840" y="146304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RAZÓN POR CAUDAL MEDIO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23"/>
          <p:cNvSpPr/>
          <p:nvPr/>
        </p:nvSpPr>
        <p:spPr>
          <a:xfrm>
            <a:off x="4480560" y="20116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31.13 / 11.29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23"/>
          <p:cNvSpPr/>
          <p:nvPr/>
        </p:nvSpPr>
        <p:spPr>
          <a:xfrm>
            <a:off x="4480560" y="246888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2.76 ×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23"/>
          <p:cNvSpPr/>
          <p:nvPr/>
        </p:nvSpPr>
        <p:spPr>
          <a:xfrm>
            <a:off x="4480560" y="3383280"/>
            <a:ext cx="32004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Q medio Cl. 2 / Q medio Cl. 1 durante el recorrido — el Cl. 2 operó algo por encima de su nominal.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23"/>
          <p:cNvSpPr/>
          <p:nvPr/>
        </p:nvSpPr>
        <p:spPr>
          <a:xfrm>
            <a:off x="8138160" y="1417320"/>
            <a:ext cx="3566160" cy="310896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23"/>
          <p:cNvSpPr/>
          <p:nvPr/>
        </p:nvSpPr>
        <p:spPr>
          <a:xfrm>
            <a:off x="8138160" y="1417320"/>
            <a:ext cx="3566160" cy="5029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23"/>
          <p:cNvSpPr/>
          <p:nvPr/>
        </p:nvSpPr>
        <p:spPr>
          <a:xfrm>
            <a:off x="8275320" y="146304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RAZÓN POR VOLUMEN ACUMULADO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23"/>
          <p:cNvSpPr/>
          <p:nvPr/>
        </p:nvSpPr>
        <p:spPr>
          <a:xfrm>
            <a:off x="8321040" y="20116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192 / 70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23"/>
          <p:cNvSpPr/>
          <p:nvPr/>
        </p:nvSpPr>
        <p:spPr>
          <a:xfrm>
            <a:off x="8321040" y="246888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2.74 ×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23"/>
          <p:cNvSpPr/>
          <p:nvPr/>
        </p:nvSpPr>
        <p:spPr>
          <a:xfrm>
            <a:off x="8321040" y="3383280"/>
            <a:ext cx="32004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Δ Salida Cl. 2 / Δ Salida Cl. 1 — coincide con la razón por caudal. Consistencia interna confirmada.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23"/>
          <p:cNvSpPr/>
          <p:nvPr/>
        </p:nvSpPr>
        <p:spPr>
          <a:xfrm>
            <a:off x="457200" y="4754880"/>
            <a:ext cx="11247120" cy="1691640"/>
          </a:xfrm>
          <a:prstGeom prst="rect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" name="Google Shape;1204;p23"/>
          <p:cNvSpPr/>
          <p:nvPr/>
        </p:nvSpPr>
        <p:spPr>
          <a:xfrm>
            <a:off x="640080" y="484632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  PROPORCIÓN CONFIRMADA  ·  contadores de salida coherentes entre sí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23"/>
          <p:cNvSpPr/>
          <p:nvPr/>
        </p:nvSpPr>
        <p:spPr>
          <a:xfrm>
            <a:off x="640080" y="5212080"/>
            <a:ext cx="108813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La razón medida (2.74) se aleja del nominal (2.50) solo un </a:t>
            </a:r>
            <a: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+9.6 %</a:t>
            </a: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. Esto descarta error grueso en los contadores de salida del Cl. 1 y Cl. 2. La diferencia se explica porque el Cl. 2 operó algo por encima de su Q nominal (31.13 vs 28.39 m³/h).</a:t>
            </a:r>
            <a:b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Esto refuerza el diagnóstico de la slide siguiente: si los contadores de salida son confiables, el problema está en el contador de ENTRADA del Cl. 2.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24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2" name="Google Shape;1212;p24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3" name="Google Shape;1213;p24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Verificación de Cl. 2  ·  Entrada vs Salida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24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Por conservación de masa, el volumen que entra debería igualar al que sale (±pérdidas mínimas)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24"/>
          <p:cNvSpPr/>
          <p:nvPr/>
        </p:nvSpPr>
        <p:spPr>
          <a:xfrm>
            <a:off x="457200" y="1417320"/>
            <a:ext cx="11247120" cy="914400"/>
          </a:xfrm>
          <a:prstGeom prst="rect">
            <a:avLst/>
          </a:prstGeom>
          <a:solidFill>
            <a:srgbClr val="21295C"/>
          </a:solidFill>
          <a:ln w="12700" cap="flat" cmpd="sng">
            <a:solidFill>
              <a:srgbClr val="2129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24"/>
          <p:cNvSpPr/>
          <p:nvPr/>
        </p:nvSpPr>
        <p:spPr>
          <a:xfrm>
            <a:off x="640080" y="150876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Q_entrada · Δt  ≈  Q_salida · Δt   →   no hay generación ni consumo neto dentro del clarificador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24"/>
          <p:cNvSpPr/>
          <p:nvPr/>
        </p:nvSpPr>
        <p:spPr>
          <a:xfrm>
            <a:off x="640080" y="187452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Entrada Cl. 2:  </a:t>
            </a:r>
            <a:r>
              <a:rPr lang="en-US" sz="1800" b="1" i="0" u="none" strike="noStrike" cap="none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+78 m³  </a:t>
            </a: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 vs  Salida Cl. 2:  </a:t>
            </a:r>
            <a:r>
              <a:rPr lang="en-US" sz="18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+192 m³  </a:t>
            </a: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 →  Δ = </a:t>
            </a:r>
            <a:r>
              <a:rPr lang="en-US" sz="180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+114 m³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24"/>
          <p:cNvSpPr/>
          <p:nvPr/>
        </p:nvSpPr>
        <p:spPr>
          <a:xfrm>
            <a:off x="457200" y="2606040"/>
            <a:ext cx="3566160" cy="3154680"/>
          </a:xfrm>
          <a:prstGeom prst="rect">
            <a:avLst/>
          </a:prstGeom>
          <a:solidFill>
            <a:srgbClr val="F0F4FA"/>
          </a:solidFill>
          <a:ln w="1905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9" name="Google Shape;1219;p24"/>
          <p:cNvSpPr/>
          <p:nvPr/>
        </p:nvSpPr>
        <p:spPr>
          <a:xfrm>
            <a:off x="457200" y="2606040"/>
            <a:ext cx="3566160" cy="45720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0" name="Google Shape;1220;p24"/>
          <p:cNvSpPr/>
          <p:nvPr/>
        </p:nvSpPr>
        <p:spPr>
          <a:xfrm>
            <a:off x="594360" y="26517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HIPÓTESIS 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24"/>
          <p:cNvSpPr/>
          <p:nvPr/>
        </p:nvSpPr>
        <p:spPr>
          <a:xfrm>
            <a:off x="594360" y="31089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Contador de entrada sub-registra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24"/>
          <p:cNvSpPr/>
          <p:nvPr/>
        </p:nvSpPr>
        <p:spPr>
          <a:xfrm>
            <a:off x="594360" y="3566160"/>
            <a:ext cx="329184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Probable: el medidor Genebre WP-SDC DN125 acumula menos volumen del real. Su aforo instantáneo fue 28.08 m³/h (1 m³ en 02:08.21) pero el promedio acumulado solo 12.65 m³/h.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24"/>
          <p:cNvSpPr/>
          <p:nvPr/>
        </p:nvSpPr>
        <p:spPr>
          <a:xfrm>
            <a:off x="594360" y="4983480"/>
            <a:ext cx="329184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4" name="Google Shape;1224;p24"/>
          <p:cNvSpPr/>
          <p:nvPr/>
        </p:nvSpPr>
        <p:spPr>
          <a:xfrm>
            <a:off x="594360" y="5029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MÁS PROBABLE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24"/>
          <p:cNvSpPr/>
          <p:nvPr/>
        </p:nvSpPr>
        <p:spPr>
          <a:xfrm>
            <a:off x="640080" y="528523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Aforo instantáneo confiable;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acumulado parece truncado.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24"/>
          <p:cNvSpPr/>
          <p:nvPr/>
        </p:nvSpPr>
        <p:spPr>
          <a:xfrm>
            <a:off x="4297680" y="2606040"/>
            <a:ext cx="3566160" cy="3154680"/>
          </a:xfrm>
          <a:prstGeom prst="rect">
            <a:avLst/>
          </a:prstGeom>
          <a:solidFill>
            <a:srgbClr val="F0F4FA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7" name="Google Shape;1227;p24"/>
          <p:cNvSpPr/>
          <p:nvPr/>
        </p:nvSpPr>
        <p:spPr>
          <a:xfrm>
            <a:off x="4297680" y="2606040"/>
            <a:ext cx="3566160" cy="4572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8" name="Google Shape;1228;p24"/>
          <p:cNvSpPr/>
          <p:nvPr/>
        </p:nvSpPr>
        <p:spPr>
          <a:xfrm>
            <a:off x="4434840" y="26517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HIPÓTESIS 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24"/>
          <p:cNvSpPr/>
          <p:nvPr/>
        </p:nvSpPr>
        <p:spPr>
          <a:xfrm>
            <a:off x="4434840" y="31089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Alimentación paralela no medida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24"/>
          <p:cNvSpPr/>
          <p:nvPr/>
        </p:nvSpPr>
        <p:spPr>
          <a:xfrm>
            <a:off x="4434840" y="3566160"/>
            <a:ext cx="329184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Existe una línea de by-pass que entrega agua al Cl. 2 sin pasar por el contador de entrada (tubería de retorno o conexión auxiliar).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24"/>
          <p:cNvSpPr/>
          <p:nvPr/>
        </p:nvSpPr>
        <p:spPr>
          <a:xfrm>
            <a:off x="4434840" y="4983480"/>
            <a:ext cx="329184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24"/>
          <p:cNvSpPr/>
          <p:nvPr/>
        </p:nvSpPr>
        <p:spPr>
          <a:xfrm>
            <a:off x="4434840" y="5029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POSIBLE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24"/>
          <p:cNvSpPr/>
          <p:nvPr/>
        </p:nvSpPr>
        <p:spPr>
          <a:xfrm>
            <a:off x="4480560" y="528523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Verificable en sitio: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inspección visual de la tubería.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24"/>
          <p:cNvSpPr/>
          <p:nvPr/>
        </p:nvSpPr>
        <p:spPr>
          <a:xfrm>
            <a:off x="8138160" y="2606040"/>
            <a:ext cx="3566160" cy="3154680"/>
          </a:xfrm>
          <a:prstGeom prst="rect">
            <a:avLst/>
          </a:prstGeom>
          <a:solidFill>
            <a:srgbClr val="F0F4FA"/>
          </a:solidFill>
          <a:ln w="19050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24"/>
          <p:cNvSpPr/>
          <p:nvPr/>
        </p:nvSpPr>
        <p:spPr>
          <a:xfrm>
            <a:off x="8138160" y="2606040"/>
            <a:ext cx="3566160" cy="457200"/>
          </a:xfrm>
          <a:prstGeom prst="rect">
            <a:avLst/>
          </a:prstGeom>
          <a:solidFill>
            <a:srgbClr val="5A6C7D"/>
          </a:solidFill>
          <a:ln w="12700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24"/>
          <p:cNvSpPr/>
          <p:nvPr/>
        </p:nvSpPr>
        <p:spPr>
          <a:xfrm>
            <a:off x="8275320" y="26517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HIPÓTESIS 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24"/>
          <p:cNvSpPr/>
          <p:nvPr/>
        </p:nvSpPr>
        <p:spPr>
          <a:xfrm>
            <a:off x="8275320" y="31089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Contador de salida sobre-registra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24"/>
          <p:cNvSpPr/>
          <p:nvPr/>
        </p:nvSpPr>
        <p:spPr>
          <a:xfrm>
            <a:off x="8275320" y="3566160"/>
            <a:ext cx="329184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El GRS Qn 60 PN 16 acumula más volumen del real. Sin embargo, su razón con Cl. 1 (2.74 vs nominal 2.50) es coherente con el diseño.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24"/>
          <p:cNvSpPr/>
          <p:nvPr/>
        </p:nvSpPr>
        <p:spPr>
          <a:xfrm>
            <a:off x="8275320" y="4983480"/>
            <a:ext cx="329184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24"/>
          <p:cNvSpPr/>
          <p:nvPr/>
        </p:nvSpPr>
        <p:spPr>
          <a:xfrm>
            <a:off x="8275320" y="5029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DESCARTADA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24"/>
          <p:cNvSpPr/>
          <p:nvPr/>
        </p:nvSpPr>
        <p:spPr>
          <a:xfrm>
            <a:off x="8321040" y="528523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La razón medida confirma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coherencia entre salidas.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24"/>
          <p:cNvSpPr/>
          <p:nvPr/>
        </p:nvSpPr>
        <p:spPr>
          <a:xfrm>
            <a:off x="457200" y="5852160"/>
            <a:ext cx="11247120" cy="594360"/>
          </a:xfrm>
          <a:prstGeom prst="rect">
            <a:avLst/>
          </a:prstGeom>
          <a:solidFill>
            <a:srgbClr val="FEF3C7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24"/>
          <p:cNvSpPr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alibri"/>
              <a:buNone/>
            </a:pPr>
            <a:r>
              <a:rPr lang="en-US" sz="105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RECOMENDACIÓN INMEDIATA:  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verificar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contador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de Entrada Cl. 2 (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Genebre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WP-SDC DN125) — 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inspección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visual, 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comparación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entre 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aforo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cronometrado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acumulado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una jornada 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controlada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de 4 h. 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Confirmar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también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la 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ausencia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tuberías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de by-pass 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hacia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10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Cl. 2.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25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0" name="Google Shape;1250;p25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1" name="Google Shape;1251;p25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Diagnóstico individual de cada contador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25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Estado, consistencia interna y nivel de confianza para uso operativo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25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25"/>
          <p:cNvSpPr/>
          <p:nvPr/>
        </p:nvSpPr>
        <p:spPr>
          <a:xfrm>
            <a:off x="548640" y="141732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Contador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25"/>
          <p:cNvSpPr/>
          <p:nvPr/>
        </p:nvSpPr>
        <p:spPr>
          <a:xfrm>
            <a:off x="2926080" y="141732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Aforo (m³/h)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25"/>
          <p:cNvSpPr/>
          <p:nvPr/>
        </p:nvSpPr>
        <p:spPr>
          <a:xfrm>
            <a:off x="4572000" y="141732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Promedio (m³/h)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25"/>
          <p:cNvSpPr/>
          <p:nvPr/>
        </p:nvSpPr>
        <p:spPr>
          <a:xfrm>
            <a:off x="6309360" y="141732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 rel.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25"/>
          <p:cNvSpPr/>
          <p:nvPr/>
        </p:nvSpPr>
        <p:spPr>
          <a:xfrm>
            <a:off x="7589520" y="141732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Diagnóstico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25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25"/>
          <p:cNvSpPr/>
          <p:nvPr/>
        </p:nvSpPr>
        <p:spPr>
          <a:xfrm>
            <a:off x="548640" y="18288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Principal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25"/>
          <p:cNvSpPr/>
          <p:nvPr/>
        </p:nvSpPr>
        <p:spPr>
          <a:xfrm>
            <a:off x="2926080" y="18288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8.48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25"/>
          <p:cNvSpPr/>
          <p:nvPr/>
        </p:nvSpPr>
        <p:spPr>
          <a:xfrm>
            <a:off x="4572000" y="18288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11.37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25"/>
          <p:cNvSpPr/>
          <p:nvPr/>
        </p:nvSpPr>
        <p:spPr>
          <a:xfrm>
            <a:off x="6309360" y="18288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+34 %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25"/>
          <p:cNvSpPr/>
          <p:nvPr/>
        </p:nvSpPr>
        <p:spPr>
          <a:xfrm>
            <a:off x="7589520" y="18288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Aceptable · puntual subestima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25"/>
          <p:cNvSpPr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25"/>
          <p:cNvSpPr/>
          <p:nvPr/>
        </p:nvSpPr>
        <p:spPr>
          <a:xfrm>
            <a:off x="548640" y="22860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Auxiliar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25"/>
          <p:cNvSpPr/>
          <p:nvPr/>
        </p:nvSpPr>
        <p:spPr>
          <a:xfrm>
            <a:off x="2926080" y="22860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25"/>
          <p:cNvSpPr/>
          <p:nvPr/>
        </p:nvSpPr>
        <p:spPr>
          <a:xfrm>
            <a:off x="4572000" y="22860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0.00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25"/>
          <p:cNvSpPr/>
          <p:nvPr/>
        </p:nvSpPr>
        <p:spPr>
          <a:xfrm>
            <a:off x="6309360" y="22860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25"/>
          <p:cNvSpPr/>
          <p:nvPr/>
        </p:nvSpPr>
        <p:spPr>
          <a:xfrm>
            <a:off x="7589520" y="22860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Apagado durante el recorrido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25"/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25"/>
          <p:cNvSpPr/>
          <p:nvPr/>
        </p:nvSpPr>
        <p:spPr>
          <a:xfrm>
            <a:off x="548640" y="27432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Entrada Cl.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25"/>
          <p:cNvSpPr/>
          <p:nvPr/>
        </p:nvSpPr>
        <p:spPr>
          <a:xfrm>
            <a:off x="2926080" y="27432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28.08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25"/>
          <p:cNvSpPr/>
          <p:nvPr/>
        </p:nvSpPr>
        <p:spPr>
          <a:xfrm>
            <a:off x="4572000" y="27432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12.65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25"/>
          <p:cNvSpPr/>
          <p:nvPr/>
        </p:nvSpPr>
        <p:spPr>
          <a:xfrm>
            <a:off x="6309360" y="27432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−55 %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25"/>
          <p:cNvSpPr/>
          <p:nvPr/>
        </p:nvSpPr>
        <p:spPr>
          <a:xfrm>
            <a:off x="7589520" y="27432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⚠ Sub-registra (revisión urgente)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25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8" name="Google Shape;1278;p25"/>
          <p:cNvSpPr/>
          <p:nvPr/>
        </p:nvSpPr>
        <p:spPr>
          <a:xfrm>
            <a:off x="548640" y="32004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Cl.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25"/>
          <p:cNvSpPr/>
          <p:nvPr/>
        </p:nvSpPr>
        <p:spPr>
          <a:xfrm>
            <a:off x="2926080" y="32004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63.40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25"/>
          <p:cNvSpPr/>
          <p:nvPr/>
        </p:nvSpPr>
        <p:spPr>
          <a:xfrm>
            <a:off x="4572000" y="32004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31.13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25"/>
          <p:cNvSpPr/>
          <p:nvPr/>
        </p:nvSpPr>
        <p:spPr>
          <a:xfrm>
            <a:off x="6309360" y="32004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−51 %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25"/>
          <p:cNvSpPr/>
          <p:nvPr/>
        </p:nvSpPr>
        <p:spPr>
          <a:xfrm>
            <a:off x="7589520" y="32004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Consistente · operación pulsante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25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4" name="Google Shape;1284;p25"/>
          <p:cNvSpPr/>
          <p:nvPr/>
        </p:nvSpPr>
        <p:spPr>
          <a:xfrm>
            <a:off x="548640" y="36576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Cl.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25"/>
          <p:cNvSpPr/>
          <p:nvPr/>
        </p:nvSpPr>
        <p:spPr>
          <a:xfrm>
            <a:off x="2926080" y="36576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12.12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25"/>
          <p:cNvSpPr/>
          <p:nvPr/>
        </p:nvSpPr>
        <p:spPr>
          <a:xfrm>
            <a:off x="4572000" y="36576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11.29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25"/>
          <p:cNvSpPr/>
          <p:nvPr/>
        </p:nvSpPr>
        <p:spPr>
          <a:xfrm>
            <a:off x="6309360" y="36576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−7 %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25"/>
          <p:cNvSpPr/>
          <p:nvPr/>
        </p:nvSpPr>
        <p:spPr>
          <a:xfrm>
            <a:off x="7589520" y="36576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Excelente · régimen continuo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25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25"/>
          <p:cNvSpPr/>
          <p:nvPr/>
        </p:nvSpPr>
        <p:spPr>
          <a:xfrm>
            <a:off x="548640" y="41148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25"/>
          <p:cNvSpPr/>
          <p:nvPr/>
        </p:nvSpPr>
        <p:spPr>
          <a:xfrm>
            <a:off x="2926080" y="41148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25"/>
          <p:cNvSpPr/>
          <p:nvPr/>
        </p:nvSpPr>
        <p:spPr>
          <a:xfrm>
            <a:off x="4572000" y="41148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17.69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25"/>
          <p:cNvSpPr/>
          <p:nvPr/>
        </p:nvSpPr>
        <p:spPr>
          <a:xfrm>
            <a:off x="6309360" y="41148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25"/>
          <p:cNvSpPr/>
          <p:nvPr/>
        </p:nvSpPr>
        <p:spPr>
          <a:xfrm>
            <a:off x="7589520" y="41148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Sin aforo · acumulado plausible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25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25"/>
          <p:cNvSpPr/>
          <p:nvPr/>
        </p:nvSpPr>
        <p:spPr>
          <a:xfrm>
            <a:off x="548640" y="45720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CNP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25"/>
          <p:cNvSpPr/>
          <p:nvPr/>
        </p:nvSpPr>
        <p:spPr>
          <a:xfrm>
            <a:off x="2926080" y="45720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25"/>
          <p:cNvSpPr/>
          <p:nvPr/>
        </p:nvSpPr>
        <p:spPr>
          <a:xfrm>
            <a:off x="4572000" y="45720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6.42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25"/>
          <p:cNvSpPr/>
          <p:nvPr/>
        </p:nvSpPr>
        <p:spPr>
          <a:xfrm>
            <a:off x="6309360" y="45720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25"/>
          <p:cNvSpPr/>
          <p:nvPr/>
        </p:nvSpPr>
        <p:spPr>
          <a:xfrm>
            <a:off x="7589520" y="45720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Sin aforo · acumulado plausible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25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2" name="Google Shape;1302;p25"/>
          <p:cNvSpPr/>
          <p:nvPr/>
        </p:nvSpPr>
        <p:spPr>
          <a:xfrm>
            <a:off x="548640" y="50292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Agua potable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25"/>
          <p:cNvSpPr/>
          <p:nvPr/>
        </p:nvSpPr>
        <p:spPr>
          <a:xfrm>
            <a:off x="2926080" y="50292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25"/>
          <p:cNvSpPr/>
          <p:nvPr/>
        </p:nvSpPr>
        <p:spPr>
          <a:xfrm>
            <a:off x="4572000" y="50292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5.42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25"/>
          <p:cNvSpPr/>
          <p:nvPr/>
        </p:nvSpPr>
        <p:spPr>
          <a:xfrm>
            <a:off x="6309360" y="50292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25"/>
          <p:cNvSpPr/>
          <p:nvPr/>
        </p:nvSpPr>
        <p:spPr>
          <a:xfrm>
            <a:off x="7589520" y="50292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Sin aforo · acumulado plausible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25"/>
          <p:cNvSpPr/>
          <p:nvPr/>
        </p:nvSpPr>
        <p:spPr>
          <a:xfrm>
            <a:off x="457200" y="5623560"/>
            <a:ext cx="3566160" cy="82296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25"/>
          <p:cNvSpPr/>
          <p:nvPr/>
        </p:nvSpPr>
        <p:spPr>
          <a:xfrm>
            <a:off x="457200" y="5623560"/>
            <a:ext cx="91440" cy="82296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25"/>
          <p:cNvSpPr/>
          <p:nvPr/>
        </p:nvSpPr>
        <p:spPr>
          <a:xfrm>
            <a:off x="640080" y="56692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25"/>
          <p:cNvSpPr/>
          <p:nvPr/>
        </p:nvSpPr>
        <p:spPr>
          <a:xfrm>
            <a:off x="1371600" y="56692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CONFIABLES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25"/>
          <p:cNvSpPr/>
          <p:nvPr/>
        </p:nvSpPr>
        <p:spPr>
          <a:xfrm>
            <a:off x="1371600" y="59436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Salida Cl.1, Salida Cl.2, B. Aux. (apagado)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25"/>
          <p:cNvSpPr/>
          <p:nvPr/>
        </p:nvSpPr>
        <p:spPr>
          <a:xfrm>
            <a:off x="4297680" y="5623560"/>
            <a:ext cx="3566160" cy="82296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3" name="Google Shape;1313;p25"/>
          <p:cNvSpPr/>
          <p:nvPr/>
        </p:nvSpPr>
        <p:spPr>
          <a:xfrm>
            <a:off x="4297680" y="5623560"/>
            <a:ext cx="91440" cy="82296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25"/>
          <p:cNvSpPr/>
          <p:nvPr/>
        </p:nvSpPr>
        <p:spPr>
          <a:xfrm>
            <a:off x="4480560" y="56692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25"/>
          <p:cNvSpPr/>
          <p:nvPr/>
        </p:nvSpPr>
        <p:spPr>
          <a:xfrm>
            <a:off x="5212080" y="56692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ACEPTABLES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25"/>
          <p:cNvSpPr/>
          <p:nvPr/>
        </p:nvSpPr>
        <p:spPr>
          <a:xfrm>
            <a:off x="5212080" y="59436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B. Principal · RD · CNP · Agua potable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25"/>
          <p:cNvSpPr/>
          <p:nvPr/>
        </p:nvSpPr>
        <p:spPr>
          <a:xfrm>
            <a:off x="8138160" y="5623560"/>
            <a:ext cx="3566160" cy="82296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8" name="Google Shape;1318;p25"/>
          <p:cNvSpPr/>
          <p:nvPr/>
        </p:nvSpPr>
        <p:spPr>
          <a:xfrm>
            <a:off x="8138160" y="5623560"/>
            <a:ext cx="91440" cy="82296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25"/>
          <p:cNvSpPr/>
          <p:nvPr/>
        </p:nvSpPr>
        <p:spPr>
          <a:xfrm>
            <a:off x="8321040" y="56692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25"/>
          <p:cNvSpPr/>
          <p:nvPr/>
        </p:nvSpPr>
        <p:spPr>
          <a:xfrm>
            <a:off x="9052560" y="56692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CRÍTICOS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25"/>
          <p:cNvSpPr/>
          <p:nvPr/>
        </p:nvSpPr>
        <p:spPr>
          <a:xfrm>
            <a:off x="9052560" y="59436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Entrada Cl. 2 — requiere revisión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26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8" name="Google Shape;1328;p26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9" name="Google Shape;1329;p26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Insumos químicos por clarificador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26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Cada clarificador requiere su propia combinación de coagulante + floculante + desinfectante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26"/>
          <p:cNvSpPr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26"/>
          <p:cNvSpPr/>
          <p:nvPr/>
        </p:nvSpPr>
        <p:spPr>
          <a:xfrm>
            <a:off x="457200" y="1417320"/>
            <a:ext cx="5486400" cy="64008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26"/>
          <p:cNvSpPr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CLARIFICADOR 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26"/>
          <p:cNvSpPr/>
          <p:nvPr/>
        </p:nvSpPr>
        <p:spPr>
          <a:xfrm>
            <a:off x="640080" y="17556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Tratamiento batch · solución madre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26"/>
          <p:cNvSpPr/>
          <p:nvPr/>
        </p:nvSpPr>
        <p:spPr>
          <a:xfrm>
            <a:off x="640080" y="2240280"/>
            <a:ext cx="51206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" name="Google Shape;1336;p26"/>
          <p:cNvSpPr/>
          <p:nvPr/>
        </p:nvSpPr>
        <p:spPr>
          <a:xfrm>
            <a:off x="777240" y="230428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COAGULANTE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26"/>
          <p:cNvSpPr/>
          <p:nvPr/>
        </p:nvSpPr>
        <p:spPr>
          <a:xfrm>
            <a:off x="777240" y="253288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Poliflocal-C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26"/>
          <p:cNvSpPr/>
          <p:nvPr/>
        </p:nvSpPr>
        <p:spPr>
          <a:xfrm>
            <a:off x="777240" y="271576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Saco 267 kg  ·  SNF Floerger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26"/>
          <p:cNvSpPr/>
          <p:nvPr/>
        </p:nvSpPr>
        <p:spPr>
          <a:xfrm>
            <a:off x="640080" y="3063240"/>
            <a:ext cx="51206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26"/>
          <p:cNvSpPr/>
          <p:nvPr/>
        </p:nvSpPr>
        <p:spPr>
          <a:xfrm>
            <a:off x="777240" y="312724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DESINFECTANTE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26"/>
          <p:cNvSpPr/>
          <p:nvPr/>
        </p:nvSpPr>
        <p:spPr>
          <a:xfrm>
            <a:off x="777240" y="335584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Hipoclorito de Sodio 10 %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26"/>
          <p:cNvSpPr/>
          <p:nvPr/>
        </p:nvSpPr>
        <p:spPr>
          <a:xfrm>
            <a:off x="777240" y="353872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Caneca 5 gal  ·  Reg. PH-9005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26"/>
          <p:cNvSpPr/>
          <p:nvPr/>
        </p:nvSpPr>
        <p:spPr>
          <a:xfrm>
            <a:off x="640080" y="3886200"/>
            <a:ext cx="51206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26"/>
          <p:cNvSpPr/>
          <p:nvPr/>
        </p:nvSpPr>
        <p:spPr>
          <a:xfrm>
            <a:off x="777240" y="395020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26"/>
          <p:cNvSpPr/>
          <p:nvPr/>
        </p:nvSpPr>
        <p:spPr>
          <a:xfrm>
            <a:off x="777240" y="417880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Agua del propio sistema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26"/>
          <p:cNvSpPr/>
          <p:nvPr/>
        </p:nvSpPr>
        <p:spPr>
          <a:xfrm>
            <a:off x="777240" y="436168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200 L en tonel preparador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26"/>
          <p:cNvSpPr/>
          <p:nvPr/>
        </p:nvSpPr>
        <p:spPr>
          <a:xfrm>
            <a:off x="640080" y="4709160"/>
            <a:ext cx="51206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8" name="Google Shape;1348;p26"/>
          <p:cNvSpPr/>
          <p:nvPr/>
        </p:nvSpPr>
        <p:spPr>
          <a:xfrm>
            <a:off x="777240" y="47731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LOTE REFERENCIA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26"/>
          <p:cNvSpPr/>
          <p:nvPr/>
        </p:nvSpPr>
        <p:spPr>
          <a:xfrm>
            <a:off x="777240" y="500176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MX230625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26"/>
          <p:cNvSpPr/>
          <p:nvPr/>
        </p:nvSpPr>
        <p:spPr>
          <a:xfrm>
            <a:off x="777240" y="518464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Caducidad:  09 julio 2026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26"/>
          <p:cNvSpPr/>
          <p:nvPr/>
        </p:nvSpPr>
        <p:spPr>
          <a:xfrm>
            <a:off x="640080" y="5532120"/>
            <a:ext cx="51206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26"/>
          <p:cNvSpPr/>
          <p:nvPr/>
        </p:nvSpPr>
        <p:spPr>
          <a:xfrm>
            <a:off x="777240" y="55961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RÉGIMEN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26"/>
          <p:cNvSpPr/>
          <p:nvPr/>
        </p:nvSpPr>
        <p:spPr>
          <a:xfrm>
            <a:off x="777240" y="582472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Dosis batch periódica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26"/>
          <p:cNvSpPr/>
          <p:nvPr/>
        </p:nvSpPr>
        <p:spPr>
          <a:xfrm>
            <a:off x="777240" y="600760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32 m³ tratables / dosis (seca)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26"/>
          <p:cNvSpPr/>
          <p:nvPr/>
        </p:nvSpPr>
        <p:spPr>
          <a:xfrm>
            <a:off x="6263640" y="1417320"/>
            <a:ext cx="548640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6" name="Google Shape;1356;p26"/>
          <p:cNvSpPr/>
          <p:nvPr/>
        </p:nvSpPr>
        <p:spPr>
          <a:xfrm>
            <a:off x="6263640" y="1417320"/>
            <a:ext cx="5486400" cy="64008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26"/>
          <p:cNvSpPr/>
          <p:nvPr/>
        </p:nvSpPr>
        <p:spPr>
          <a:xfrm>
            <a:off x="6446520" y="14630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CLARIFICADOR 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26"/>
          <p:cNvSpPr/>
          <p:nvPr/>
        </p:nvSpPr>
        <p:spPr>
          <a:xfrm>
            <a:off x="6446520" y="17556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Tratamiento continuo · 3 productos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26"/>
          <p:cNvSpPr/>
          <p:nvPr/>
        </p:nvSpPr>
        <p:spPr>
          <a:xfrm>
            <a:off x="6446520" y="2240280"/>
            <a:ext cx="51206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0" name="Google Shape;1360;p26"/>
          <p:cNvSpPr/>
          <p:nvPr/>
        </p:nvSpPr>
        <p:spPr>
          <a:xfrm>
            <a:off x="6583680" y="230428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COAGULANTE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26"/>
          <p:cNvSpPr/>
          <p:nvPr/>
        </p:nvSpPr>
        <p:spPr>
          <a:xfrm>
            <a:off x="6583680" y="253288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Poliacrilamida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26"/>
          <p:cNvSpPr/>
          <p:nvPr/>
        </p:nvSpPr>
        <p:spPr>
          <a:xfrm>
            <a:off x="6583680" y="271576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Bolsa 25 kg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26"/>
          <p:cNvSpPr/>
          <p:nvPr/>
        </p:nvSpPr>
        <p:spPr>
          <a:xfrm>
            <a:off x="6446520" y="3063240"/>
            <a:ext cx="51206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26"/>
          <p:cNvSpPr/>
          <p:nvPr/>
        </p:nvSpPr>
        <p:spPr>
          <a:xfrm>
            <a:off x="6583680" y="312724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FLOCULANTE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26"/>
          <p:cNvSpPr/>
          <p:nvPr/>
        </p:nvSpPr>
        <p:spPr>
          <a:xfrm>
            <a:off x="6583680" y="335584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Cloruro de polialuminio (PAC)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26"/>
          <p:cNvSpPr/>
          <p:nvPr/>
        </p:nvSpPr>
        <p:spPr>
          <a:xfrm>
            <a:off x="6583680" y="353872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Caneca 25 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26"/>
          <p:cNvSpPr/>
          <p:nvPr/>
        </p:nvSpPr>
        <p:spPr>
          <a:xfrm>
            <a:off x="6446520" y="3886200"/>
            <a:ext cx="51206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8" name="Google Shape;1368;p26"/>
          <p:cNvSpPr/>
          <p:nvPr/>
        </p:nvSpPr>
        <p:spPr>
          <a:xfrm>
            <a:off x="6583680" y="395020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DESINFECTANTE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26"/>
          <p:cNvSpPr/>
          <p:nvPr/>
        </p:nvSpPr>
        <p:spPr>
          <a:xfrm>
            <a:off x="6583680" y="417880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Hipoclorito de Sodio 10 %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26"/>
          <p:cNvSpPr/>
          <p:nvPr/>
        </p:nvSpPr>
        <p:spPr>
          <a:xfrm>
            <a:off x="6583680" y="436168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Caneca 5 gal  ·  Reg. PH-9005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26"/>
          <p:cNvSpPr/>
          <p:nvPr/>
        </p:nvSpPr>
        <p:spPr>
          <a:xfrm>
            <a:off x="6446520" y="4709160"/>
            <a:ext cx="51206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26"/>
          <p:cNvSpPr/>
          <p:nvPr/>
        </p:nvSpPr>
        <p:spPr>
          <a:xfrm>
            <a:off x="6583680" y="47731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RÉGIMEN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26"/>
          <p:cNvSpPr/>
          <p:nvPr/>
        </p:nvSpPr>
        <p:spPr>
          <a:xfrm>
            <a:off x="6583680" y="500176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Dosificación continua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26"/>
          <p:cNvSpPr/>
          <p:nvPr/>
        </p:nvSpPr>
        <p:spPr>
          <a:xfrm>
            <a:off x="6583680" y="518464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720 m³ tratables / dosis (3 d)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26"/>
          <p:cNvSpPr/>
          <p:nvPr/>
        </p:nvSpPr>
        <p:spPr>
          <a:xfrm>
            <a:off x="6446520" y="5532120"/>
            <a:ext cx="51206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" name="Google Shape;1376;p26"/>
          <p:cNvSpPr/>
          <p:nvPr/>
        </p:nvSpPr>
        <p:spPr>
          <a:xfrm>
            <a:off x="6583680" y="55961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ESTABILIDAD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26"/>
          <p:cNvSpPr/>
          <p:nvPr/>
        </p:nvSpPr>
        <p:spPr>
          <a:xfrm>
            <a:off x="6583680" y="582472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Independiente de la estación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26"/>
          <p:cNvSpPr/>
          <p:nvPr/>
        </p:nvSpPr>
        <p:spPr>
          <a:xfrm>
            <a:off x="6583680" y="600760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Costo unitario constante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27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5" name="Google Shape;1385;p27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6" name="Google Shape;1386;p27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Solución madre del Clarificador 1  ·  preparación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27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Receta unitaria preparada en tonel — base agua + Poliflocal + Hipoclorito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27"/>
          <p:cNvSpPr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9" name="Google Shape;1389;p27"/>
          <p:cNvSpPr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0" name="Google Shape;1390;p27"/>
          <p:cNvSpPr/>
          <p:nvPr/>
        </p:nvSpPr>
        <p:spPr>
          <a:xfrm>
            <a:off x="640080" y="146304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RECETA  ·  1 TONEL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1" name="Google Shape;1391;p27"/>
          <p:cNvCxnSpPr/>
          <p:nvPr/>
        </p:nvCxnSpPr>
        <p:spPr>
          <a:xfrm>
            <a:off x="640080" y="2606040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2" name="Google Shape;1392;p27"/>
          <p:cNvSpPr/>
          <p:nvPr/>
        </p:nvSpPr>
        <p:spPr>
          <a:xfrm>
            <a:off x="640080" y="21031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27"/>
          <p:cNvSpPr/>
          <p:nvPr/>
        </p:nvSpPr>
        <p:spPr>
          <a:xfrm>
            <a:off x="1051560" y="21031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Base de agua en tonel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27"/>
          <p:cNvSpPr/>
          <p:nvPr/>
        </p:nvSpPr>
        <p:spPr>
          <a:xfrm>
            <a:off x="3931920" y="21031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200 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5" name="Google Shape;1395;p27"/>
          <p:cNvCxnSpPr/>
          <p:nvPr/>
        </p:nvCxnSpPr>
        <p:spPr>
          <a:xfrm>
            <a:off x="640080" y="3172968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6" name="Google Shape;1396;p27"/>
          <p:cNvSpPr/>
          <p:nvPr/>
        </p:nvSpPr>
        <p:spPr>
          <a:xfrm>
            <a:off x="640080" y="2670048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27"/>
          <p:cNvSpPr/>
          <p:nvPr/>
        </p:nvSpPr>
        <p:spPr>
          <a:xfrm>
            <a:off x="1051560" y="2670048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Poliflocal-C  (½ caneca seca)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27"/>
          <p:cNvSpPr/>
          <p:nvPr/>
        </p:nvSpPr>
        <p:spPr>
          <a:xfrm>
            <a:off x="3931920" y="267004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8 L  ·  8 kg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9" name="Google Shape;1399;p27"/>
          <p:cNvCxnSpPr/>
          <p:nvPr/>
        </p:nvCxnSpPr>
        <p:spPr>
          <a:xfrm>
            <a:off x="640080" y="3739896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0" name="Google Shape;1400;p27"/>
          <p:cNvSpPr/>
          <p:nvPr/>
        </p:nvSpPr>
        <p:spPr>
          <a:xfrm>
            <a:off x="640080" y="3236976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27"/>
          <p:cNvSpPr/>
          <p:nvPr/>
        </p:nvSpPr>
        <p:spPr>
          <a:xfrm>
            <a:off x="1051560" y="3236976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Hipoclorito 10 %  (½ caneca)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27"/>
          <p:cNvSpPr/>
          <p:nvPr/>
        </p:nvSpPr>
        <p:spPr>
          <a:xfrm>
            <a:off x="3931920" y="3236976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10 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3" name="Google Shape;1403;p27"/>
          <p:cNvCxnSpPr/>
          <p:nvPr/>
        </p:nvCxnSpPr>
        <p:spPr>
          <a:xfrm>
            <a:off x="640080" y="4306824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4" name="Google Shape;1404;p27"/>
          <p:cNvSpPr/>
          <p:nvPr/>
        </p:nvSpPr>
        <p:spPr>
          <a:xfrm>
            <a:off x="640080" y="3803904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27"/>
          <p:cNvSpPr/>
          <p:nvPr/>
        </p:nvSpPr>
        <p:spPr>
          <a:xfrm>
            <a:off x="1051560" y="3803904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Volumen final de mezcla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27"/>
          <p:cNvSpPr/>
          <p:nvPr/>
        </p:nvSpPr>
        <p:spPr>
          <a:xfrm>
            <a:off x="3931920" y="380390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≈ 218 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7" name="Google Shape;1407;p27"/>
          <p:cNvCxnSpPr/>
          <p:nvPr/>
        </p:nvCxnSpPr>
        <p:spPr>
          <a:xfrm>
            <a:off x="640080" y="4873752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8" name="Google Shape;1408;p27"/>
          <p:cNvSpPr/>
          <p:nvPr/>
        </p:nvSpPr>
        <p:spPr>
          <a:xfrm>
            <a:off x="640080" y="4370832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27"/>
          <p:cNvSpPr/>
          <p:nvPr/>
        </p:nvSpPr>
        <p:spPr>
          <a:xfrm>
            <a:off x="1051560" y="437083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Concentración de cloro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27"/>
          <p:cNvSpPr/>
          <p:nvPr/>
        </p:nvSpPr>
        <p:spPr>
          <a:xfrm>
            <a:off x="3931920" y="437083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≈ 1,000 ppm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1" name="Google Shape;1411;p27"/>
          <p:cNvCxnSpPr/>
          <p:nvPr/>
        </p:nvCxnSpPr>
        <p:spPr>
          <a:xfrm>
            <a:off x="640080" y="5440680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2" name="Google Shape;1412;p27"/>
          <p:cNvSpPr/>
          <p:nvPr/>
        </p:nvSpPr>
        <p:spPr>
          <a:xfrm>
            <a:off x="640080" y="49377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27"/>
          <p:cNvSpPr/>
          <p:nvPr/>
        </p:nvSpPr>
        <p:spPr>
          <a:xfrm>
            <a:off x="1051560" y="49377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Volumen tratable (época seca)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27"/>
          <p:cNvSpPr/>
          <p:nvPr/>
        </p:nvSpPr>
        <p:spPr>
          <a:xfrm>
            <a:off x="3931920" y="49377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32 m³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5" name="Google Shape;1415;p27"/>
          <p:cNvCxnSpPr/>
          <p:nvPr/>
        </p:nvCxnSpPr>
        <p:spPr>
          <a:xfrm>
            <a:off x="640080" y="6007608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6" name="Google Shape;1416;p27"/>
          <p:cNvSpPr/>
          <p:nvPr/>
        </p:nvSpPr>
        <p:spPr>
          <a:xfrm>
            <a:off x="640080" y="5504688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7.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27"/>
          <p:cNvSpPr/>
          <p:nvPr/>
        </p:nvSpPr>
        <p:spPr>
          <a:xfrm>
            <a:off x="1051560" y="5504688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Dosis efectiva por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27"/>
          <p:cNvSpPr/>
          <p:nvPr/>
        </p:nvSpPr>
        <p:spPr>
          <a:xfrm>
            <a:off x="3931920" y="550468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6.8 L / m³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27"/>
          <p:cNvSpPr/>
          <p:nvPr/>
        </p:nvSpPr>
        <p:spPr>
          <a:xfrm>
            <a:off x="6245352" y="1417320"/>
            <a:ext cx="548640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0" name="Google Shape;1420;p27"/>
          <p:cNvSpPr/>
          <p:nvPr/>
        </p:nvSpPr>
        <p:spPr>
          <a:xfrm>
            <a:off x="6245352" y="1417320"/>
            <a:ext cx="5486400" cy="50292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1421;p27"/>
          <p:cNvSpPr/>
          <p:nvPr/>
        </p:nvSpPr>
        <p:spPr>
          <a:xfrm>
            <a:off x="6446520" y="146304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COSTO DE LA SOLUCIÓN MADRE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2" name="Google Shape;1422;p27"/>
          <p:cNvCxnSpPr/>
          <p:nvPr/>
        </p:nvCxnSpPr>
        <p:spPr>
          <a:xfrm>
            <a:off x="6446520" y="2606040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23" name="Google Shape;1423;p27"/>
          <p:cNvSpPr/>
          <p:nvPr/>
        </p:nvSpPr>
        <p:spPr>
          <a:xfrm>
            <a:off x="6446520" y="21031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Saco Poliflocal-C de 267 kg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27"/>
          <p:cNvSpPr/>
          <p:nvPr/>
        </p:nvSpPr>
        <p:spPr>
          <a:xfrm>
            <a:off x="9784080" y="210312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Q5,701.00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5" name="Google Shape;1425;p27"/>
          <p:cNvCxnSpPr/>
          <p:nvPr/>
        </p:nvCxnSpPr>
        <p:spPr>
          <a:xfrm>
            <a:off x="6446520" y="3172968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26" name="Google Shape;1426;p27"/>
          <p:cNvSpPr/>
          <p:nvPr/>
        </p:nvSpPr>
        <p:spPr>
          <a:xfrm>
            <a:off x="6446520" y="267004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Costo Poliflocal por kg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27"/>
          <p:cNvSpPr/>
          <p:nvPr/>
        </p:nvSpPr>
        <p:spPr>
          <a:xfrm>
            <a:off x="9784080" y="267004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Q21.35 / kg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8" name="Google Shape;1428;p27"/>
          <p:cNvCxnSpPr/>
          <p:nvPr/>
        </p:nvCxnSpPr>
        <p:spPr>
          <a:xfrm>
            <a:off x="6446520" y="3739896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29" name="Google Shape;1429;p27"/>
          <p:cNvSpPr/>
          <p:nvPr/>
        </p:nvSpPr>
        <p:spPr>
          <a:xfrm>
            <a:off x="6446520" y="3236976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Poliflocal en una dosis  (8 kg)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27"/>
          <p:cNvSpPr/>
          <p:nvPr/>
        </p:nvSpPr>
        <p:spPr>
          <a:xfrm>
            <a:off x="9784080" y="3236976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Q285.05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1" name="Google Shape;1431;p27"/>
          <p:cNvCxnSpPr/>
          <p:nvPr/>
        </p:nvCxnSpPr>
        <p:spPr>
          <a:xfrm>
            <a:off x="6446520" y="4306824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2" name="Google Shape;1432;p27"/>
          <p:cNvSpPr/>
          <p:nvPr/>
        </p:nvSpPr>
        <p:spPr>
          <a:xfrm>
            <a:off x="6446520" y="3803904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Hipoclorito en una dosis  (10 L)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27"/>
          <p:cNvSpPr/>
          <p:nvPr/>
        </p:nvSpPr>
        <p:spPr>
          <a:xfrm>
            <a:off x="9784080" y="3803904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Q102.00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4" name="Google Shape;1434;p27"/>
          <p:cNvCxnSpPr/>
          <p:nvPr/>
        </p:nvCxnSpPr>
        <p:spPr>
          <a:xfrm>
            <a:off x="6446520" y="4873752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5" name="Google Shape;1435;p27"/>
          <p:cNvSpPr/>
          <p:nvPr/>
        </p:nvSpPr>
        <p:spPr>
          <a:xfrm>
            <a:off x="6446520" y="437083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Suma por dosis  (insumos)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27"/>
          <p:cNvSpPr/>
          <p:nvPr/>
        </p:nvSpPr>
        <p:spPr>
          <a:xfrm>
            <a:off x="9784080" y="4370832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Q387.05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7" name="Google Shape;1437;p27"/>
          <p:cNvCxnSpPr/>
          <p:nvPr/>
        </p:nvCxnSpPr>
        <p:spPr>
          <a:xfrm>
            <a:off x="6446520" y="5440680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8" name="Google Shape;1438;p27"/>
          <p:cNvSpPr/>
          <p:nvPr/>
        </p:nvSpPr>
        <p:spPr>
          <a:xfrm>
            <a:off x="6446520" y="49377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Volumen tratable (seca, 32 m³)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27"/>
          <p:cNvSpPr/>
          <p:nvPr/>
        </p:nvSpPr>
        <p:spPr>
          <a:xfrm>
            <a:off x="9784080" y="49377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Q12.09 / m³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0" name="Google Shape;1440;p27"/>
          <p:cNvCxnSpPr/>
          <p:nvPr/>
        </p:nvCxnSpPr>
        <p:spPr>
          <a:xfrm>
            <a:off x="6446520" y="6007608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41" name="Google Shape;1441;p27"/>
          <p:cNvSpPr/>
          <p:nvPr/>
        </p:nvSpPr>
        <p:spPr>
          <a:xfrm>
            <a:off x="6446520" y="550468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Volumen tratable (seca, en L)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27"/>
          <p:cNvSpPr/>
          <p:nvPr/>
        </p:nvSpPr>
        <p:spPr>
          <a:xfrm>
            <a:off x="9784080" y="550468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Q0.012 / 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28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9" name="Google Shape;1449;p28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0" name="Google Shape;1450;p28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Dosificación del Clarificador 1  ·  escenarios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28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La cantidad de Poliflocal por dosis cambia con la calidad del agua de entrada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28"/>
          <p:cNvSpPr/>
          <p:nvPr/>
        </p:nvSpPr>
        <p:spPr>
          <a:xfrm>
            <a:off x="457200" y="1417320"/>
            <a:ext cx="356616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28"/>
          <p:cNvSpPr/>
          <p:nvPr/>
        </p:nvSpPr>
        <p:spPr>
          <a:xfrm>
            <a:off x="457200" y="1417320"/>
            <a:ext cx="3566160" cy="77724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4" name="Google Shape;1454;p28"/>
          <p:cNvSpPr/>
          <p:nvPr/>
        </p:nvSpPr>
        <p:spPr>
          <a:xfrm>
            <a:off x="594360" y="14630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ÉPOCA SECA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28"/>
          <p:cNvSpPr/>
          <p:nvPr/>
        </p:nvSpPr>
        <p:spPr>
          <a:xfrm>
            <a:off x="594360" y="182880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Operación de referencia · agua de baja turbidez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6" name="Google Shape;1456;p28"/>
          <p:cNvCxnSpPr/>
          <p:nvPr/>
        </p:nvCxnSpPr>
        <p:spPr>
          <a:xfrm>
            <a:off x="594360" y="285292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7" name="Google Shape;1457;p28"/>
          <p:cNvSpPr/>
          <p:nvPr/>
        </p:nvSpPr>
        <p:spPr>
          <a:xfrm>
            <a:off x="594360" y="23774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Poliflocal-C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28"/>
          <p:cNvSpPr/>
          <p:nvPr/>
        </p:nvSpPr>
        <p:spPr>
          <a:xfrm>
            <a:off x="2286000" y="23774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8 L  ·  8 kg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9" name="Google Shape;1459;p28"/>
          <p:cNvCxnSpPr/>
          <p:nvPr/>
        </p:nvCxnSpPr>
        <p:spPr>
          <a:xfrm>
            <a:off x="594360" y="340156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0" name="Google Shape;1460;p28"/>
          <p:cNvSpPr/>
          <p:nvPr/>
        </p:nvSpPr>
        <p:spPr>
          <a:xfrm>
            <a:off x="594360" y="29260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Hipoclorito 10 %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28"/>
          <p:cNvSpPr/>
          <p:nvPr/>
        </p:nvSpPr>
        <p:spPr>
          <a:xfrm>
            <a:off x="2286000" y="2926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10 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2" name="Google Shape;1462;p28"/>
          <p:cNvCxnSpPr/>
          <p:nvPr/>
        </p:nvCxnSpPr>
        <p:spPr>
          <a:xfrm>
            <a:off x="594360" y="39502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3" name="Google Shape;1463;p28"/>
          <p:cNvSpPr/>
          <p:nvPr/>
        </p:nvSpPr>
        <p:spPr>
          <a:xfrm>
            <a:off x="594360" y="347472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Costo Poliflocal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28"/>
          <p:cNvSpPr/>
          <p:nvPr/>
        </p:nvSpPr>
        <p:spPr>
          <a:xfrm>
            <a:off x="2286000" y="347472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Q285.05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5" name="Google Shape;1465;p28"/>
          <p:cNvCxnSpPr/>
          <p:nvPr/>
        </p:nvCxnSpPr>
        <p:spPr>
          <a:xfrm>
            <a:off x="594360" y="449884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6" name="Google Shape;1466;p28"/>
          <p:cNvSpPr/>
          <p:nvPr/>
        </p:nvSpPr>
        <p:spPr>
          <a:xfrm>
            <a:off x="594360" y="40233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Costo Hipoclorito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28"/>
          <p:cNvSpPr/>
          <p:nvPr/>
        </p:nvSpPr>
        <p:spPr>
          <a:xfrm>
            <a:off x="2286000" y="40233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Q102.00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8" name="Google Shape;1468;p28"/>
          <p:cNvCxnSpPr/>
          <p:nvPr/>
        </p:nvCxnSpPr>
        <p:spPr>
          <a:xfrm>
            <a:off x="594360" y="504748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9" name="Google Shape;1469;p28"/>
          <p:cNvSpPr/>
          <p:nvPr/>
        </p:nvSpPr>
        <p:spPr>
          <a:xfrm>
            <a:off x="594360" y="45720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Costo total por dosis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28"/>
          <p:cNvSpPr/>
          <p:nvPr/>
        </p:nvSpPr>
        <p:spPr>
          <a:xfrm>
            <a:off x="2286000" y="45720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Q387.05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1" name="Google Shape;1471;p28"/>
          <p:cNvCxnSpPr/>
          <p:nvPr/>
        </p:nvCxnSpPr>
        <p:spPr>
          <a:xfrm>
            <a:off x="594360" y="559612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2" name="Google Shape;1472;p28"/>
          <p:cNvSpPr/>
          <p:nvPr/>
        </p:nvSpPr>
        <p:spPr>
          <a:xfrm>
            <a:off x="594360" y="51206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Vol. tratado / dosis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28"/>
          <p:cNvSpPr/>
          <p:nvPr/>
        </p:nvSpPr>
        <p:spPr>
          <a:xfrm>
            <a:off x="2286000" y="51206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32 m³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4" name="Google Shape;1474;p28"/>
          <p:cNvCxnSpPr/>
          <p:nvPr/>
        </p:nvCxnSpPr>
        <p:spPr>
          <a:xfrm>
            <a:off x="594360" y="614476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5" name="Google Shape;1475;p28"/>
          <p:cNvSpPr/>
          <p:nvPr/>
        </p:nvSpPr>
        <p:spPr>
          <a:xfrm>
            <a:off x="594360" y="56692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Costo unitario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28"/>
          <p:cNvSpPr/>
          <p:nvPr/>
        </p:nvSpPr>
        <p:spPr>
          <a:xfrm>
            <a:off x="2286000" y="56692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Q12.09 / m³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28"/>
          <p:cNvSpPr/>
          <p:nvPr/>
        </p:nvSpPr>
        <p:spPr>
          <a:xfrm>
            <a:off x="4297680" y="1417320"/>
            <a:ext cx="356616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8" name="Google Shape;1478;p28"/>
          <p:cNvSpPr/>
          <p:nvPr/>
        </p:nvSpPr>
        <p:spPr>
          <a:xfrm>
            <a:off x="4297680" y="1417320"/>
            <a:ext cx="3566160" cy="77724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9" name="Google Shape;1479;p28"/>
          <p:cNvSpPr/>
          <p:nvPr/>
        </p:nvSpPr>
        <p:spPr>
          <a:xfrm>
            <a:off x="4434840" y="14630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LLUVIOSA MODERADA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28"/>
          <p:cNvSpPr/>
          <p:nvPr/>
        </p:nvSpPr>
        <p:spPr>
          <a:xfrm>
            <a:off x="4434840" y="182880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Turbidez incrementada · dosis intensificada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1" name="Google Shape;1481;p28"/>
          <p:cNvCxnSpPr/>
          <p:nvPr/>
        </p:nvCxnSpPr>
        <p:spPr>
          <a:xfrm>
            <a:off x="4434840" y="285292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2" name="Google Shape;1482;p28"/>
          <p:cNvSpPr/>
          <p:nvPr/>
        </p:nvSpPr>
        <p:spPr>
          <a:xfrm>
            <a:off x="4434840" y="23774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Poliflocal-C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28"/>
          <p:cNvSpPr/>
          <p:nvPr/>
        </p:nvSpPr>
        <p:spPr>
          <a:xfrm>
            <a:off x="6126480" y="23774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48 L  ·  48 kg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4" name="Google Shape;1484;p28"/>
          <p:cNvCxnSpPr/>
          <p:nvPr/>
        </p:nvCxnSpPr>
        <p:spPr>
          <a:xfrm>
            <a:off x="4434840" y="340156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5" name="Google Shape;1485;p28"/>
          <p:cNvSpPr/>
          <p:nvPr/>
        </p:nvSpPr>
        <p:spPr>
          <a:xfrm>
            <a:off x="4434840" y="29260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Hipoclorito 10 %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28"/>
          <p:cNvSpPr/>
          <p:nvPr/>
        </p:nvSpPr>
        <p:spPr>
          <a:xfrm>
            <a:off x="6126480" y="2926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10 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7" name="Google Shape;1487;p28"/>
          <p:cNvCxnSpPr/>
          <p:nvPr/>
        </p:nvCxnSpPr>
        <p:spPr>
          <a:xfrm>
            <a:off x="4434840" y="39502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8" name="Google Shape;1488;p28"/>
          <p:cNvSpPr/>
          <p:nvPr/>
        </p:nvSpPr>
        <p:spPr>
          <a:xfrm>
            <a:off x="4434840" y="347472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Costo Poliflocal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28"/>
          <p:cNvSpPr/>
          <p:nvPr/>
        </p:nvSpPr>
        <p:spPr>
          <a:xfrm>
            <a:off x="6126480" y="347472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Q1,710.30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0" name="Google Shape;1490;p28"/>
          <p:cNvCxnSpPr/>
          <p:nvPr/>
        </p:nvCxnSpPr>
        <p:spPr>
          <a:xfrm>
            <a:off x="4434840" y="449884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1" name="Google Shape;1491;p28"/>
          <p:cNvSpPr/>
          <p:nvPr/>
        </p:nvSpPr>
        <p:spPr>
          <a:xfrm>
            <a:off x="4434840" y="40233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Costo Hipoclorito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28"/>
          <p:cNvSpPr/>
          <p:nvPr/>
        </p:nvSpPr>
        <p:spPr>
          <a:xfrm>
            <a:off x="6126480" y="40233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Q102.00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3" name="Google Shape;1493;p28"/>
          <p:cNvCxnSpPr/>
          <p:nvPr/>
        </p:nvCxnSpPr>
        <p:spPr>
          <a:xfrm>
            <a:off x="4434840" y="504748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4" name="Google Shape;1494;p28"/>
          <p:cNvSpPr/>
          <p:nvPr/>
        </p:nvSpPr>
        <p:spPr>
          <a:xfrm>
            <a:off x="4434840" y="45720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Costo total por dosis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28"/>
          <p:cNvSpPr/>
          <p:nvPr/>
        </p:nvSpPr>
        <p:spPr>
          <a:xfrm>
            <a:off x="6126480" y="45720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Q1,812.30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6" name="Google Shape;1496;p28"/>
          <p:cNvCxnSpPr/>
          <p:nvPr/>
        </p:nvCxnSpPr>
        <p:spPr>
          <a:xfrm>
            <a:off x="4434840" y="559612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7" name="Google Shape;1497;p28"/>
          <p:cNvSpPr/>
          <p:nvPr/>
        </p:nvSpPr>
        <p:spPr>
          <a:xfrm>
            <a:off x="4434840" y="51206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Vol. tratado / dosis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28"/>
          <p:cNvSpPr/>
          <p:nvPr/>
        </p:nvSpPr>
        <p:spPr>
          <a:xfrm>
            <a:off x="6126480" y="51206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32 m³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9" name="Google Shape;1499;p28"/>
          <p:cNvCxnSpPr/>
          <p:nvPr/>
        </p:nvCxnSpPr>
        <p:spPr>
          <a:xfrm>
            <a:off x="4434840" y="614476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0" name="Google Shape;1500;p28"/>
          <p:cNvSpPr/>
          <p:nvPr/>
        </p:nvSpPr>
        <p:spPr>
          <a:xfrm>
            <a:off x="4434840" y="56692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Costo unitario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28"/>
          <p:cNvSpPr/>
          <p:nvPr/>
        </p:nvSpPr>
        <p:spPr>
          <a:xfrm>
            <a:off x="6126480" y="56692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Q56.63 / m³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28"/>
          <p:cNvSpPr/>
          <p:nvPr/>
        </p:nvSpPr>
        <p:spPr>
          <a:xfrm>
            <a:off x="8138160" y="1417320"/>
            <a:ext cx="356616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3" name="Google Shape;1503;p28"/>
          <p:cNvSpPr/>
          <p:nvPr/>
        </p:nvSpPr>
        <p:spPr>
          <a:xfrm>
            <a:off x="8138160" y="1417320"/>
            <a:ext cx="3566160" cy="77724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4" name="Google Shape;1504;p28"/>
          <p:cNvSpPr/>
          <p:nvPr/>
        </p:nvSpPr>
        <p:spPr>
          <a:xfrm>
            <a:off x="8275320" y="14630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LLUVIOSA SEVERA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28"/>
          <p:cNvSpPr/>
          <p:nvPr/>
        </p:nvSpPr>
        <p:spPr>
          <a:xfrm>
            <a:off x="8275320" y="182880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Turbidez crítica · misma dosis menor rendimiento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6" name="Google Shape;1506;p28"/>
          <p:cNvCxnSpPr/>
          <p:nvPr/>
        </p:nvCxnSpPr>
        <p:spPr>
          <a:xfrm>
            <a:off x="8275320" y="285292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7" name="Google Shape;1507;p28"/>
          <p:cNvSpPr/>
          <p:nvPr/>
        </p:nvSpPr>
        <p:spPr>
          <a:xfrm>
            <a:off x="8275320" y="23774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Poliflocal-C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28"/>
          <p:cNvSpPr/>
          <p:nvPr/>
        </p:nvSpPr>
        <p:spPr>
          <a:xfrm>
            <a:off x="9966960" y="23774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48 L  ·  48 kg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9" name="Google Shape;1509;p28"/>
          <p:cNvCxnSpPr/>
          <p:nvPr/>
        </p:nvCxnSpPr>
        <p:spPr>
          <a:xfrm>
            <a:off x="8275320" y="340156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0" name="Google Shape;1510;p28"/>
          <p:cNvSpPr/>
          <p:nvPr/>
        </p:nvSpPr>
        <p:spPr>
          <a:xfrm>
            <a:off x="8275320" y="29260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Hipoclorito 10 %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28"/>
          <p:cNvSpPr/>
          <p:nvPr/>
        </p:nvSpPr>
        <p:spPr>
          <a:xfrm>
            <a:off x="9966960" y="2926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10 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2" name="Google Shape;1512;p28"/>
          <p:cNvCxnSpPr/>
          <p:nvPr/>
        </p:nvCxnSpPr>
        <p:spPr>
          <a:xfrm>
            <a:off x="8275320" y="395020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3" name="Google Shape;1513;p28"/>
          <p:cNvSpPr/>
          <p:nvPr/>
        </p:nvSpPr>
        <p:spPr>
          <a:xfrm>
            <a:off x="8275320" y="347472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Costo Poliflocal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28"/>
          <p:cNvSpPr/>
          <p:nvPr/>
        </p:nvSpPr>
        <p:spPr>
          <a:xfrm>
            <a:off x="9966960" y="347472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Q1,710.30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5" name="Google Shape;1515;p28"/>
          <p:cNvCxnSpPr/>
          <p:nvPr/>
        </p:nvCxnSpPr>
        <p:spPr>
          <a:xfrm>
            <a:off x="8275320" y="449884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6" name="Google Shape;1516;p28"/>
          <p:cNvSpPr/>
          <p:nvPr/>
        </p:nvSpPr>
        <p:spPr>
          <a:xfrm>
            <a:off x="8275320" y="40233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Costo Hipoclorito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28"/>
          <p:cNvSpPr/>
          <p:nvPr/>
        </p:nvSpPr>
        <p:spPr>
          <a:xfrm>
            <a:off x="9966960" y="40233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Q102.00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8" name="Google Shape;1518;p28"/>
          <p:cNvCxnSpPr/>
          <p:nvPr/>
        </p:nvCxnSpPr>
        <p:spPr>
          <a:xfrm>
            <a:off x="8275320" y="504748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9" name="Google Shape;1519;p28"/>
          <p:cNvSpPr/>
          <p:nvPr/>
        </p:nvSpPr>
        <p:spPr>
          <a:xfrm>
            <a:off x="8275320" y="45720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Costo total por dosis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28"/>
          <p:cNvSpPr/>
          <p:nvPr/>
        </p:nvSpPr>
        <p:spPr>
          <a:xfrm>
            <a:off x="9966960" y="45720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Q1,812.30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1" name="Google Shape;1521;p28"/>
          <p:cNvCxnSpPr/>
          <p:nvPr/>
        </p:nvCxnSpPr>
        <p:spPr>
          <a:xfrm>
            <a:off x="8275320" y="559612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2" name="Google Shape;1522;p28"/>
          <p:cNvSpPr/>
          <p:nvPr/>
        </p:nvSpPr>
        <p:spPr>
          <a:xfrm>
            <a:off x="8275320" y="51206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Vol. tratado / dosis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28"/>
          <p:cNvSpPr/>
          <p:nvPr/>
        </p:nvSpPr>
        <p:spPr>
          <a:xfrm>
            <a:off x="9966960" y="51206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20 m³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4" name="Google Shape;1524;p28"/>
          <p:cNvCxnSpPr/>
          <p:nvPr/>
        </p:nvCxnSpPr>
        <p:spPr>
          <a:xfrm>
            <a:off x="8275320" y="6144768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5" name="Google Shape;1525;p28"/>
          <p:cNvSpPr/>
          <p:nvPr/>
        </p:nvSpPr>
        <p:spPr>
          <a:xfrm>
            <a:off x="8275320" y="56692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Costo unitario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28"/>
          <p:cNvSpPr/>
          <p:nvPr/>
        </p:nvSpPr>
        <p:spPr>
          <a:xfrm>
            <a:off x="9966960" y="56692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Q90.61 / m³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29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3" name="Google Shape;1533;p29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4" name="Google Shape;1534;p29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Dosificación del Clarificador 2  ·  régimen continuo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29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Tres productos en dosificación temporizada — costo unitario estable todo el año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29"/>
          <p:cNvSpPr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7" name="Google Shape;1537;p29"/>
          <p:cNvSpPr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8" name="Google Shape;1538;p29"/>
          <p:cNvSpPr/>
          <p:nvPr/>
        </p:nvSpPr>
        <p:spPr>
          <a:xfrm>
            <a:off x="640080" y="146304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DOSIS POR CICLO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29"/>
          <p:cNvSpPr/>
          <p:nvPr/>
        </p:nvSpPr>
        <p:spPr>
          <a:xfrm>
            <a:off x="640080" y="2148840"/>
            <a:ext cx="512064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0" name="Google Shape;1540;p29"/>
          <p:cNvSpPr/>
          <p:nvPr/>
        </p:nvSpPr>
        <p:spPr>
          <a:xfrm>
            <a:off x="777240" y="2148840"/>
            <a:ext cx="320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29"/>
          <p:cNvSpPr/>
          <p:nvPr/>
        </p:nvSpPr>
        <p:spPr>
          <a:xfrm>
            <a:off x="1143000" y="214884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Hipoclorito</a:t>
            </a:r>
            <a:r>
              <a:rPr lang="en-US" sz="1100" b="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de Sodio 10 %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29"/>
          <p:cNvSpPr/>
          <p:nvPr/>
        </p:nvSpPr>
        <p:spPr>
          <a:xfrm>
            <a:off x="3611880" y="214884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1" i="0" u="none" strike="noStrike" cap="none" dirty="0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10 L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29"/>
          <p:cNvSpPr/>
          <p:nvPr/>
        </p:nvSpPr>
        <p:spPr>
          <a:xfrm>
            <a:off x="4617720" y="214884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 b="1" i="0" u="none" strike="noStrike" cap="none" dirty="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Q102.00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29"/>
          <p:cNvSpPr/>
          <p:nvPr/>
        </p:nvSpPr>
        <p:spPr>
          <a:xfrm>
            <a:off x="640080" y="2926080"/>
            <a:ext cx="512064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29"/>
          <p:cNvSpPr/>
          <p:nvPr/>
        </p:nvSpPr>
        <p:spPr>
          <a:xfrm>
            <a:off x="777240" y="2926080"/>
            <a:ext cx="320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29"/>
          <p:cNvSpPr/>
          <p:nvPr/>
        </p:nvSpPr>
        <p:spPr>
          <a:xfrm>
            <a:off x="1143000" y="292608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Poliacrilamida (coagulante)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29"/>
          <p:cNvSpPr/>
          <p:nvPr/>
        </p:nvSpPr>
        <p:spPr>
          <a:xfrm>
            <a:off x="3611880" y="292608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1 kg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29"/>
          <p:cNvSpPr/>
          <p:nvPr/>
        </p:nvSpPr>
        <p:spPr>
          <a:xfrm>
            <a:off x="4617720" y="292608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Q9.70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29"/>
          <p:cNvSpPr/>
          <p:nvPr/>
        </p:nvSpPr>
        <p:spPr>
          <a:xfrm>
            <a:off x="640080" y="3703320"/>
            <a:ext cx="512064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0" name="Google Shape;1550;p29"/>
          <p:cNvSpPr/>
          <p:nvPr/>
        </p:nvSpPr>
        <p:spPr>
          <a:xfrm>
            <a:off x="777240" y="3703320"/>
            <a:ext cx="320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29"/>
          <p:cNvSpPr/>
          <p:nvPr/>
        </p:nvSpPr>
        <p:spPr>
          <a:xfrm>
            <a:off x="1143000" y="370332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Cloruro de polialuminio (PAC)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29"/>
          <p:cNvSpPr/>
          <p:nvPr/>
        </p:nvSpPr>
        <p:spPr>
          <a:xfrm>
            <a:off x="3611880" y="370332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8 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29"/>
          <p:cNvSpPr/>
          <p:nvPr/>
        </p:nvSpPr>
        <p:spPr>
          <a:xfrm>
            <a:off x="4617720" y="370332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Q184.21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29"/>
          <p:cNvSpPr/>
          <p:nvPr/>
        </p:nvSpPr>
        <p:spPr>
          <a:xfrm>
            <a:off x="640080" y="4480560"/>
            <a:ext cx="5120640" cy="68580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5" name="Google Shape;1555;p29"/>
          <p:cNvSpPr/>
          <p:nvPr/>
        </p:nvSpPr>
        <p:spPr>
          <a:xfrm>
            <a:off x="822960" y="448056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POR DOSIS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29"/>
          <p:cNvSpPr/>
          <p:nvPr/>
        </p:nvSpPr>
        <p:spPr>
          <a:xfrm>
            <a:off x="3611880" y="448056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29"/>
          <p:cNvSpPr/>
          <p:nvPr/>
        </p:nvSpPr>
        <p:spPr>
          <a:xfrm>
            <a:off x="4617720" y="448056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Q295.91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29"/>
          <p:cNvSpPr/>
          <p:nvPr/>
        </p:nvSpPr>
        <p:spPr>
          <a:xfrm>
            <a:off x="6245352" y="1417320"/>
            <a:ext cx="548640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29"/>
          <p:cNvSpPr/>
          <p:nvPr/>
        </p:nvSpPr>
        <p:spPr>
          <a:xfrm>
            <a:off x="6245352" y="1417320"/>
            <a:ext cx="5486400" cy="502920"/>
          </a:xfrm>
          <a:prstGeom prst="rect">
            <a:avLst/>
          </a:prstGeom>
          <a:solidFill>
            <a:srgbClr val="21295C"/>
          </a:solidFill>
          <a:ln w="12700" cap="flat" cmpd="sng">
            <a:solidFill>
              <a:srgbClr val="2129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0" name="Google Shape;1560;p29"/>
          <p:cNvSpPr/>
          <p:nvPr/>
        </p:nvSpPr>
        <p:spPr>
          <a:xfrm>
            <a:off x="6446520" y="146304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RENDIMIENTO POR DOSIS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1" name="Google Shape;1561;p29"/>
          <p:cNvCxnSpPr/>
          <p:nvPr/>
        </p:nvCxnSpPr>
        <p:spPr>
          <a:xfrm>
            <a:off x="6446520" y="2651760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2" name="Google Shape;1562;p29"/>
          <p:cNvSpPr/>
          <p:nvPr/>
        </p:nvSpPr>
        <p:spPr>
          <a:xfrm>
            <a:off x="6446520" y="21488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Producción nominal Cl. 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29"/>
          <p:cNvSpPr/>
          <p:nvPr/>
        </p:nvSpPr>
        <p:spPr>
          <a:xfrm>
            <a:off x="9646920" y="214884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240 m³ / día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4" name="Google Shape;1564;p29"/>
          <p:cNvCxnSpPr/>
          <p:nvPr/>
        </p:nvCxnSpPr>
        <p:spPr>
          <a:xfrm>
            <a:off x="6446520" y="3200400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5" name="Google Shape;1565;p29"/>
          <p:cNvSpPr/>
          <p:nvPr/>
        </p:nvSpPr>
        <p:spPr>
          <a:xfrm>
            <a:off x="6446520" y="26974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Duración de una dosis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29"/>
          <p:cNvSpPr/>
          <p:nvPr/>
        </p:nvSpPr>
        <p:spPr>
          <a:xfrm>
            <a:off x="9646920" y="2697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3 días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7" name="Google Shape;1567;p29"/>
          <p:cNvCxnSpPr/>
          <p:nvPr/>
        </p:nvCxnSpPr>
        <p:spPr>
          <a:xfrm>
            <a:off x="6446520" y="3749040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8" name="Google Shape;1568;p29"/>
          <p:cNvSpPr/>
          <p:nvPr/>
        </p:nvSpPr>
        <p:spPr>
          <a:xfrm>
            <a:off x="6446520" y="32461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Volumen tratado / dosis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29"/>
          <p:cNvSpPr/>
          <p:nvPr/>
        </p:nvSpPr>
        <p:spPr>
          <a:xfrm>
            <a:off x="9646920" y="324612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720 m³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0" name="Google Shape;1570;p29"/>
          <p:cNvCxnSpPr/>
          <p:nvPr/>
        </p:nvCxnSpPr>
        <p:spPr>
          <a:xfrm>
            <a:off x="6446520" y="4297680"/>
            <a:ext cx="5120640" cy="0"/>
          </a:xfrm>
          <a:prstGeom prst="straightConnector1">
            <a:avLst/>
          </a:prstGeom>
          <a:noFill/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1" name="Google Shape;1571;p29"/>
          <p:cNvSpPr/>
          <p:nvPr/>
        </p:nvSpPr>
        <p:spPr>
          <a:xfrm>
            <a:off x="6446520" y="37947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Volumen tratado / dosis (L)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29"/>
          <p:cNvSpPr/>
          <p:nvPr/>
        </p:nvSpPr>
        <p:spPr>
          <a:xfrm>
            <a:off x="9646920" y="379476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720,000 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29"/>
          <p:cNvSpPr/>
          <p:nvPr/>
        </p:nvSpPr>
        <p:spPr>
          <a:xfrm>
            <a:off x="6446520" y="4572000"/>
            <a:ext cx="5120640" cy="178308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29"/>
          <p:cNvSpPr/>
          <p:nvPr/>
        </p:nvSpPr>
        <p:spPr>
          <a:xfrm>
            <a:off x="6583680" y="46634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COSTO UNITARIO  Cl.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29"/>
          <p:cNvSpPr/>
          <p:nvPr/>
        </p:nvSpPr>
        <p:spPr>
          <a:xfrm>
            <a:off x="6583680" y="498348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Q0.41 / m³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29"/>
          <p:cNvSpPr/>
          <p:nvPr/>
        </p:nvSpPr>
        <p:spPr>
          <a:xfrm>
            <a:off x="6583680" y="585216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Q0.00041 / L  ·  Q295.91 ÷ 720 m³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30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3" name="Google Shape;1583;p30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4" name="Google Shape;1584;p30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Costo por m³ tratado  ·  por escenario y por clarificador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30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Cl. 1 varía con la estación (dosis intensificada en lluvias); Cl. 2 permanece constante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6" name="Google Shape;158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417320"/>
            <a:ext cx="685800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30"/>
          <p:cNvSpPr/>
          <p:nvPr/>
        </p:nvSpPr>
        <p:spPr>
          <a:xfrm>
            <a:off x="7498080" y="1417320"/>
            <a:ext cx="420624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8" name="Google Shape;1588;p30"/>
          <p:cNvSpPr/>
          <p:nvPr/>
        </p:nvSpPr>
        <p:spPr>
          <a:xfrm>
            <a:off x="7635240" y="15544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COMBINADO POR ESCENARIO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30"/>
          <p:cNvSpPr/>
          <p:nvPr/>
        </p:nvSpPr>
        <p:spPr>
          <a:xfrm>
            <a:off x="7635240" y="1965960"/>
            <a:ext cx="3931920" cy="12801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0" name="Google Shape;1590;p30"/>
          <p:cNvSpPr/>
          <p:nvPr/>
        </p:nvSpPr>
        <p:spPr>
          <a:xfrm>
            <a:off x="7635240" y="1965960"/>
            <a:ext cx="91440" cy="128016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1" name="Google Shape;1591;p30"/>
          <p:cNvSpPr/>
          <p:nvPr/>
        </p:nvSpPr>
        <p:spPr>
          <a:xfrm>
            <a:off x="7818120" y="2057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ÉPOCA SECA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30"/>
          <p:cNvSpPr/>
          <p:nvPr/>
        </p:nvSpPr>
        <p:spPr>
          <a:xfrm>
            <a:off x="7818120" y="23317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Q12.50 / m³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30"/>
          <p:cNvSpPr/>
          <p:nvPr/>
        </p:nvSpPr>
        <p:spPr>
          <a:xfrm>
            <a:off x="7818120" y="2834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Q12.09 (Cl. 1)  +  Q0.41 (Cl. 2)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30"/>
          <p:cNvSpPr/>
          <p:nvPr/>
        </p:nvSpPr>
        <p:spPr>
          <a:xfrm>
            <a:off x="7635240" y="3383280"/>
            <a:ext cx="3931920" cy="12801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5" name="Google Shape;1595;p30"/>
          <p:cNvSpPr/>
          <p:nvPr/>
        </p:nvSpPr>
        <p:spPr>
          <a:xfrm>
            <a:off x="7635240" y="3383280"/>
            <a:ext cx="91440" cy="128016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6" name="Google Shape;1596;p30"/>
          <p:cNvSpPr/>
          <p:nvPr/>
        </p:nvSpPr>
        <p:spPr>
          <a:xfrm>
            <a:off x="7818120" y="3474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LLUVIA MODERADA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30"/>
          <p:cNvSpPr/>
          <p:nvPr/>
        </p:nvSpPr>
        <p:spPr>
          <a:xfrm>
            <a:off x="7818120" y="37490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Q57.04 / m³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30"/>
          <p:cNvSpPr/>
          <p:nvPr/>
        </p:nvSpPr>
        <p:spPr>
          <a:xfrm>
            <a:off x="7818120" y="42519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Q56.63 (Cl. 1)  +  Q0.41 (Cl. 2)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30"/>
          <p:cNvSpPr/>
          <p:nvPr/>
        </p:nvSpPr>
        <p:spPr>
          <a:xfrm>
            <a:off x="7635240" y="4800600"/>
            <a:ext cx="3931920" cy="12801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0" name="Google Shape;1600;p30"/>
          <p:cNvSpPr/>
          <p:nvPr/>
        </p:nvSpPr>
        <p:spPr>
          <a:xfrm>
            <a:off x="7635240" y="4800600"/>
            <a:ext cx="91440" cy="128016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1" name="Google Shape;1601;p30"/>
          <p:cNvSpPr/>
          <p:nvPr/>
        </p:nvSpPr>
        <p:spPr>
          <a:xfrm>
            <a:off x="7818120" y="4892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LLUVIA SEVERA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30"/>
          <p:cNvSpPr/>
          <p:nvPr/>
        </p:nvSpPr>
        <p:spPr>
          <a:xfrm>
            <a:off x="7818120" y="51663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Q91.02 / m³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30"/>
          <p:cNvSpPr/>
          <p:nvPr/>
        </p:nvSpPr>
        <p:spPr>
          <a:xfrm>
            <a:off x="7818120" y="5669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Q90.61 (Cl. 1)  +  Q0.41 (Cl. 2)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31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0" name="Google Shape;1610;p31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1" name="Google Shape;1611;p31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Proyección mensual del costo químico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31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Base de 855 m³/mes (28.5 m³/día × 30 días)  ·  Cl. 1 + Cl.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31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" name="Google Shape;1614;p31"/>
          <p:cNvSpPr/>
          <p:nvPr/>
        </p:nvSpPr>
        <p:spPr>
          <a:xfrm>
            <a:off x="548640" y="14173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31"/>
          <p:cNvSpPr/>
          <p:nvPr/>
        </p:nvSpPr>
        <p:spPr>
          <a:xfrm>
            <a:off x="4754880" y="141732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por m³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31"/>
          <p:cNvSpPr/>
          <p:nvPr/>
        </p:nvSpPr>
        <p:spPr>
          <a:xfrm>
            <a:off x="6583680" y="141732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 mensual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31"/>
          <p:cNvSpPr/>
          <p:nvPr/>
        </p:nvSpPr>
        <p:spPr>
          <a:xfrm>
            <a:off x="8412480" y="14173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Costo mensual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31"/>
          <p:cNvSpPr/>
          <p:nvPr/>
        </p:nvSpPr>
        <p:spPr>
          <a:xfrm>
            <a:off x="457200" y="1874520"/>
            <a:ext cx="11247120" cy="777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9" name="Google Shape;1619;p31"/>
          <p:cNvSpPr/>
          <p:nvPr/>
        </p:nvSpPr>
        <p:spPr>
          <a:xfrm>
            <a:off x="457200" y="1874520"/>
            <a:ext cx="137160" cy="77724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0" name="Google Shape;1620;p31"/>
          <p:cNvSpPr/>
          <p:nvPr/>
        </p:nvSpPr>
        <p:spPr>
          <a:xfrm>
            <a:off x="548640" y="1874520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Época seca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31"/>
          <p:cNvSpPr/>
          <p:nvPr/>
        </p:nvSpPr>
        <p:spPr>
          <a:xfrm>
            <a:off x="4754880" y="187452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Q12.50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31"/>
          <p:cNvSpPr/>
          <p:nvPr/>
        </p:nvSpPr>
        <p:spPr>
          <a:xfrm>
            <a:off x="6583680" y="187452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855 m³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31"/>
          <p:cNvSpPr/>
          <p:nvPr/>
        </p:nvSpPr>
        <p:spPr>
          <a:xfrm>
            <a:off x="8412480" y="187452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Consolas"/>
              <a:buNone/>
            </a:pPr>
            <a:r>
              <a:rPr lang="en-US" sz="160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Q10,687.50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31"/>
          <p:cNvSpPr/>
          <p:nvPr/>
        </p:nvSpPr>
        <p:spPr>
          <a:xfrm>
            <a:off x="457200" y="2651760"/>
            <a:ext cx="11247120" cy="77724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5" name="Google Shape;1625;p31"/>
          <p:cNvSpPr/>
          <p:nvPr/>
        </p:nvSpPr>
        <p:spPr>
          <a:xfrm>
            <a:off x="457200" y="2651760"/>
            <a:ext cx="137160" cy="77724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6" name="Google Shape;1626;p31"/>
          <p:cNvSpPr/>
          <p:nvPr/>
        </p:nvSpPr>
        <p:spPr>
          <a:xfrm>
            <a:off x="548640" y="2651760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Lluviosa moderada (32 m³)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31"/>
          <p:cNvSpPr/>
          <p:nvPr/>
        </p:nvSpPr>
        <p:spPr>
          <a:xfrm>
            <a:off x="4754880" y="265176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Q57.04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31"/>
          <p:cNvSpPr/>
          <p:nvPr/>
        </p:nvSpPr>
        <p:spPr>
          <a:xfrm>
            <a:off x="6583680" y="265176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855 m³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31"/>
          <p:cNvSpPr/>
          <p:nvPr/>
        </p:nvSpPr>
        <p:spPr>
          <a:xfrm>
            <a:off x="8412480" y="265176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onsolas"/>
              <a:buNone/>
            </a:pPr>
            <a:r>
              <a:rPr lang="en-US" sz="16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Q48,769.20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31"/>
          <p:cNvSpPr/>
          <p:nvPr/>
        </p:nvSpPr>
        <p:spPr>
          <a:xfrm>
            <a:off x="457200" y="3429000"/>
            <a:ext cx="11247120" cy="777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1" name="Google Shape;1631;p31"/>
          <p:cNvSpPr/>
          <p:nvPr/>
        </p:nvSpPr>
        <p:spPr>
          <a:xfrm>
            <a:off x="457200" y="3429000"/>
            <a:ext cx="137160" cy="77724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2" name="Google Shape;1632;p31"/>
          <p:cNvSpPr/>
          <p:nvPr/>
        </p:nvSpPr>
        <p:spPr>
          <a:xfrm>
            <a:off x="548640" y="3429000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Lluviosa severa (20 m³)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31"/>
          <p:cNvSpPr/>
          <p:nvPr/>
        </p:nvSpPr>
        <p:spPr>
          <a:xfrm>
            <a:off x="4754880" y="342900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Q91.02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31"/>
          <p:cNvSpPr/>
          <p:nvPr/>
        </p:nvSpPr>
        <p:spPr>
          <a:xfrm>
            <a:off x="6583680" y="342900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855 m³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31"/>
          <p:cNvSpPr/>
          <p:nvPr/>
        </p:nvSpPr>
        <p:spPr>
          <a:xfrm>
            <a:off x="8412480" y="34290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Consolas"/>
              <a:buNone/>
            </a:pPr>
            <a:r>
              <a:rPr lang="en-US" sz="160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Q77,822.10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31"/>
          <p:cNvSpPr/>
          <p:nvPr/>
        </p:nvSpPr>
        <p:spPr>
          <a:xfrm>
            <a:off x="457200" y="4434840"/>
            <a:ext cx="11247120" cy="201168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7" name="Google Shape;1637;p31"/>
          <p:cNvSpPr/>
          <p:nvPr/>
        </p:nvSpPr>
        <p:spPr>
          <a:xfrm>
            <a:off x="640080" y="452628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IMPACTO RELATIVO AL ESCENARIO BASE  ·  Δ MENSUAL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31"/>
          <p:cNvSpPr/>
          <p:nvPr/>
        </p:nvSpPr>
        <p:spPr>
          <a:xfrm>
            <a:off x="640080" y="49377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Lluvia moderada vs seca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31"/>
          <p:cNvSpPr/>
          <p:nvPr/>
        </p:nvSpPr>
        <p:spPr>
          <a:xfrm>
            <a:off x="4480560" y="49377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+ Q38,081.70 / mes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31"/>
          <p:cNvSpPr/>
          <p:nvPr/>
        </p:nvSpPr>
        <p:spPr>
          <a:xfrm>
            <a:off x="7680960" y="49377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Sobrecosto:  ≈ 3.56 ×  el costo base.  Equivalente a Q1,269 / día.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31"/>
          <p:cNvSpPr/>
          <p:nvPr/>
        </p:nvSpPr>
        <p:spPr>
          <a:xfrm>
            <a:off x="640080" y="548640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Lluvia severa vs seca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31"/>
          <p:cNvSpPr/>
          <p:nvPr/>
        </p:nvSpPr>
        <p:spPr>
          <a:xfrm>
            <a:off x="4480560" y="54864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+ Q67,134.60 / mes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31"/>
          <p:cNvSpPr/>
          <p:nvPr/>
        </p:nvSpPr>
        <p:spPr>
          <a:xfrm>
            <a:off x="7680960" y="54864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Sobrecosto:  ≈ 6.28 ×  el costo base.  Equivalente a Q2,238 / día.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31"/>
          <p:cNvSpPr/>
          <p:nvPr/>
        </p:nvSpPr>
        <p:spPr>
          <a:xfrm>
            <a:off x="640080" y="60350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Diferencia entre lluvia moderada y severa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31"/>
          <p:cNvSpPr/>
          <p:nvPr/>
        </p:nvSpPr>
        <p:spPr>
          <a:xfrm>
            <a:off x="4480560" y="60350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+ Q29,052.90 / mes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31"/>
          <p:cNvSpPr/>
          <p:nvPr/>
        </p:nvSpPr>
        <p:spPr>
          <a:xfrm>
            <a:off x="7680960" y="603504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Misma dosis, menor rendimiento por turbidez extrema:  bajar a 20 m³/dosis encarece +60 %.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32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3" name="Google Shape;1653;p32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4" name="Google Shape;1654;p32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Proyección anual del costo químico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32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Anualización de los tres escenarios y sensibilidad por volumen procesado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32"/>
          <p:cNvSpPr/>
          <p:nvPr/>
        </p:nvSpPr>
        <p:spPr>
          <a:xfrm>
            <a:off x="457200" y="1417320"/>
            <a:ext cx="3566160" cy="2377440"/>
          </a:xfrm>
          <a:prstGeom prst="rect">
            <a:avLst/>
          </a:prstGeom>
          <a:solidFill>
            <a:srgbClr val="F0F4FA"/>
          </a:solidFill>
          <a:ln w="1905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7" name="Google Shape;1657;p32"/>
          <p:cNvSpPr/>
          <p:nvPr/>
        </p:nvSpPr>
        <p:spPr>
          <a:xfrm>
            <a:off x="457200" y="1417320"/>
            <a:ext cx="3566160" cy="5029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8" name="Google Shape;1658;p32"/>
          <p:cNvSpPr/>
          <p:nvPr/>
        </p:nvSpPr>
        <p:spPr>
          <a:xfrm>
            <a:off x="594360" y="146304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 BASE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32"/>
          <p:cNvSpPr/>
          <p:nvPr/>
        </p:nvSpPr>
        <p:spPr>
          <a:xfrm>
            <a:off x="594360" y="199339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Todo el año en época seca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32"/>
          <p:cNvSpPr/>
          <p:nvPr/>
        </p:nvSpPr>
        <p:spPr>
          <a:xfrm>
            <a:off x="594360" y="233172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Q128,250</a:t>
            </a:r>
            <a:r>
              <a:rPr lang="en-US" sz="12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/ año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32"/>
          <p:cNvSpPr/>
          <p:nvPr/>
        </p:nvSpPr>
        <p:spPr>
          <a:xfrm>
            <a:off x="594360" y="301752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10,260 m³ tratados @ Q12.50 / m³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32"/>
          <p:cNvSpPr/>
          <p:nvPr/>
        </p:nvSpPr>
        <p:spPr>
          <a:xfrm>
            <a:off x="4297680" y="1417320"/>
            <a:ext cx="3566160" cy="2377440"/>
          </a:xfrm>
          <a:prstGeom prst="rect">
            <a:avLst/>
          </a:prstGeom>
          <a:solidFill>
            <a:srgbClr val="F0F4FA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3" name="Google Shape;1663;p32"/>
          <p:cNvSpPr/>
          <p:nvPr/>
        </p:nvSpPr>
        <p:spPr>
          <a:xfrm>
            <a:off x="4297680" y="1417320"/>
            <a:ext cx="3566160" cy="5029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4" name="Google Shape;1664;p32"/>
          <p:cNvSpPr/>
          <p:nvPr/>
        </p:nvSpPr>
        <p:spPr>
          <a:xfrm>
            <a:off x="4434840" y="146304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 MEDIO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32"/>
          <p:cNvSpPr/>
          <p:nvPr/>
        </p:nvSpPr>
        <p:spPr>
          <a:xfrm>
            <a:off x="4434840" y="199339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8 meses seca + 4 meses lluvia mod.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32"/>
          <p:cNvSpPr/>
          <p:nvPr/>
        </p:nvSpPr>
        <p:spPr>
          <a:xfrm>
            <a:off x="4434840" y="233172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Q278,825</a:t>
            </a:r>
            <a:r>
              <a:rPr lang="en-US" sz="12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/ año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32"/>
          <p:cNvSpPr/>
          <p:nvPr/>
        </p:nvSpPr>
        <p:spPr>
          <a:xfrm>
            <a:off x="4434840" y="301752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10,260 m³  ·  promedio ponderado Q27.18 / m³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32"/>
          <p:cNvSpPr/>
          <p:nvPr/>
        </p:nvSpPr>
        <p:spPr>
          <a:xfrm>
            <a:off x="8138160" y="1417320"/>
            <a:ext cx="3566160" cy="2377440"/>
          </a:xfrm>
          <a:prstGeom prst="rect">
            <a:avLst/>
          </a:prstGeom>
          <a:solidFill>
            <a:srgbClr val="F0F4FA"/>
          </a:solidFill>
          <a:ln w="1905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9" name="Google Shape;1669;p32"/>
          <p:cNvSpPr/>
          <p:nvPr/>
        </p:nvSpPr>
        <p:spPr>
          <a:xfrm>
            <a:off x="8138160" y="1417320"/>
            <a:ext cx="3566160" cy="5029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0" name="Google Shape;1670;p32"/>
          <p:cNvSpPr/>
          <p:nvPr/>
        </p:nvSpPr>
        <p:spPr>
          <a:xfrm>
            <a:off x="8275320" y="146304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 MÁXIMO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32"/>
          <p:cNvSpPr/>
          <p:nvPr/>
        </p:nvSpPr>
        <p:spPr>
          <a:xfrm>
            <a:off x="8275320" y="199339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Todo el año en lluvia severa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32"/>
          <p:cNvSpPr/>
          <p:nvPr/>
        </p:nvSpPr>
        <p:spPr>
          <a:xfrm>
            <a:off x="8275320" y="233172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Q933,865</a:t>
            </a:r>
            <a:r>
              <a:rPr lang="en-US" sz="12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/ año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32"/>
          <p:cNvSpPr/>
          <p:nvPr/>
        </p:nvSpPr>
        <p:spPr>
          <a:xfrm>
            <a:off x="8275320" y="301752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10,260 m³ tratados @ Q91.02 / m³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32"/>
          <p:cNvSpPr/>
          <p:nvPr/>
        </p:nvSpPr>
        <p:spPr>
          <a:xfrm>
            <a:off x="457200" y="4023360"/>
            <a:ext cx="11247120" cy="24231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5" name="Google Shape;1675;p32"/>
          <p:cNvSpPr/>
          <p:nvPr/>
        </p:nvSpPr>
        <p:spPr>
          <a:xfrm>
            <a:off x="640080" y="411480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SENSIBILIDAD AL VOLUMEN PROCESADO  (costo anual)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32"/>
          <p:cNvSpPr/>
          <p:nvPr/>
        </p:nvSpPr>
        <p:spPr>
          <a:xfrm>
            <a:off x="640080" y="44805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Vol. mensual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32"/>
          <p:cNvSpPr/>
          <p:nvPr/>
        </p:nvSpPr>
        <p:spPr>
          <a:xfrm>
            <a:off x="2194560" y="44805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Vol. anual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32"/>
          <p:cNvSpPr/>
          <p:nvPr/>
        </p:nvSpPr>
        <p:spPr>
          <a:xfrm>
            <a:off x="3749040" y="44805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Seca (Q12.50/m³)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32"/>
          <p:cNvSpPr/>
          <p:nvPr/>
        </p:nvSpPr>
        <p:spPr>
          <a:xfrm>
            <a:off x="6126480" y="44805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Lluvia mod. (Q57.04/m³)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32"/>
          <p:cNvSpPr/>
          <p:nvPr/>
        </p:nvSpPr>
        <p:spPr>
          <a:xfrm>
            <a:off x="8869680" y="44805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Lluvia sev. (Q91.02/m³)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1" name="Google Shape;1681;p32"/>
          <p:cNvCxnSpPr/>
          <p:nvPr/>
        </p:nvCxnSpPr>
        <p:spPr>
          <a:xfrm>
            <a:off x="640080" y="4818888"/>
            <a:ext cx="10881360" cy="0"/>
          </a:xfrm>
          <a:prstGeom prst="straightConnector1">
            <a:avLst/>
          </a:prstGeom>
          <a:noFill/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82" name="Google Shape;1682;p32"/>
          <p:cNvSpPr/>
          <p:nvPr/>
        </p:nvSpPr>
        <p:spPr>
          <a:xfrm>
            <a:off x="640080" y="48920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600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32"/>
          <p:cNvSpPr/>
          <p:nvPr/>
        </p:nvSpPr>
        <p:spPr>
          <a:xfrm>
            <a:off x="2194560" y="48920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7,200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32"/>
          <p:cNvSpPr/>
          <p:nvPr/>
        </p:nvSpPr>
        <p:spPr>
          <a:xfrm>
            <a:off x="3749040" y="48920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Q90,000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32"/>
          <p:cNvSpPr/>
          <p:nvPr/>
        </p:nvSpPr>
        <p:spPr>
          <a:xfrm>
            <a:off x="6126480" y="489204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Q410,688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32"/>
          <p:cNvSpPr/>
          <p:nvPr/>
        </p:nvSpPr>
        <p:spPr>
          <a:xfrm>
            <a:off x="8869680" y="489204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Q655,344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32"/>
          <p:cNvSpPr/>
          <p:nvPr/>
        </p:nvSpPr>
        <p:spPr>
          <a:xfrm>
            <a:off x="640080" y="52578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855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32"/>
          <p:cNvSpPr/>
          <p:nvPr/>
        </p:nvSpPr>
        <p:spPr>
          <a:xfrm>
            <a:off x="2194560" y="52578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10,260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32"/>
          <p:cNvSpPr/>
          <p:nvPr/>
        </p:nvSpPr>
        <p:spPr>
          <a:xfrm>
            <a:off x="3749040" y="5257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Q128,250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32"/>
          <p:cNvSpPr/>
          <p:nvPr/>
        </p:nvSpPr>
        <p:spPr>
          <a:xfrm>
            <a:off x="6126480" y="52578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Q585,230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32"/>
          <p:cNvSpPr/>
          <p:nvPr/>
        </p:nvSpPr>
        <p:spPr>
          <a:xfrm>
            <a:off x="8869680" y="52578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Q933,865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32"/>
          <p:cNvSpPr/>
          <p:nvPr/>
        </p:nvSpPr>
        <p:spPr>
          <a:xfrm>
            <a:off x="640080" y="56235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1,000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32"/>
          <p:cNvSpPr/>
          <p:nvPr/>
        </p:nvSpPr>
        <p:spPr>
          <a:xfrm>
            <a:off x="2194560" y="56235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12,000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32"/>
          <p:cNvSpPr/>
          <p:nvPr/>
        </p:nvSpPr>
        <p:spPr>
          <a:xfrm>
            <a:off x="3749040" y="56235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Q150,000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32"/>
          <p:cNvSpPr/>
          <p:nvPr/>
        </p:nvSpPr>
        <p:spPr>
          <a:xfrm>
            <a:off x="6126480" y="56235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Q684,480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32"/>
          <p:cNvSpPr/>
          <p:nvPr/>
        </p:nvSpPr>
        <p:spPr>
          <a:xfrm>
            <a:off x="8869680" y="56235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Q1,092,240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p32"/>
          <p:cNvSpPr/>
          <p:nvPr/>
        </p:nvSpPr>
        <p:spPr>
          <a:xfrm>
            <a:off x="640080" y="598932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1,500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32"/>
          <p:cNvSpPr/>
          <p:nvPr/>
        </p:nvSpPr>
        <p:spPr>
          <a:xfrm>
            <a:off x="2194560" y="598932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18,000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32"/>
          <p:cNvSpPr/>
          <p:nvPr/>
        </p:nvSpPr>
        <p:spPr>
          <a:xfrm>
            <a:off x="3749040" y="59893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Q225,000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32"/>
          <p:cNvSpPr/>
          <p:nvPr/>
        </p:nvSpPr>
        <p:spPr>
          <a:xfrm>
            <a:off x="6126480" y="59893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Q1,026,720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32"/>
          <p:cNvSpPr/>
          <p:nvPr/>
        </p:nvSpPr>
        <p:spPr>
          <a:xfrm>
            <a:off x="8869680" y="59893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Q1,638,360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32"/>
          <p:cNvSpPr/>
          <p:nvPr/>
        </p:nvSpPr>
        <p:spPr>
          <a:xfrm>
            <a:off x="640080" y="6263640"/>
            <a:ext cx="10881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*  La fila marcada corresponde al volumen actual estimado (855 m³/mes).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33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9" name="Google Shape;1709;p33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0" name="Google Shape;1710;p3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Consumo mensual de insumos por escenario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33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Cantidad física de cada producto requerida para procesar 855 m³ al mes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33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3" name="Google Shape;1713;p33"/>
          <p:cNvSpPr/>
          <p:nvPr/>
        </p:nvSpPr>
        <p:spPr>
          <a:xfrm>
            <a:off x="54864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Insumo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33"/>
          <p:cNvSpPr/>
          <p:nvPr/>
        </p:nvSpPr>
        <p:spPr>
          <a:xfrm>
            <a:off x="3291840" y="14173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Presentación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33"/>
          <p:cNvSpPr/>
          <p:nvPr/>
        </p:nvSpPr>
        <p:spPr>
          <a:xfrm>
            <a:off x="5303520" y="14173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33"/>
          <p:cNvSpPr/>
          <p:nvPr/>
        </p:nvSpPr>
        <p:spPr>
          <a:xfrm>
            <a:off x="7406640" y="14173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Lluvia mod.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33"/>
          <p:cNvSpPr/>
          <p:nvPr/>
        </p:nvSpPr>
        <p:spPr>
          <a:xfrm>
            <a:off x="9509760" y="14173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Lluvia severa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33"/>
          <p:cNvSpPr/>
          <p:nvPr/>
        </p:nvSpPr>
        <p:spPr>
          <a:xfrm>
            <a:off x="457200" y="1828800"/>
            <a:ext cx="11247120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9" name="Google Shape;1719;p33"/>
          <p:cNvSpPr/>
          <p:nvPr/>
        </p:nvSpPr>
        <p:spPr>
          <a:xfrm>
            <a:off x="548640" y="18288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Poliflocal-C (Cl. 1)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33"/>
          <p:cNvSpPr/>
          <p:nvPr/>
        </p:nvSpPr>
        <p:spPr>
          <a:xfrm>
            <a:off x="3291840" y="18288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Saco 267 kg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33"/>
          <p:cNvSpPr/>
          <p:nvPr/>
        </p:nvSpPr>
        <p:spPr>
          <a:xfrm>
            <a:off x="5303520" y="18288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214 kg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33"/>
          <p:cNvSpPr/>
          <p:nvPr/>
        </p:nvSpPr>
        <p:spPr>
          <a:xfrm>
            <a:off x="7406640" y="18288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1,283 kg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33"/>
          <p:cNvSpPr/>
          <p:nvPr/>
        </p:nvSpPr>
        <p:spPr>
          <a:xfrm>
            <a:off x="9509760" y="182880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2,052 kg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33"/>
          <p:cNvSpPr/>
          <p:nvPr/>
        </p:nvSpPr>
        <p:spPr>
          <a:xfrm>
            <a:off x="457200" y="2331720"/>
            <a:ext cx="11247120" cy="5029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5" name="Google Shape;1725;p33"/>
          <p:cNvSpPr/>
          <p:nvPr/>
        </p:nvSpPr>
        <p:spPr>
          <a:xfrm>
            <a:off x="548640" y="23317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Hipoclorito 10 % (Cl. 1)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33"/>
          <p:cNvSpPr/>
          <p:nvPr/>
        </p:nvSpPr>
        <p:spPr>
          <a:xfrm>
            <a:off x="3291840" y="23317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Caneca 5 gal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33"/>
          <p:cNvSpPr/>
          <p:nvPr/>
        </p:nvSpPr>
        <p:spPr>
          <a:xfrm>
            <a:off x="5303520" y="23317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268 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33"/>
          <p:cNvSpPr/>
          <p:nvPr/>
        </p:nvSpPr>
        <p:spPr>
          <a:xfrm>
            <a:off x="7406640" y="23317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268 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33"/>
          <p:cNvSpPr/>
          <p:nvPr/>
        </p:nvSpPr>
        <p:spPr>
          <a:xfrm>
            <a:off x="9509760" y="23317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428 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33"/>
          <p:cNvSpPr/>
          <p:nvPr/>
        </p:nvSpPr>
        <p:spPr>
          <a:xfrm>
            <a:off x="457200" y="2834640"/>
            <a:ext cx="11247120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1" name="Google Shape;1731;p33"/>
          <p:cNvSpPr/>
          <p:nvPr/>
        </p:nvSpPr>
        <p:spPr>
          <a:xfrm>
            <a:off x="548640" y="28346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Poliacrilamida (Cl. 2)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33"/>
          <p:cNvSpPr/>
          <p:nvPr/>
        </p:nvSpPr>
        <p:spPr>
          <a:xfrm>
            <a:off x="3291840" y="28346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Bolsa 25 kg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33"/>
          <p:cNvSpPr/>
          <p:nvPr/>
        </p:nvSpPr>
        <p:spPr>
          <a:xfrm>
            <a:off x="5303520" y="28346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1.19 kg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33"/>
          <p:cNvSpPr/>
          <p:nvPr/>
        </p:nvSpPr>
        <p:spPr>
          <a:xfrm>
            <a:off x="7406640" y="28346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1.19 kg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33"/>
          <p:cNvSpPr/>
          <p:nvPr/>
        </p:nvSpPr>
        <p:spPr>
          <a:xfrm>
            <a:off x="9509760" y="283464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1.19 kg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33"/>
          <p:cNvSpPr/>
          <p:nvPr/>
        </p:nvSpPr>
        <p:spPr>
          <a:xfrm>
            <a:off x="457200" y="3337560"/>
            <a:ext cx="11247120" cy="5029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7" name="Google Shape;1737;p33"/>
          <p:cNvSpPr/>
          <p:nvPr/>
        </p:nvSpPr>
        <p:spPr>
          <a:xfrm>
            <a:off x="548640" y="333756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PAC — Cl. polialuminio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33"/>
          <p:cNvSpPr/>
          <p:nvPr/>
        </p:nvSpPr>
        <p:spPr>
          <a:xfrm>
            <a:off x="3291840" y="333756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Caneca 25 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33"/>
          <p:cNvSpPr/>
          <p:nvPr/>
        </p:nvSpPr>
        <p:spPr>
          <a:xfrm>
            <a:off x="5303520" y="3337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9.5 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33"/>
          <p:cNvSpPr/>
          <p:nvPr/>
        </p:nvSpPr>
        <p:spPr>
          <a:xfrm>
            <a:off x="7406640" y="3337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9.5 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33"/>
          <p:cNvSpPr/>
          <p:nvPr/>
        </p:nvSpPr>
        <p:spPr>
          <a:xfrm>
            <a:off x="9509760" y="333756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9.5 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33"/>
          <p:cNvSpPr/>
          <p:nvPr/>
        </p:nvSpPr>
        <p:spPr>
          <a:xfrm>
            <a:off x="457200" y="3840480"/>
            <a:ext cx="11247120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3" name="Google Shape;1743;p33"/>
          <p:cNvSpPr/>
          <p:nvPr/>
        </p:nvSpPr>
        <p:spPr>
          <a:xfrm>
            <a:off x="548640" y="38404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Hipoclorito 10 % (Cl. 2)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33"/>
          <p:cNvSpPr/>
          <p:nvPr/>
        </p:nvSpPr>
        <p:spPr>
          <a:xfrm>
            <a:off x="3291840" y="384048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Caneca 5 gal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33"/>
          <p:cNvSpPr/>
          <p:nvPr/>
        </p:nvSpPr>
        <p:spPr>
          <a:xfrm>
            <a:off x="5303520" y="38404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11.9 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33"/>
          <p:cNvSpPr/>
          <p:nvPr/>
        </p:nvSpPr>
        <p:spPr>
          <a:xfrm>
            <a:off x="7406640" y="38404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11.9 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33"/>
          <p:cNvSpPr/>
          <p:nvPr/>
        </p:nvSpPr>
        <p:spPr>
          <a:xfrm>
            <a:off x="9509760" y="38404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11.9 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33"/>
          <p:cNvSpPr/>
          <p:nvPr/>
        </p:nvSpPr>
        <p:spPr>
          <a:xfrm>
            <a:off x="457200" y="4663440"/>
            <a:ext cx="11247120" cy="178308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9" name="Google Shape;1749;p33"/>
          <p:cNvSpPr/>
          <p:nvPr/>
        </p:nvSpPr>
        <p:spPr>
          <a:xfrm>
            <a:off x="640080" y="475488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OBSERVACIÓN CLAVE  ·  el Cl. 1 es el driver del costo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33"/>
          <p:cNvSpPr/>
          <p:nvPr/>
        </p:nvSpPr>
        <p:spPr>
          <a:xfrm>
            <a:off x="640080" y="5074920"/>
            <a:ext cx="1088136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•  En época seca, el Cl. 1 consume  </a:t>
            </a:r>
            <a:r>
              <a:rPr lang="en-US" sz="1050" b="1" i="0" u="none" strike="noStrike" cap="non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214 kg de Poliflocal/mes (~0.8 sacos).  </a:t>
            </a: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 lluvia severa, sube a  </a:t>
            </a: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2,052 kg/mes (~7.7 sacos).  </a:t>
            </a:r>
            <a:r>
              <a:rPr lang="en-US" sz="10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Factor 9.6×.</a:t>
            </a:r>
            <a:br>
              <a:rPr lang="en-US" sz="10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•  El Cl. 2 mantiene un consumo estable de  </a:t>
            </a:r>
            <a:r>
              <a:rPr lang="en-US" sz="1050" b="1" i="0" u="none" strike="noStrike" cap="non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1.19 kg de Poliacrilamida + 9.5 L de PAC al mes  </a:t>
            </a:r>
            <a:r>
              <a:rPr lang="en-US" sz="10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(independiente de la estación).</a:t>
            </a:r>
            <a:br>
              <a:rPr lang="en-US" sz="105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•  El hipoclorito del Cl. 1 sube 60 % en lluvia severa por el doble de dosis (10 → 16 L de baño).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34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7" name="Google Shape;1757;p34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58" name="Google Shape;1758;p34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Hallazgos críticos del diagnóstico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34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Resumen de los 6 puntos de mayor relevancia operativa y económica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34"/>
          <p:cNvSpPr/>
          <p:nvPr/>
        </p:nvSpPr>
        <p:spPr>
          <a:xfrm>
            <a:off x="457200" y="1417320"/>
            <a:ext cx="5532120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1" name="Google Shape;1761;p34"/>
          <p:cNvSpPr/>
          <p:nvPr/>
        </p:nvSpPr>
        <p:spPr>
          <a:xfrm>
            <a:off x="457200" y="1417320"/>
            <a:ext cx="137160" cy="155448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2" name="Google Shape;1762;p34"/>
          <p:cNvSpPr/>
          <p:nvPr/>
        </p:nvSpPr>
        <p:spPr>
          <a:xfrm>
            <a:off x="731520" y="15544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34"/>
          <p:cNvSpPr/>
          <p:nvPr/>
        </p:nvSpPr>
        <p:spPr>
          <a:xfrm>
            <a:off x="1600200" y="1581912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Anomalía en contador Entrada Cl.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34"/>
          <p:cNvSpPr/>
          <p:nvPr/>
        </p:nvSpPr>
        <p:spPr>
          <a:xfrm>
            <a:off x="1600200" y="2011680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Sub-registro de 114 m³ respecto a la salida del mismo clarificador en 6 h. Equipo prioritario para verificación.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34"/>
          <p:cNvSpPr/>
          <p:nvPr/>
        </p:nvSpPr>
        <p:spPr>
          <a:xfrm>
            <a:off x="6172200" y="1417320"/>
            <a:ext cx="5532120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6" name="Google Shape;1766;p34"/>
          <p:cNvSpPr/>
          <p:nvPr/>
        </p:nvSpPr>
        <p:spPr>
          <a:xfrm>
            <a:off x="6172200" y="1417320"/>
            <a:ext cx="137160" cy="155448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7" name="Google Shape;1767;p34"/>
          <p:cNvSpPr/>
          <p:nvPr/>
        </p:nvSpPr>
        <p:spPr>
          <a:xfrm>
            <a:off x="6446520" y="15544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34"/>
          <p:cNvSpPr/>
          <p:nvPr/>
        </p:nvSpPr>
        <p:spPr>
          <a:xfrm>
            <a:off x="7315200" y="1581912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T2 = 2.92 m confirmado por mass balance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34"/>
          <p:cNvSpPr/>
          <p:nvPr/>
        </p:nvSpPr>
        <p:spPr>
          <a:xfrm>
            <a:off x="7315200" y="2011680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El nivel final de T2 quedaba ambiguo en sitio (2.92 m vs 1.50 m). El balance estricto descarta 1.50 m.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34"/>
          <p:cNvSpPr/>
          <p:nvPr/>
        </p:nvSpPr>
        <p:spPr>
          <a:xfrm>
            <a:off x="457200" y="3108960"/>
            <a:ext cx="5532120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34"/>
          <p:cNvSpPr/>
          <p:nvPr/>
        </p:nvSpPr>
        <p:spPr>
          <a:xfrm>
            <a:off x="457200" y="3108960"/>
            <a:ext cx="137160" cy="155448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2" name="Google Shape;1772;p34"/>
          <p:cNvSpPr/>
          <p:nvPr/>
        </p:nvSpPr>
        <p:spPr>
          <a:xfrm>
            <a:off x="731520" y="324612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34"/>
          <p:cNvSpPr/>
          <p:nvPr/>
        </p:nvSpPr>
        <p:spPr>
          <a:xfrm>
            <a:off x="1600200" y="3273552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Razón Cl.2/Cl.1 = 2.74 (coherente)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34"/>
          <p:cNvSpPr/>
          <p:nvPr/>
        </p:nvSpPr>
        <p:spPr>
          <a:xfrm>
            <a:off x="1600200" y="3703320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La proporción medida entre las salidas valida la confiabilidad cruzada de los contadores de salida.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34"/>
          <p:cNvSpPr/>
          <p:nvPr/>
        </p:nvSpPr>
        <p:spPr>
          <a:xfrm>
            <a:off x="6172200" y="3108960"/>
            <a:ext cx="5532120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6" name="Google Shape;1776;p34"/>
          <p:cNvSpPr/>
          <p:nvPr/>
        </p:nvSpPr>
        <p:spPr>
          <a:xfrm>
            <a:off x="6172200" y="3108960"/>
            <a:ext cx="137160" cy="155448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7" name="Google Shape;1777;p34"/>
          <p:cNvSpPr/>
          <p:nvPr/>
        </p:nvSpPr>
        <p:spPr>
          <a:xfrm>
            <a:off x="6446520" y="324612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34"/>
          <p:cNvSpPr/>
          <p:nvPr/>
        </p:nvSpPr>
        <p:spPr>
          <a:xfrm>
            <a:off x="7315200" y="3273552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Cl. 2 opera en pulsos (45 % del tiempo)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34"/>
          <p:cNvSpPr/>
          <p:nvPr/>
        </p:nvSpPr>
        <p:spPr>
          <a:xfrm>
            <a:off x="7315200" y="3703320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Aforo 28-63 m³/h vs promedio 12-31 m³/h. Confirma que el equipo arranca y para — no opera continuamente.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34"/>
          <p:cNvSpPr/>
          <p:nvPr/>
        </p:nvSpPr>
        <p:spPr>
          <a:xfrm>
            <a:off x="457200" y="4800600"/>
            <a:ext cx="5532120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1" name="Google Shape;1781;p34"/>
          <p:cNvSpPr/>
          <p:nvPr/>
        </p:nvSpPr>
        <p:spPr>
          <a:xfrm>
            <a:off x="457200" y="4800600"/>
            <a:ext cx="137160" cy="155448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2" name="Google Shape;1782;p34"/>
          <p:cNvSpPr/>
          <p:nvPr/>
        </p:nvSpPr>
        <p:spPr>
          <a:xfrm>
            <a:off x="731520" y="4937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34"/>
          <p:cNvSpPr/>
          <p:nvPr/>
        </p:nvSpPr>
        <p:spPr>
          <a:xfrm>
            <a:off x="1600200" y="4965192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Cl. 1 al 100 % de su nominal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34"/>
          <p:cNvSpPr/>
          <p:nvPr/>
        </p:nvSpPr>
        <p:spPr>
          <a:xfrm>
            <a:off x="1600200" y="5394960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11.29 m³/h medido vs 11.36 m³/h de diseño. Excelente desempeño operativo en régimen continuo.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34"/>
          <p:cNvSpPr/>
          <p:nvPr/>
        </p:nvSpPr>
        <p:spPr>
          <a:xfrm>
            <a:off x="6172200" y="4800600"/>
            <a:ext cx="5532120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6" name="Google Shape;1786;p34"/>
          <p:cNvSpPr/>
          <p:nvPr/>
        </p:nvSpPr>
        <p:spPr>
          <a:xfrm>
            <a:off x="6172200" y="4800600"/>
            <a:ext cx="137160" cy="1554480"/>
          </a:xfrm>
          <a:prstGeom prst="rect">
            <a:avLst/>
          </a:prstGeom>
          <a:solidFill>
            <a:srgbClr val="21295C"/>
          </a:solidFill>
          <a:ln w="12700" cap="flat" cmpd="sng">
            <a:solidFill>
              <a:srgbClr val="2129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7" name="Google Shape;1787;p34"/>
          <p:cNvSpPr/>
          <p:nvPr/>
        </p:nvSpPr>
        <p:spPr>
          <a:xfrm>
            <a:off x="6446520" y="4937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34"/>
          <p:cNvSpPr/>
          <p:nvPr/>
        </p:nvSpPr>
        <p:spPr>
          <a:xfrm>
            <a:off x="7315200" y="4965192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Costo químico 7.3× mayor en lluvia severa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34"/>
          <p:cNvSpPr/>
          <p:nvPr/>
        </p:nvSpPr>
        <p:spPr>
          <a:xfrm>
            <a:off x="7315200" y="5394960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De Q12.50/m³ en seca a Q91.02/m³ en lluvia severa. Impacto anual hasta Q934 K vs Q128 K base.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35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6" name="Google Shape;1796;p35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97" name="Google Shape;1797;p35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Detalle de anomalías y desviaciones por contador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35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Cada medidor categorizado por nivel de confianza y acción requerida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35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0" name="Google Shape;1800;p35"/>
          <p:cNvSpPr/>
          <p:nvPr/>
        </p:nvSpPr>
        <p:spPr>
          <a:xfrm>
            <a:off x="548640" y="14173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Contador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35"/>
          <p:cNvSpPr/>
          <p:nvPr/>
        </p:nvSpPr>
        <p:spPr>
          <a:xfrm>
            <a:off x="2743200" y="14173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 de anomalía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35"/>
          <p:cNvSpPr/>
          <p:nvPr/>
        </p:nvSpPr>
        <p:spPr>
          <a:xfrm>
            <a:off x="5394960" y="14173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Magnitud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35"/>
          <p:cNvSpPr/>
          <p:nvPr/>
        </p:nvSpPr>
        <p:spPr>
          <a:xfrm>
            <a:off x="7589520" y="14173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Prioridad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35"/>
          <p:cNvSpPr/>
          <p:nvPr/>
        </p:nvSpPr>
        <p:spPr>
          <a:xfrm>
            <a:off x="8961120" y="14173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Acción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35"/>
          <p:cNvSpPr/>
          <p:nvPr/>
        </p:nvSpPr>
        <p:spPr>
          <a:xfrm>
            <a:off x="457200" y="1828800"/>
            <a:ext cx="11247120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6" name="Google Shape;1806;p35"/>
          <p:cNvSpPr/>
          <p:nvPr/>
        </p:nvSpPr>
        <p:spPr>
          <a:xfrm>
            <a:off x="457200" y="1828800"/>
            <a:ext cx="91440" cy="5029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7" name="Google Shape;1807;p35"/>
          <p:cNvSpPr/>
          <p:nvPr/>
        </p:nvSpPr>
        <p:spPr>
          <a:xfrm>
            <a:off x="594360" y="182880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Entrada Cl.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35"/>
          <p:cNvSpPr/>
          <p:nvPr/>
        </p:nvSpPr>
        <p:spPr>
          <a:xfrm>
            <a:off x="2788920" y="182880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Sub-registro grueso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35"/>
          <p:cNvSpPr/>
          <p:nvPr/>
        </p:nvSpPr>
        <p:spPr>
          <a:xfrm>
            <a:off x="5440680" y="182880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−114 m³ (−59 %)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35"/>
          <p:cNvSpPr/>
          <p:nvPr/>
        </p:nvSpPr>
        <p:spPr>
          <a:xfrm>
            <a:off x="7635240" y="182880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35"/>
          <p:cNvSpPr/>
          <p:nvPr/>
        </p:nvSpPr>
        <p:spPr>
          <a:xfrm>
            <a:off x="9006840" y="18288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Verificar / calibrar / inspeccionar tubería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35"/>
          <p:cNvSpPr/>
          <p:nvPr/>
        </p:nvSpPr>
        <p:spPr>
          <a:xfrm>
            <a:off x="457200" y="2331720"/>
            <a:ext cx="11247120" cy="5029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3" name="Google Shape;1813;p35"/>
          <p:cNvSpPr/>
          <p:nvPr/>
        </p:nvSpPr>
        <p:spPr>
          <a:xfrm>
            <a:off x="457200" y="2331720"/>
            <a:ext cx="91440" cy="5029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4" name="Google Shape;1814;p35"/>
          <p:cNvSpPr/>
          <p:nvPr/>
        </p:nvSpPr>
        <p:spPr>
          <a:xfrm>
            <a:off x="594360" y="23317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Principal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5" name="Google Shape;1815;p35"/>
          <p:cNvSpPr/>
          <p:nvPr/>
        </p:nvSpPr>
        <p:spPr>
          <a:xfrm>
            <a:off x="2788920" y="233172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Aforo &lt; promedio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35"/>
          <p:cNvSpPr/>
          <p:nvPr/>
        </p:nvSpPr>
        <p:spPr>
          <a:xfrm>
            <a:off x="5440680" y="23317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+34 % (acumulado)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35"/>
          <p:cNvSpPr/>
          <p:nvPr/>
        </p:nvSpPr>
        <p:spPr>
          <a:xfrm>
            <a:off x="7635240" y="233172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35"/>
          <p:cNvSpPr/>
          <p:nvPr/>
        </p:nvSpPr>
        <p:spPr>
          <a:xfrm>
            <a:off x="9006840" y="233172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Repetir aforo con mayor tiempo de medición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35"/>
          <p:cNvSpPr/>
          <p:nvPr/>
        </p:nvSpPr>
        <p:spPr>
          <a:xfrm>
            <a:off x="457200" y="2834640"/>
            <a:ext cx="11247120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0" name="Google Shape;1820;p35"/>
          <p:cNvSpPr/>
          <p:nvPr/>
        </p:nvSpPr>
        <p:spPr>
          <a:xfrm>
            <a:off x="457200" y="2834640"/>
            <a:ext cx="91440" cy="502920"/>
          </a:xfrm>
          <a:prstGeom prst="rect">
            <a:avLst/>
          </a:prstGeom>
          <a:solidFill>
            <a:srgbClr val="5A6C7D"/>
          </a:solidFill>
          <a:ln w="12700" cap="flat" cmpd="sng">
            <a:solidFill>
              <a:srgbClr val="5A6C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1" name="Google Shape;1821;p35"/>
          <p:cNvSpPr/>
          <p:nvPr/>
        </p:nvSpPr>
        <p:spPr>
          <a:xfrm>
            <a:off x="594360" y="283464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B. Auxiliar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35"/>
          <p:cNvSpPr/>
          <p:nvPr/>
        </p:nvSpPr>
        <p:spPr>
          <a:xfrm>
            <a:off x="2788920" y="283464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Apagado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35"/>
          <p:cNvSpPr/>
          <p:nvPr/>
        </p:nvSpPr>
        <p:spPr>
          <a:xfrm>
            <a:off x="5440680" y="283464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0 m³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35"/>
          <p:cNvSpPr/>
          <p:nvPr/>
        </p:nvSpPr>
        <p:spPr>
          <a:xfrm>
            <a:off x="7635240" y="283464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BAJA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35"/>
          <p:cNvSpPr/>
          <p:nvPr/>
        </p:nvSpPr>
        <p:spPr>
          <a:xfrm>
            <a:off x="9006840" y="283464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Sin acción · operación normal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35"/>
          <p:cNvSpPr/>
          <p:nvPr/>
        </p:nvSpPr>
        <p:spPr>
          <a:xfrm>
            <a:off x="457200" y="3337560"/>
            <a:ext cx="11247120" cy="5029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7" name="Google Shape;1827;p35"/>
          <p:cNvSpPr/>
          <p:nvPr/>
        </p:nvSpPr>
        <p:spPr>
          <a:xfrm>
            <a:off x="457200" y="3337560"/>
            <a:ext cx="91440" cy="5029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8" name="Google Shape;1828;p35"/>
          <p:cNvSpPr/>
          <p:nvPr/>
        </p:nvSpPr>
        <p:spPr>
          <a:xfrm>
            <a:off x="594360" y="33375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Cl.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35"/>
          <p:cNvSpPr/>
          <p:nvPr/>
        </p:nvSpPr>
        <p:spPr>
          <a:xfrm>
            <a:off x="2788920" y="333756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Sin anomalía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35"/>
          <p:cNvSpPr/>
          <p:nvPr/>
        </p:nvSpPr>
        <p:spPr>
          <a:xfrm>
            <a:off x="5440680" y="33375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−7 % (mínima)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35"/>
          <p:cNvSpPr/>
          <p:nvPr/>
        </p:nvSpPr>
        <p:spPr>
          <a:xfrm>
            <a:off x="7635240" y="333756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35"/>
          <p:cNvSpPr/>
          <p:nvPr/>
        </p:nvSpPr>
        <p:spPr>
          <a:xfrm>
            <a:off x="9006840" y="333756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Mantener protocolo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35"/>
          <p:cNvSpPr/>
          <p:nvPr/>
        </p:nvSpPr>
        <p:spPr>
          <a:xfrm>
            <a:off x="457200" y="3840480"/>
            <a:ext cx="11247120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4" name="Google Shape;1834;p35"/>
          <p:cNvSpPr/>
          <p:nvPr/>
        </p:nvSpPr>
        <p:spPr>
          <a:xfrm>
            <a:off x="457200" y="3840480"/>
            <a:ext cx="91440" cy="5029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5" name="Google Shape;1835;p35"/>
          <p:cNvSpPr/>
          <p:nvPr/>
        </p:nvSpPr>
        <p:spPr>
          <a:xfrm>
            <a:off x="594360" y="384048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Cl.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35"/>
          <p:cNvSpPr/>
          <p:nvPr/>
        </p:nvSpPr>
        <p:spPr>
          <a:xfrm>
            <a:off x="2788920" y="384048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Sin anomalía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35"/>
          <p:cNvSpPr/>
          <p:nvPr/>
        </p:nvSpPr>
        <p:spPr>
          <a:xfrm>
            <a:off x="5440680" y="384048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Operación pulsante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35"/>
          <p:cNvSpPr/>
          <p:nvPr/>
        </p:nvSpPr>
        <p:spPr>
          <a:xfrm>
            <a:off x="7635240" y="384048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35"/>
          <p:cNvSpPr/>
          <p:nvPr/>
        </p:nvSpPr>
        <p:spPr>
          <a:xfrm>
            <a:off x="9006840" y="384048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Documentar régimen real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35"/>
          <p:cNvSpPr/>
          <p:nvPr/>
        </p:nvSpPr>
        <p:spPr>
          <a:xfrm>
            <a:off x="457200" y="4343400"/>
            <a:ext cx="11247120" cy="5029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1" name="Google Shape;1841;p35"/>
          <p:cNvSpPr/>
          <p:nvPr/>
        </p:nvSpPr>
        <p:spPr>
          <a:xfrm>
            <a:off x="457200" y="4343400"/>
            <a:ext cx="91440" cy="5029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2" name="Google Shape;1842;p35"/>
          <p:cNvSpPr/>
          <p:nvPr/>
        </p:nvSpPr>
        <p:spPr>
          <a:xfrm>
            <a:off x="594360" y="434340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35"/>
          <p:cNvSpPr/>
          <p:nvPr/>
        </p:nvSpPr>
        <p:spPr>
          <a:xfrm>
            <a:off x="2788920" y="434340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Sin aforo cronom.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35"/>
          <p:cNvSpPr/>
          <p:nvPr/>
        </p:nvSpPr>
        <p:spPr>
          <a:xfrm>
            <a:off x="5440680" y="434340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35"/>
          <p:cNvSpPr/>
          <p:nvPr/>
        </p:nvSpPr>
        <p:spPr>
          <a:xfrm>
            <a:off x="7635240" y="434340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35"/>
          <p:cNvSpPr/>
          <p:nvPr/>
        </p:nvSpPr>
        <p:spPr>
          <a:xfrm>
            <a:off x="9006840" y="43434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Aforar en próxima visita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p35"/>
          <p:cNvSpPr/>
          <p:nvPr/>
        </p:nvSpPr>
        <p:spPr>
          <a:xfrm>
            <a:off x="457200" y="4846320"/>
            <a:ext cx="11247120" cy="5029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8" name="Google Shape;1848;p35"/>
          <p:cNvSpPr/>
          <p:nvPr/>
        </p:nvSpPr>
        <p:spPr>
          <a:xfrm>
            <a:off x="457200" y="4846320"/>
            <a:ext cx="91440" cy="5029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9" name="Google Shape;1849;p35"/>
          <p:cNvSpPr/>
          <p:nvPr/>
        </p:nvSpPr>
        <p:spPr>
          <a:xfrm>
            <a:off x="594360" y="48463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Salida CNP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35"/>
          <p:cNvSpPr/>
          <p:nvPr/>
        </p:nvSpPr>
        <p:spPr>
          <a:xfrm>
            <a:off x="2788920" y="484632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Sin aforo cronom.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35"/>
          <p:cNvSpPr/>
          <p:nvPr/>
        </p:nvSpPr>
        <p:spPr>
          <a:xfrm>
            <a:off x="5440680" y="48463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35"/>
          <p:cNvSpPr/>
          <p:nvPr/>
        </p:nvSpPr>
        <p:spPr>
          <a:xfrm>
            <a:off x="7635240" y="484632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35"/>
          <p:cNvSpPr/>
          <p:nvPr/>
        </p:nvSpPr>
        <p:spPr>
          <a:xfrm>
            <a:off x="9006840" y="484632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Aforar en próxima visita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35"/>
          <p:cNvSpPr/>
          <p:nvPr/>
        </p:nvSpPr>
        <p:spPr>
          <a:xfrm>
            <a:off x="457200" y="5349240"/>
            <a:ext cx="11247120" cy="50292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5" name="Google Shape;1855;p35"/>
          <p:cNvSpPr/>
          <p:nvPr/>
        </p:nvSpPr>
        <p:spPr>
          <a:xfrm>
            <a:off x="457200" y="5349240"/>
            <a:ext cx="91440" cy="5029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6" name="Google Shape;1856;p35"/>
          <p:cNvSpPr/>
          <p:nvPr/>
        </p:nvSpPr>
        <p:spPr>
          <a:xfrm>
            <a:off x="594360" y="534924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Agua potable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35"/>
          <p:cNvSpPr/>
          <p:nvPr/>
        </p:nvSpPr>
        <p:spPr>
          <a:xfrm>
            <a:off x="2788920" y="534924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Sin aforo cronom.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35"/>
          <p:cNvSpPr/>
          <p:nvPr/>
        </p:nvSpPr>
        <p:spPr>
          <a:xfrm>
            <a:off x="5440680" y="534924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35"/>
          <p:cNvSpPr/>
          <p:nvPr/>
        </p:nvSpPr>
        <p:spPr>
          <a:xfrm>
            <a:off x="7635240" y="534924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p35"/>
          <p:cNvSpPr/>
          <p:nvPr/>
        </p:nvSpPr>
        <p:spPr>
          <a:xfrm>
            <a:off x="9006840" y="534924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Aforar en próxima visita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35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solidFill>
            <a:srgbClr val="21295C"/>
          </a:solidFill>
          <a:ln w="12700" cap="flat" cmpd="sng">
            <a:solidFill>
              <a:srgbClr val="2129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2" name="Google Shape;1862;p35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RESUMEN:  </a:t>
            </a:r>
            <a:r>
              <a:rPr lang="en-US" sz="10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 contador con anomalía crítica (Entrada Cl. 2) · 5 contadores pendientes de aforo cronometrado · 2 contadores confiables.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36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9" name="Google Shape;1869;p36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70" name="Google Shape;1870;p36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Recomendaciones técnicas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36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Acciones específicas derivadas del diagnóstico — ordenadas por urgencia y costo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2" name="Google Shape;1872;p36"/>
          <p:cNvSpPr/>
          <p:nvPr/>
        </p:nvSpPr>
        <p:spPr>
          <a:xfrm>
            <a:off x="457200" y="1417320"/>
            <a:ext cx="5532120" cy="155448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3" name="Google Shape;1873;p36"/>
          <p:cNvSpPr/>
          <p:nvPr/>
        </p:nvSpPr>
        <p:spPr>
          <a:xfrm>
            <a:off x="457200" y="1417320"/>
            <a:ext cx="5532120" cy="36576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4" name="Google Shape;1874;p36"/>
          <p:cNvSpPr/>
          <p:nvPr/>
        </p:nvSpPr>
        <p:spPr>
          <a:xfrm>
            <a:off x="594360" y="14630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36"/>
          <p:cNvSpPr/>
          <p:nvPr/>
        </p:nvSpPr>
        <p:spPr>
          <a:xfrm>
            <a:off x="1097280" y="14630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INMEDIATA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36"/>
          <p:cNvSpPr/>
          <p:nvPr/>
        </p:nvSpPr>
        <p:spPr>
          <a:xfrm>
            <a:off x="594360" y="1874520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Verificar contador Entrada Cl.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36"/>
          <p:cNvSpPr/>
          <p:nvPr/>
        </p:nvSpPr>
        <p:spPr>
          <a:xfrm>
            <a:off x="594360" y="2258568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Inspección física del medidor Genebre WP-SDC DN125: limpieza, verificación de paletas, aforo controlado de 1 m³ y de 5 m³ con cronómetro. Si confirma sub-registro, calibrar o reemplazar.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36"/>
          <p:cNvSpPr/>
          <p:nvPr/>
        </p:nvSpPr>
        <p:spPr>
          <a:xfrm>
            <a:off x="6172200" y="1417320"/>
            <a:ext cx="5532120" cy="155448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9" name="Google Shape;1879;p36"/>
          <p:cNvSpPr/>
          <p:nvPr/>
        </p:nvSpPr>
        <p:spPr>
          <a:xfrm>
            <a:off x="6172200" y="1417320"/>
            <a:ext cx="5532120" cy="36576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0" name="Google Shape;1880;p36"/>
          <p:cNvSpPr/>
          <p:nvPr/>
        </p:nvSpPr>
        <p:spPr>
          <a:xfrm>
            <a:off x="6309360" y="14630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36"/>
          <p:cNvSpPr/>
          <p:nvPr/>
        </p:nvSpPr>
        <p:spPr>
          <a:xfrm>
            <a:off x="6812280" y="14630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INMEDIATA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36"/>
          <p:cNvSpPr/>
          <p:nvPr/>
        </p:nvSpPr>
        <p:spPr>
          <a:xfrm>
            <a:off x="6309360" y="1874520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Buscar línea paralela hacia Cl.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36"/>
          <p:cNvSpPr/>
          <p:nvPr/>
        </p:nvSpPr>
        <p:spPr>
          <a:xfrm>
            <a:off x="6309360" y="2258568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Inspección visual completa de la tubería entre T0 y Cl. 2 para descartar by-pass. Cerrar válvula de entrada y verificar si el medidor de salida sigue acumulando.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p36"/>
          <p:cNvSpPr/>
          <p:nvPr/>
        </p:nvSpPr>
        <p:spPr>
          <a:xfrm>
            <a:off x="457200" y="3108960"/>
            <a:ext cx="5532120" cy="155448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5" name="Google Shape;1885;p36"/>
          <p:cNvSpPr/>
          <p:nvPr/>
        </p:nvSpPr>
        <p:spPr>
          <a:xfrm>
            <a:off x="457200" y="3108960"/>
            <a:ext cx="5532120" cy="36576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6" name="Google Shape;1886;p36"/>
          <p:cNvSpPr/>
          <p:nvPr/>
        </p:nvSpPr>
        <p:spPr>
          <a:xfrm>
            <a:off x="594360" y="31546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36"/>
          <p:cNvSpPr/>
          <p:nvPr/>
        </p:nvSpPr>
        <p:spPr>
          <a:xfrm>
            <a:off x="1097280" y="31546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DÍAS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36"/>
          <p:cNvSpPr/>
          <p:nvPr/>
        </p:nvSpPr>
        <p:spPr>
          <a:xfrm>
            <a:off x="594360" y="3566160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Completar aforos de RD, CNP y Agua Potable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36"/>
          <p:cNvSpPr/>
          <p:nvPr/>
        </p:nvSpPr>
        <p:spPr>
          <a:xfrm>
            <a:off x="594360" y="3950208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Aforar cronometrando volumen mínimo de 1 m³ por contador en condiciones estacionarias. Comparar contra acumulado de 24 h.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36"/>
          <p:cNvSpPr/>
          <p:nvPr/>
        </p:nvSpPr>
        <p:spPr>
          <a:xfrm>
            <a:off x="6172200" y="3108960"/>
            <a:ext cx="5532120" cy="155448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1" name="Google Shape;1891;p36"/>
          <p:cNvSpPr/>
          <p:nvPr/>
        </p:nvSpPr>
        <p:spPr>
          <a:xfrm>
            <a:off x="6172200" y="3108960"/>
            <a:ext cx="5532120" cy="36576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2" name="Google Shape;1892;p36"/>
          <p:cNvSpPr/>
          <p:nvPr/>
        </p:nvSpPr>
        <p:spPr>
          <a:xfrm>
            <a:off x="6309360" y="31546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36"/>
          <p:cNvSpPr/>
          <p:nvPr/>
        </p:nvSpPr>
        <p:spPr>
          <a:xfrm>
            <a:off x="6812280" y="31546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DÍAS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36"/>
          <p:cNvSpPr/>
          <p:nvPr/>
        </p:nvSpPr>
        <p:spPr>
          <a:xfrm>
            <a:off x="6309360" y="3566160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Medir nivel de T0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36"/>
          <p:cNvSpPr/>
          <p:nvPr/>
        </p:nvSpPr>
        <p:spPr>
          <a:xfrm>
            <a:off x="6309360" y="3950208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Instalar mira graduada o sensor de nivel en T0. Cierra el balance de masas global del sistema.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36"/>
          <p:cNvSpPr/>
          <p:nvPr/>
        </p:nvSpPr>
        <p:spPr>
          <a:xfrm>
            <a:off x="457200" y="4800600"/>
            <a:ext cx="5532120" cy="155448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7" name="Google Shape;1897;p36"/>
          <p:cNvSpPr/>
          <p:nvPr/>
        </p:nvSpPr>
        <p:spPr>
          <a:xfrm>
            <a:off x="457200" y="4800600"/>
            <a:ext cx="5532120" cy="36576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8" name="Google Shape;1898;p36"/>
          <p:cNvSpPr/>
          <p:nvPr/>
        </p:nvSpPr>
        <p:spPr>
          <a:xfrm>
            <a:off x="594360" y="4846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36"/>
          <p:cNvSpPr/>
          <p:nvPr/>
        </p:nvSpPr>
        <p:spPr>
          <a:xfrm>
            <a:off x="1097280" y="4846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 DÍAS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36"/>
          <p:cNvSpPr/>
          <p:nvPr/>
        </p:nvSpPr>
        <p:spPr>
          <a:xfrm>
            <a:off x="594360" y="5257800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Protocolo formal de lecturas diarias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36"/>
          <p:cNvSpPr/>
          <p:nvPr/>
        </p:nvSpPr>
        <p:spPr>
          <a:xfrm>
            <a:off x="594360" y="5641848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Implementar protocolo de lecturas AM (06:00) y PM (18:00) con responsable, formato físico y digital. Detección temprana de fugas, fallas o anomalías.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36"/>
          <p:cNvSpPr/>
          <p:nvPr/>
        </p:nvSpPr>
        <p:spPr>
          <a:xfrm>
            <a:off x="6172200" y="4800600"/>
            <a:ext cx="5532120" cy="155448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3" name="Google Shape;1903;p36"/>
          <p:cNvSpPr/>
          <p:nvPr/>
        </p:nvSpPr>
        <p:spPr>
          <a:xfrm>
            <a:off x="6172200" y="4800600"/>
            <a:ext cx="5532120" cy="36576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4" name="Google Shape;1904;p36"/>
          <p:cNvSpPr/>
          <p:nvPr/>
        </p:nvSpPr>
        <p:spPr>
          <a:xfrm>
            <a:off x="6309360" y="4846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36"/>
          <p:cNvSpPr/>
          <p:nvPr/>
        </p:nvSpPr>
        <p:spPr>
          <a:xfrm>
            <a:off x="6812280" y="4846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TRIMESTRAL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36"/>
          <p:cNvSpPr/>
          <p:nvPr/>
        </p:nvSpPr>
        <p:spPr>
          <a:xfrm>
            <a:off x="6309360" y="5257800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Auditoría de aforos y diales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p36"/>
          <p:cNvSpPr/>
          <p:nvPr/>
        </p:nvSpPr>
        <p:spPr>
          <a:xfrm>
            <a:off x="6309360" y="5641848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Repetir aforos cronometrados cada 3 meses para tendencia. Verificar diales decimales en los 3 contadores ×10.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37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4" name="Google Shape;1914;p37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5" name="Google Shape;1915;p37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Plan de acción  ·  timeline de 90 días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37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Cronograma de implementación de las recomendaciones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37"/>
          <p:cNvSpPr/>
          <p:nvPr/>
        </p:nvSpPr>
        <p:spPr>
          <a:xfrm>
            <a:off x="457200" y="1417320"/>
            <a:ext cx="274320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8" name="Google Shape;1918;p37"/>
          <p:cNvSpPr/>
          <p:nvPr/>
        </p:nvSpPr>
        <p:spPr>
          <a:xfrm>
            <a:off x="457200" y="1417320"/>
            <a:ext cx="2743200" cy="86868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9" name="Google Shape;1919;p37"/>
          <p:cNvSpPr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SEMANA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37"/>
          <p:cNvSpPr/>
          <p:nvPr/>
        </p:nvSpPr>
        <p:spPr>
          <a:xfrm>
            <a:off x="594360" y="17830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Diagnóstico in situ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37"/>
          <p:cNvSpPr/>
          <p:nvPr/>
        </p:nvSpPr>
        <p:spPr>
          <a:xfrm>
            <a:off x="640080" y="2606040"/>
            <a:ext cx="164592" cy="164592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2" name="Google Shape;1922;p37"/>
          <p:cNvSpPr/>
          <p:nvPr/>
        </p:nvSpPr>
        <p:spPr>
          <a:xfrm>
            <a:off x="868680" y="25146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Verificación física Entrada Cl.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37"/>
          <p:cNvSpPr/>
          <p:nvPr/>
        </p:nvSpPr>
        <p:spPr>
          <a:xfrm>
            <a:off x="640080" y="3474720"/>
            <a:ext cx="164592" cy="164592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4" name="Google Shape;1924;p37"/>
          <p:cNvSpPr/>
          <p:nvPr/>
        </p:nvSpPr>
        <p:spPr>
          <a:xfrm>
            <a:off x="868680" y="33832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Inspección de tubería entre T0 y Cl.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37"/>
          <p:cNvSpPr/>
          <p:nvPr/>
        </p:nvSpPr>
        <p:spPr>
          <a:xfrm>
            <a:off x="640080" y="4343400"/>
            <a:ext cx="164592" cy="164592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6" name="Google Shape;1926;p37"/>
          <p:cNvSpPr/>
          <p:nvPr/>
        </p:nvSpPr>
        <p:spPr>
          <a:xfrm>
            <a:off x="868680" y="42519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Aforo controlado en condiciones estacionarias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p37"/>
          <p:cNvSpPr/>
          <p:nvPr/>
        </p:nvSpPr>
        <p:spPr>
          <a:xfrm>
            <a:off x="640080" y="5212080"/>
            <a:ext cx="164592" cy="164592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8" name="Google Shape;1928;p37"/>
          <p:cNvSpPr/>
          <p:nvPr/>
        </p:nvSpPr>
        <p:spPr>
          <a:xfrm>
            <a:off x="868680" y="51206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Reporte preliminar de hallazgos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37"/>
          <p:cNvSpPr/>
          <p:nvPr/>
        </p:nvSpPr>
        <p:spPr>
          <a:xfrm>
            <a:off x="3291840" y="1417320"/>
            <a:ext cx="274320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0" name="Google Shape;1930;p37"/>
          <p:cNvSpPr/>
          <p:nvPr/>
        </p:nvSpPr>
        <p:spPr>
          <a:xfrm>
            <a:off x="3291840" y="1417320"/>
            <a:ext cx="2743200" cy="86868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1" name="Google Shape;1931;p37"/>
          <p:cNvSpPr/>
          <p:nvPr/>
        </p:nvSpPr>
        <p:spPr>
          <a:xfrm>
            <a:off x="3429000" y="14630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SEMANAS 2 – 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37"/>
          <p:cNvSpPr/>
          <p:nvPr/>
        </p:nvSpPr>
        <p:spPr>
          <a:xfrm>
            <a:off x="3429000" y="17830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Cierre del balance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37"/>
          <p:cNvSpPr/>
          <p:nvPr/>
        </p:nvSpPr>
        <p:spPr>
          <a:xfrm>
            <a:off x="3474720" y="2606040"/>
            <a:ext cx="164592" cy="164592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4" name="Google Shape;1934;p37"/>
          <p:cNvSpPr/>
          <p:nvPr/>
        </p:nvSpPr>
        <p:spPr>
          <a:xfrm>
            <a:off x="3703320" y="25146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Aforos cronometrados RD / CNP / Potable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37"/>
          <p:cNvSpPr/>
          <p:nvPr/>
        </p:nvSpPr>
        <p:spPr>
          <a:xfrm>
            <a:off x="3474720" y="3474720"/>
            <a:ext cx="164592" cy="164592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6" name="Google Shape;1936;p37"/>
          <p:cNvSpPr/>
          <p:nvPr/>
        </p:nvSpPr>
        <p:spPr>
          <a:xfrm>
            <a:off x="3703320" y="33832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Instalación de mira en T0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37"/>
          <p:cNvSpPr/>
          <p:nvPr/>
        </p:nvSpPr>
        <p:spPr>
          <a:xfrm>
            <a:off x="3474720" y="4343400"/>
            <a:ext cx="164592" cy="164592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8" name="Google Shape;1938;p37"/>
          <p:cNvSpPr/>
          <p:nvPr/>
        </p:nvSpPr>
        <p:spPr>
          <a:xfrm>
            <a:off x="3703320" y="42519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Re-medición de niveles T1/T2/T3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37"/>
          <p:cNvSpPr/>
          <p:nvPr/>
        </p:nvSpPr>
        <p:spPr>
          <a:xfrm>
            <a:off x="3474720" y="5212080"/>
            <a:ext cx="164592" cy="164592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0" name="Google Shape;1940;p37"/>
          <p:cNvSpPr/>
          <p:nvPr/>
        </p:nvSpPr>
        <p:spPr>
          <a:xfrm>
            <a:off x="3703320" y="51206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Mass balance completo con T0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p37"/>
          <p:cNvSpPr/>
          <p:nvPr/>
        </p:nvSpPr>
        <p:spPr>
          <a:xfrm>
            <a:off x="6126480" y="1417320"/>
            <a:ext cx="274320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2" name="Google Shape;1942;p37"/>
          <p:cNvSpPr/>
          <p:nvPr/>
        </p:nvSpPr>
        <p:spPr>
          <a:xfrm>
            <a:off x="6126480" y="1417320"/>
            <a:ext cx="2743200" cy="86868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3" name="Google Shape;1943;p37"/>
          <p:cNvSpPr/>
          <p:nvPr/>
        </p:nvSpPr>
        <p:spPr>
          <a:xfrm>
            <a:off x="6263640" y="14630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MES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37"/>
          <p:cNvSpPr/>
          <p:nvPr/>
        </p:nvSpPr>
        <p:spPr>
          <a:xfrm>
            <a:off x="6263640" y="17830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Protocolo formal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37"/>
          <p:cNvSpPr/>
          <p:nvPr/>
        </p:nvSpPr>
        <p:spPr>
          <a:xfrm>
            <a:off x="6309360" y="2606040"/>
            <a:ext cx="164592" cy="164592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6" name="Google Shape;1946;p37"/>
          <p:cNvSpPr/>
          <p:nvPr/>
        </p:nvSpPr>
        <p:spPr>
          <a:xfrm>
            <a:off x="6537960" y="25146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Diseño del formulario diario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p37"/>
          <p:cNvSpPr/>
          <p:nvPr/>
        </p:nvSpPr>
        <p:spPr>
          <a:xfrm>
            <a:off x="6309360" y="3474720"/>
            <a:ext cx="164592" cy="164592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8" name="Google Shape;1948;p37"/>
          <p:cNvSpPr/>
          <p:nvPr/>
        </p:nvSpPr>
        <p:spPr>
          <a:xfrm>
            <a:off x="6537960" y="33832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Capacitación del operario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37"/>
          <p:cNvSpPr/>
          <p:nvPr/>
        </p:nvSpPr>
        <p:spPr>
          <a:xfrm>
            <a:off x="6309360" y="4343400"/>
            <a:ext cx="164592" cy="164592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0" name="Google Shape;1950;p37"/>
          <p:cNvSpPr/>
          <p:nvPr/>
        </p:nvSpPr>
        <p:spPr>
          <a:xfrm>
            <a:off x="6537960" y="42519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Implementación AM/PM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p37"/>
          <p:cNvSpPr/>
          <p:nvPr/>
        </p:nvSpPr>
        <p:spPr>
          <a:xfrm>
            <a:off x="6309360" y="5212080"/>
            <a:ext cx="164592" cy="164592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2" name="Google Shape;1952;p37"/>
          <p:cNvSpPr/>
          <p:nvPr/>
        </p:nvSpPr>
        <p:spPr>
          <a:xfrm>
            <a:off x="6537960" y="51206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Reporte semanal por correo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37"/>
          <p:cNvSpPr/>
          <p:nvPr/>
        </p:nvSpPr>
        <p:spPr>
          <a:xfrm>
            <a:off x="8961120" y="1417320"/>
            <a:ext cx="274320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4" name="Google Shape;1954;p37"/>
          <p:cNvSpPr/>
          <p:nvPr/>
        </p:nvSpPr>
        <p:spPr>
          <a:xfrm>
            <a:off x="8961120" y="1417320"/>
            <a:ext cx="2743200" cy="86868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5" name="Google Shape;1955;p37"/>
          <p:cNvSpPr/>
          <p:nvPr/>
        </p:nvSpPr>
        <p:spPr>
          <a:xfrm>
            <a:off x="9098280" y="14630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MES 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37"/>
          <p:cNvSpPr/>
          <p:nvPr/>
        </p:nvSpPr>
        <p:spPr>
          <a:xfrm>
            <a:off x="9098280" y="17830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Auditoría inicial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37"/>
          <p:cNvSpPr/>
          <p:nvPr/>
        </p:nvSpPr>
        <p:spPr>
          <a:xfrm>
            <a:off x="9144000" y="2606040"/>
            <a:ext cx="164592" cy="164592"/>
          </a:xfrm>
          <a:prstGeom prst="ellipse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8" name="Google Shape;1958;p37"/>
          <p:cNvSpPr/>
          <p:nvPr/>
        </p:nvSpPr>
        <p:spPr>
          <a:xfrm>
            <a:off x="9372600" y="25146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Primera auditoría de aforos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37"/>
          <p:cNvSpPr/>
          <p:nvPr/>
        </p:nvSpPr>
        <p:spPr>
          <a:xfrm>
            <a:off x="9144000" y="3474720"/>
            <a:ext cx="164592" cy="164592"/>
          </a:xfrm>
          <a:prstGeom prst="ellipse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0" name="Google Shape;1960;p37"/>
          <p:cNvSpPr/>
          <p:nvPr/>
        </p:nvSpPr>
        <p:spPr>
          <a:xfrm>
            <a:off x="9372600" y="33832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Verificación de diales ×10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37"/>
          <p:cNvSpPr/>
          <p:nvPr/>
        </p:nvSpPr>
        <p:spPr>
          <a:xfrm>
            <a:off x="9144000" y="4343400"/>
            <a:ext cx="164592" cy="164592"/>
          </a:xfrm>
          <a:prstGeom prst="ellipse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2" name="Google Shape;1962;p37"/>
          <p:cNvSpPr/>
          <p:nvPr/>
        </p:nvSpPr>
        <p:spPr>
          <a:xfrm>
            <a:off x="9372600" y="42519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Análisis de tendencia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37"/>
          <p:cNvSpPr/>
          <p:nvPr/>
        </p:nvSpPr>
        <p:spPr>
          <a:xfrm>
            <a:off x="9144000" y="5212080"/>
            <a:ext cx="164592" cy="164592"/>
          </a:xfrm>
          <a:prstGeom prst="ellipse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4" name="Google Shape;1964;p37"/>
          <p:cNvSpPr/>
          <p:nvPr/>
        </p:nvSpPr>
        <p:spPr>
          <a:xfrm>
            <a:off x="9372600" y="51206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Ajuste de protocolo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5" name="Google Shape;1965;p37"/>
          <p:cNvCxnSpPr/>
          <p:nvPr/>
        </p:nvCxnSpPr>
        <p:spPr>
          <a:xfrm>
            <a:off x="457200" y="6629400"/>
            <a:ext cx="11247120" cy="0"/>
          </a:xfrm>
          <a:prstGeom prst="straightConnector1">
            <a:avLst/>
          </a:prstGeom>
          <a:noFill/>
          <a:ln w="25400" cap="flat" cmpd="sng">
            <a:solidFill>
              <a:srgbClr val="06AED5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p38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2" name="Google Shape;1972;p38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73" name="Google Shape;1973;p38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Protocolo de lecturas diarias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4" name="Google Shape;1974;p38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Procedimiento estandarizado para captura, validación y reporte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5" name="Google Shape;1975;p38"/>
          <p:cNvSpPr/>
          <p:nvPr/>
        </p:nvSpPr>
        <p:spPr>
          <a:xfrm>
            <a:off x="457200" y="1417320"/>
            <a:ext cx="356616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6" name="Google Shape;1976;p38"/>
          <p:cNvSpPr/>
          <p:nvPr/>
        </p:nvSpPr>
        <p:spPr>
          <a:xfrm>
            <a:off x="457200" y="1417320"/>
            <a:ext cx="3566160" cy="9601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7" name="Google Shape;1977;p38"/>
          <p:cNvSpPr/>
          <p:nvPr/>
        </p:nvSpPr>
        <p:spPr>
          <a:xfrm>
            <a:off x="594360" y="14630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06:00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p38"/>
          <p:cNvSpPr/>
          <p:nvPr/>
        </p:nvSpPr>
        <p:spPr>
          <a:xfrm>
            <a:off x="594360" y="20116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LECTURA MATUTINA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p38"/>
          <p:cNvSpPr/>
          <p:nvPr/>
        </p:nvSpPr>
        <p:spPr>
          <a:xfrm>
            <a:off x="640080" y="260604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0" name="Google Shape;1980;p38"/>
          <p:cNvSpPr/>
          <p:nvPr/>
        </p:nvSpPr>
        <p:spPr>
          <a:xfrm>
            <a:off x="960120" y="260604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Leer los 8 contadores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38"/>
          <p:cNvSpPr/>
          <p:nvPr/>
        </p:nvSpPr>
        <p:spPr>
          <a:xfrm>
            <a:off x="640080" y="320040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38"/>
          <p:cNvSpPr/>
          <p:nvPr/>
        </p:nvSpPr>
        <p:spPr>
          <a:xfrm>
            <a:off x="960120" y="32004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Anotar display + multiplicador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3" name="Google Shape;1983;p38"/>
          <p:cNvSpPr/>
          <p:nvPr/>
        </p:nvSpPr>
        <p:spPr>
          <a:xfrm>
            <a:off x="640080" y="379476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38"/>
          <p:cNvSpPr/>
          <p:nvPr/>
        </p:nvSpPr>
        <p:spPr>
          <a:xfrm>
            <a:off x="960120" y="379476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Verificar posición de diales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38"/>
          <p:cNvSpPr/>
          <p:nvPr/>
        </p:nvSpPr>
        <p:spPr>
          <a:xfrm>
            <a:off x="640080" y="438912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38"/>
          <p:cNvSpPr/>
          <p:nvPr/>
        </p:nvSpPr>
        <p:spPr>
          <a:xfrm>
            <a:off x="960120" y="438912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Medir niveles T0/T1/T2/T3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p38"/>
          <p:cNvSpPr/>
          <p:nvPr/>
        </p:nvSpPr>
        <p:spPr>
          <a:xfrm>
            <a:off x="640080" y="49834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38"/>
          <p:cNvSpPr/>
          <p:nvPr/>
        </p:nvSpPr>
        <p:spPr>
          <a:xfrm>
            <a:off x="960120" y="498348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Registrar en libro físico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38"/>
          <p:cNvSpPr/>
          <p:nvPr/>
        </p:nvSpPr>
        <p:spPr>
          <a:xfrm>
            <a:off x="640080" y="557784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38"/>
          <p:cNvSpPr/>
          <p:nvPr/>
        </p:nvSpPr>
        <p:spPr>
          <a:xfrm>
            <a:off x="960120" y="557784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Subir a Excel/SharePoint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38"/>
          <p:cNvSpPr/>
          <p:nvPr/>
        </p:nvSpPr>
        <p:spPr>
          <a:xfrm>
            <a:off x="4297680" y="1417320"/>
            <a:ext cx="356616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2" name="Google Shape;1992;p38"/>
          <p:cNvSpPr/>
          <p:nvPr/>
        </p:nvSpPr>
        <p:spPr>
          <a:xfrm>
            <a:off x="4297680" y="1417320"/>
            <a:ext cx="3566160" cy="9601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3" name="Google Shape;1993;p38"/>
          <p:cNvSpPr/>
          <p:nvPr/>
        </p:nvSpPr>
        <p:spPr>
          <a:xfrm>
            <a:off x="4434840" y="14630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12:00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38"/>
          <p:cNvSpPr/>
          <p:nvPr/>
        </p:nvSpPr>
        <p:spPr>
          <a:xfrm>
            <a:off x="4434840" y="20116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VERIFICACIÓN INTERMEDIA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38"/>
          <p:cNvSpPr/>
          <p:nvPr/>
        </p:nvSpPr>
        <p:spPr>
          <a:xfrm>
            <a:off x="4480560" y="260604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p38"/>
          <p:cNvSpPr/>
          <p:nvPr/>
        </p:nvSpPr>
        <p:spPr>
          <a:xfrm>
            <a:off x="4800600" y="260604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Leer B. Principal + B. Auxiliar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38"/>
          <p:cNvSpPr/>
          <p:nvPr/>
        </p:nvSpPr>
        <p:spPr>
          <a:xfrm>
            <a:off x="4480560" y="320040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38"/>
          <p:cNvSpPr/>
          <p:nvPr/>
        </p:nvSpPr>
        <p:spPr>
          <a:xfrm>
            <a:off x="4800600" y="32004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Verificar nivel T0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38"/>
          <p:cNvSpPr/>
          <p:nvPr/>
        </p:nvSpPr>
        <p:spPr>
          <a:xfrm>
            <a:off x="4480560" y="379476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38"/>
          <p:cNvSpPr/>
          <p:nvPr/>
        </p:nvSpPr>
        <p:spPr>
          <a:xfrm>
            <a:off x="4800600" y="379476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Detectar consumo de la mañana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p38"/>
          <p:cNvSpPr/>
          <p:nvPr/>
        </p:nvSpPr>
        <p:spPr>
          <a:xfrm>
            <a:off x="4480560" y="438912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38"/>
          <p:cNvSpPr/>
          <p:nvPr/>
        </p:nvSpPr>
        <p:spPr>
          <a:xfrm>
            <a:off x="4800600" y="438912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Anotar en libro físico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38"/>
          <p:cNvSpPr/>
          <p:nvPr/>
        </p:nvSpPr>
        <p:spPr>
          <a:xfrm>
            <a:off x="4480560" y="49834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4" name="Google Shape;2004;p38"/>
          <p:cNvSpPr/>
          <p:nvPr/>
        </p:nvSpPr>
        <p:spPr>
          <a:xfrm>
            <a:off x="4800600" y="498348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Validar balance parcial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38"/>
          <p:cNvSpPr/>
          <p:nvPr/>
        </p:nvSpPr>
        <p:spPr>
          <a:xfrm>
            <a:off x="8138160" y="1417320"/>
            <a:ext cx="3566160" cy="502920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6" name="Google Shape;2006;p38"/>
          <p:cNvSpPr/>
          <p:nvPr/>
        </p:nvSpPr>
        <p:spPr>
          <a:xfrm>
            <a:off x="8138160" y="1417320"/>
            <a:ext cx="3566160" cy="9601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7" name="Google Shape;2007;p38"/>
          <p:cNvSpPr/>
          <p:nvPr/>
        </p:nvSpPr>
        <p:spPr>
          <a:xfrm>
            <a:off x="8275320" y="14630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18:00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38"/>
          <p:cNvSpPr/>
          <p:nvPr/>
        </p:nvSpPr>
        <p:spPr>
          <a:xfrm>
            <a:off x="8275320" y="20116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LECTURA VESPERTINA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p38"/>
          <p:cNvSpPr/>
          <p:nvPr/>
        </p:nvSpPr>
        <p:spPr>
          <a:xfrm>
            <a:off x="8321040" y="260604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38"/>
          <p:cNvSpPr/>
          <p:nvPr/>
        </p:nvSpPr>
        <p:spPr>
          <a:xfrm>
            <a:off x="8641080" y="260604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Leer los 8 contadores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38"/>
          <p:cNvSpPr/>
          <p:nvPr/>
        </p:nvSpPr>
        <p:spPr>
          <a:xfrm>
            <a:off x="8321040" y="320040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38"/>
          <p:cNvSpPr/>
          <p:nvPr/>
        </p:nvSpPr>
        <p:spPr>
          <a:xfrm>
            <a:off x="8641080" y="32004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Medir niveles T0/T1/T2/T3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38"/>
          <p:cNvSpPr/>
          <p:nvPr/>
        </p:nvSpPr>
        <p:spPr>
          <a:xfrm>
            <a:off x="8321040" y="379476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38"/>
          <p:cNvSpPr/>
          <p:nvPr/>
        </p:nvSpPr>
        <p:spPr>
          <a:xfrm>
            <a:off x="8641080" y="379476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Calcular Δ del día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38"/>
          <p:cNvSpPr/>
          <p:nvPr/>
        </p:nvSpPr>
        <p:spPr>
          <a:xfrm>
            <a:off x="8321040" y="438912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38"/>
          <p:cNvSpPr/>
          <p:nvPr/>
        </p:nvSpPr>
        <p:spPr>
          <a:xfrm>
            <a:off x="8641080" y="438912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Verificar balance hídrico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7" name="Google Shape;2017;p38"/>
          <p:cNvSpPr/>
          <p:nvPr/>
        </p:nvSpPr>
        <p:spPr>
          <a:xfrm>
            <a:off x="8321040" y="49834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38"/>
          <p:cNvSpPr/>
          <p:nvPr/>
        </p:nvSpPr>
        <p:spPr>
          <a:xfrm>
            <a:off x="8641080" y="498348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Reportar anomalías &gt; 10 %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38"/>
          <p:cNvSpPr/>
          <p:nvPr/>
        </p:nvSpPr>
        <p:spPr>
          <a:xfrm>
            <a:off x="8321040" y="557784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38"/>
          <p:cNvSpPr/>
          <p:nvPr/>
        </p:nvSpPr>
        <p:spPr>
          <a:xfrm>
            <a:off x="8641080" y="557784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Reporte semanal el viernes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39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7" name="Google Shape;2027;p39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28" name="Google Shape;2028;p39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Dashboard operativo propuesto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9" name="Google Shape;2029;p39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KPIs para monitoreo diario y mensual del balance hídrico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39"/>
          <p:cNvSpPr/>
          <p:nvPr/>
        </p:nvSpPr>
        <p:spPr>
          <a:xfrm>
            <a:off x="457200" y="1417320"/>
            <a:ext cx="2706624" cy="1600200"/>
          </a:xfrm>
          <a:prstGeom prst="rect">
            <a:avLst/>
          </a:prstGeom>
          <a:solidFill>
            <a:srgbClr val="F0F4FA"/>
          </a:solidFill>
          <a:ln w="1905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1" name="Google Shape;2031;p39"/>
          <p:cNvSpPr/>
          <p:nvPr/>
        </p:nvSpPr>
        <p:spPr>
          <a:xfrm>
            <a:off x="457200" y="1417320"/>
            <a:ext cx="2706624" cy="41148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2" name="Google Shape;2032;p39"/>
          <p:cNvSpPr/>
          <p:nvPr/>
        </p:nvSpPr>
        <p:spPr>
          <a:xfrm>
            <a:off x="594360" y="1463040"/>
            <a:ext cx="24323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VOL. APORTADO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3" name="Google Shape;2033;p39"/>
          <p:cNvSpPr/>
          <p:nvPr/>
        </p:nvSpPr>
        <p:spPr>
          <a:xfrm>
            <a:off x="594360" y="187452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m³ / día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39"/>
          <p:cNvSpPr/>
          <p:nvPr/>
        </p:nvSpPr>
        <p:spPr>
          <a:xfrm>
            <a:off x="594360" y="2377440"/>
            <a:ext cx="243230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Sumatoria de B. Principal + B. Auxiliar.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Meta: cubrir consumo diario.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39"/>
          <p:cNvSpPr/>
          <p:nvPr/>
        </p:nvSpPr>
        <p:spPr>
          <a:xfrm>
            <a:off x="3346704" y="1417320"/>
            <a:ext cx="2706624" cy="1600200"/>
          </a:xfrm>
          <a:prstGeom prst="rect">
            <a:avLst/>
          </a:prstGeom>
          <a:solidFill>
            <a:srgbClr val="F0F4FA"/>
          </a:solidFill>
          <a:ln w="1905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6" name="Google Shape;2036;p39"/>
          <p:cNvSpPr/>
          <p:nvPr/>
        </p:nvSpPr>
        <p:spPr>
          <a:xfrm>
            <a:off x="3346704" y="1417320"/>
            <a:ext cx="2706624" cy="41148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7" name="Google Shape;2037;p39"/>
          <p:cNvSpPr/>
          <p:nvPr/>
        </p:nvSpPr>
        <p:spPr>
          <a:xfrm>
            <a:off x="3483864" y="1463040"/>
            <a:ext cx="24323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EFICIENCIA Cl.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39"/>
          <p:cNvSpPr/>
          <p:nvPr/>
        </p:nvSpPr>
        <p:spPr>
          <a:xfrm>
            <a:off x="3483864" y="187452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% tratado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9" name="Google Shape;2039;p39"/>
          <p:cNvSpPr/>
          <p:nvPr/>
        </p:nvSpPr>
        <p:spPr>
          <a:xfrm>
            <a:off x="3483864" y="2377440"/>
            <a:ext cx="243230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Salida total Cl. / Entrada T0.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Meta:  ≥ 95 %.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39"/>
          <p:cNvSpPr/>
          <p:nvPr/>
        </p:nvSpPr>
        <p:spPr>
          <a:xfrm>
            <a:off x="6236208" y="1417320"/>
            <a:ext cx="2706624" cy="1600200"/>
          </a:xfrm>
          <a:prstGeom prst="rect">
            <a:avLst/>
          </a:prstGeom>
          <a:solidFill>
            <a:srgbClr val="F0F4FA"/>
          </a:solidFill>
          <a:ln w="1905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1" name="Google Shape;2041;p39"/>
          <p:cNvSpPr/>
          <p:nvPr/>
        </p:nvSpPr>
        <p:spPr>
          <a:xfrm>
            <a:off x="6236208" y="1417320"/>
            <a:ext cx="2706624" cy="41148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2" name="Google Shape;2042;p39"/>
          <p:cNvSpPr/>
          <p:nvPr/>
        </p:nvSpPr>
        <p:spPr>
          <a:xfrm>
            <a:off x="6373368" y="1463040"/>
            <a:ext cx="24323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AUTONOMÍA T1+T2+T3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3" name="Google Shape;2043;p39"/>
          <p:cNvSpPr/>
          <p:nvPr/>
        </p:nvSpPr>
        <p:spPr>
          <a:xfrm>
            <a:off x="6373368" y="187452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horas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39"/>
          <p:cNvSpPr/>
          <p:nvPr/>
        </p:nvSpPr>
        <p:spPr>
          <a:xfrm>
            <a:off x="6373368" y="2377440"/>
            <a:ext cx="243230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Volumen disponible / Consumo medio.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Meta:  ≥ 24 h.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p39"/>
          <p:cNvSpPr/>
          <p:nvPr/>
        </p:nvSpPr>
        <p:spPr>
          <a:xfrm>
            <a:off x="9125712" y="1417320"/>
            <a:ext cx="2706624" cy="1600200"/>
          </a:xfrm>
          <a:prstGeom prst="rect">
            <a:avLst/>
          </a:prstGeom>
          <a:solidFill>
            <a:srgbClr val="F0F4FA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6" name="Google Shape;2046;p39"/>
          <p:cNvSpPr/>
          <p:nvPr/>
        </p:nvSpPr>
        <p:spPr>
          <a:xfrm>
            <a:off x="9125712" y="1417320"/>
            <a:ext cx="2706624" cy="41148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7" name="Google Shape;2047;p39"/>
          <p:cNvSpPr/>
          <p:nvPr/>
        </p:nvSpPr>
        <p:spPr>
          <a:xfrm>
            <a:off x="9262872" y="1463040"/>
            <a:ext cx="24323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COSTO QUÍMICO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39"/>
          <p:cNvSpPr/>
          <p:nvPr/>
        </p:nvSpPr>
        <p:spPr>
          <a:xfrm>
            <a:off x="9262872" y="187452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Q / m³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39"/>
          <p:cNvSpPr/>
          <p:nvPr/>
        </p:nvSpPr>
        <p:spPr>
          <a:xfrm>
            <a:off x="9262872" y="2377440"/>
            <a:ext cx="243230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(Cl. 1 + Cl. 2) según escenario.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Monitorear tendencia mensual.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p39"/>
          <p:cNvSpPr/>
          <p:nvPr/>
        </p:nvSpPr>
        <p:spPr>
          <a:xfrm>
            <a:off x="457200" y="3246120"/>
            <a:ext cx="11247120" cy="3200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1" name="Google Shape;2051;p39"/>
          <p:cNvSpPr/>
          <p:nvPr/>
        </p:nvSpPr>
        <p:spPr>
          <a:xfrm>
            <a:off x="640080" y="33832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UMBRALES DE ALERTA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39"/>
          <p:cNvSpPr/>
          <p:nvPr/>
        </p:nvSpPr>
        <p:spPr>
          <a:xfrm>
            <a:off x="640080" y="37490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KPI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39"/>
          <p:cNvSpPr/>
          <p:nvPr/>
        </p:nvSpPr>
        <p:spPr>
          <a:xfrm>
            <a:off x="3840480" y="37490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Verde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39"/>
          <p:cNvSpPr/>
          <p:nvPr/>
        </p:nvSpPr>
        <p:spPr>
          <a:xfrm>
            <a:off x="6309360" y="37490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Amarillo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39"/>
          <p:cNvSpPr/>
          <p:nvPr/>
        </p:nvSpPr>
        <p:spPr>
          <a:xfrm>
            <a:off x="8778240" y="37490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Rojo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6" name="Google Shape;2056;p39"/>
          <p:cNvCxnSpPr/>
          <p:nvPr/>
        </p:nvCxnSpPr>
        <p:spPr>
          <a:xfrm>
            <a:off x="640080" y="4096512"/>
            <a:ext cx="10881360" cy="0"/>
          </a:xfrm>
          <a:prstGeom prst="straightConnector1">
            <a:avLst/>
          </a:prstGeom>
          <a:noFill/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57" name="Google Shape;2057;p39"/>
          <p:cNvSpPr/>
          <p:nvPr/>
        </p:nvSpPr>
        <p:spPr>
          <a:xfrm>
            <a:off x="640080" y="416052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ΔV neto tanques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39"/>
          <p:cNvSpPr/>
          <p:nvPr/>
        </p:nvSpPr>
        <p:spPr>
          <a:xfrm>
            <a:off x="3840480" y="41605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0 ± 50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9" name="Google Shape;2059;p39"/>
          <p:cNvSpPr/>
          <p:nvPr/>
        </p:nvSpPr>
        <p:spPr>
          <a:xfrm>
            <a:off x="6309360" y="41605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± 50 a ± 100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0" name="Google Shape;2060;p39"/>
          <p:cNvSpPr/>
          <p:nvPr/>
        </p:nvSpPr>
        <p:spPr>
          <a:xfrm>
            <a:off x="8778240" y="41605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&gt; ± 100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39"/>
          <p:cNvSpPr/>
          <p:nvPr/>
        </p:nvSpPr>
        <p:spPr>
          <a:xfrm>
            <a:off x="640080" y="45720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Razón Cl.2/Cl.1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39"/>
          <p:cNvSpPr/>
          <p:nvPr/>
        </p:nvSpPr>
        <p:spPr>
          <a:xfrm>
            <a:off x="3840480" y="45720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2.3 – 2.7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39"/>
          <p:cNvSpPr/>
          <p:nvPr/>
        </p:nvSpPr>
        <p:spPr>
          <a:xfrm>
            <a:off x="6309360" y="45720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2.0 – 2.3 ó 2.7 – 3.0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39"/>
          <p:cNvSpPr/>
          <p:nvPr/>
        </p:nvSpPr>
        <p:spPr>
          <a:xfrm>
            <a:off x="8778240" y="45720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&lt; 2.0 ó &gt; 3.0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39"/>
          <p:cNvSpPr/>
          <p:nvPr/>
        </p:nvSpPr>
        <p:spPr>
          <a:xfrm>
            <a:off x="640080" y="49834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Balance T0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6" name="Google Shape;2066;p39"/>
          <p:cNvSpPr/>
          <p:nvPr/>
        </p:nvSpPr>
        <p:spPr>
          <a:xfrm>
            <a:off x="3840480" y="4983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Δ &lt; 5 %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39"/>
          <p:cNvSpPr/>
          <p:nvPr/>
        </p:nvSpPr>
        <p:spPr>
          <a:xfrm>
            <a:off x="6309360" y="4983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Δ 5 – 15 %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39"/>
          <p:cNvSpPr/>
          <p:nvPr/>
        </p:nvSpPr>
        <p:spPr>
          <a:xfrm>
            <a:off x="8778240" y="4983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Δ &gt; 15 %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39"/>
          <p:cNvSpPr/>
          <p:nvPr/>
        </p:nvSpPr>
        <p:spPr>
          <a:xfrm>
            <a:off x="640080" y="53949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Costo químico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39"/>
          <p:cNvSpPr/>
          <p:nvPr/>
        </p:nvSpPr>
        <p:spPr>
          <a:xfrm>
            <a:off x="3840480" y="53949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≤ Q15 /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39"/>
          <p:cNvSpPr/>
          <p:nvPr/>
        </p:nvSpPr>
        <p:spPr>
          <a:xfrm>
            <a:off x="6309360" y="53949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Q15 – 60 /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39"/>
          <p:cNvSpPr/>
          <p:nvPr/>
        </p:nvSpPr>
        <p:spPr>
          <a:xfrm>
            <a:off x="8778240" y="53949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&gt; Q60 / m³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39"/>
          <p:cNvSpPr/>
          <p:nvPr/>
        </p:nvSpPr>
        <p:spPr>
          <a:xfrm>
            <a:off x="640080" y="58064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Autonomía T1+T2+T3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39"/>
          <p:cNvSpPr/>
          <p:nvPr/>
        </p:nvSpPr>
        <p:spPr>
          <a:xfrm>
            <a:off x="3840480" y="5806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&gt; 36 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39"/>
          <p:cNvSpPr/>
          <p:nvPr/>
        </p:nvSpPr>
        <p:spPr>
          <a:xfrm>
            <a:off x="6309360" y="5806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24 – 36 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39"/>
          <p:cNvSpPr/>
          <p:nvPr/>
        </p:nvSpPr>
        <p:spPr>
          <a:xfrm>
            <a:off x="8778240" y="5806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&lt; 24 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0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3" name="Google Shape;2083;p40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84" name="Google Shape;2084;p40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Riesgos operativos y mitigaciones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40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Identificados a partir del diagnóstico — con probabilidad e impacto estimado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p40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7" name="Google Shape;2087;p40"/>
          <p:cNvSpPr/>
          <p:nvPr/>
        </p:nvSpPr>
        <p:spPr>
          <a:xfrm>
            <a:off x="548640" y="141732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Riesgo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8" name="Google Shape;2088;p40"/>
          <p:cNvSpPr/>
          <p:nvPr/>
        </p:nvSpPr>
        <p:spPr>
          <a:xfrm>
            <a:off x="4663440" y="141732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Probabilidad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40"/>
          <p:cNvSpPr/>
          <p:nvPr/>
        </p:nvSpPr>
        <p:spPr>
          <a:xfrm>
            <a:off x="6492240" y="141732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40"/>
          <p:cNvSpPr/>
          <p:nvPr/>
        </p:nvSpPr>
        <p:spPr>
          <a:xfrm>
            <a:off x="8138160" y="141732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Mitigación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1" name="Google Shape;2091;p40"/>
          <p:cNvSpPr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2" name="Google Shape;2092;p40"/>
          <p:cNvSpPr/>
          <p:nvPr/>
        </p:nvSpPr>
        <p:spPr>
          <a:xfrm>
            <a:off x="457200" y="1828800"/>
            <a:ext cx="91440" cy="54864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3" name="Google Shape;2093;p40"/>
          <p:cNvSpPr/>
          <p:nvPr/>
        </p:nvSpPr>
        <p:spPr>
          <a:xfrm>
            <a:off x="594360" y="1828800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Sub-registro persistente en Entrada Cl. 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4" name="Google Shape;2094;p40"/>
          <p:cNvSpPr/>
          <p:nvPr/>
        </p:nvSpPr>
        <p:spPr>
          <a:xfrm>
            <a:off x="4709160" y="182880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40"/>
          <p:cNvSpPr/>
          <p:nvPr/>
        </p:nvSpPr>
        <p:spPr>
          <a:xfrm>
            <a:off x="6537960" y="182880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6" name="Google Shape;2096;p40"/>
          <p:cNvSpPr/>
          <p:nvPr/>
        </p:nvSpPr>
        <p:spPr>
          <a:xfrm>
            <a:off x="8183880" y="182880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Calibración / reemplazo del medidor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p40"/>
          <p:cNvSpPr/>
          <p:nvPr/>
        </p:nvSpPr>
        <p:spPr>
          <a:xfrm>
            <a:off x="457200" y="2377440"/>
            <a:ext cx="11247120" cy="54864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8" name="Google Shape;2098;p40"/>
          <p:cNvSpPr/>
          <p:nvPr/>
        </p:nvSpPr>
        <p:spPr>
          <a:xfrm>
            <a:off x="457200" y="2377440"/>
            <a:ext cx="91440" cy="54864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9" name="Google Shape;2099;p40"/>
          <p:cNvSpPr/>
          <p:nvPr/>
        </p:nvSpPr>
        <p:spPr>
          <a:xfrm>
            <a:off x="594360" y="2377440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Sobrecarga si falla Cl. 2 (solo Cl. 1 al 100 %)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40"/>
          <p:cNvSpPr/>
          <p:nvPr/>
        </p:nvSpPr>
        <p:spPr>
          <a:xfrm>
            <a:off x="4709160" y="237744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p40"/>
          <p:cNvSpPr/>
          <p:nvPr/>
        </p:nvSpPr>
        <p:spPr>
          <a:xfrm>
            <a:off x="6537960" y="237744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2" name="Google Shape;2102;p40"/>
          <p:cNvSpPr/>
          <p:nvPr/>
        </p:nvSpPr>
        <p:spPr>
          <a:xfrm>
            <a:off x="8183880" y="237744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Plan de bypass + reducción de bombeo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3" name="Google Shape;2103;p40"/>
          <p:cNvSpPr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4" name="Google Shape;2104;p40"/>
          <p:cNvSpPr/>
          <p:nvPr/>
        </p:nvSpPr>
        <p:spPr>
          <a:xfrm>
            <a:off x="457200" y="2926080"/>
            <a:ext cx="91440" cy="54864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5" name="Google Shape;2105;p40"/>
          <p:cNvSpPr/>
          <p:nvPr/>
        </p:nvSpPr>
        <p:spPr>
          <a:xfrm>
            <a:off x="594360" y="2926080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Falta de aforo en RD/CNP/Potable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40"/>
          <p:cNvSpPr/>
          <p:nvPr/>
        </p:nvSpPr>
        <p:spPr>
          <a:xfrm>
            <a:off x="4709160" y="292608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40"/>
          <p:cNvSpPr/>
          <p:nvPr/>
        </p:nvSpPr>
        <p:spPr>
          <a:xfrm>
            <a:off x="6537960" y="292608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BAJO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8" name="Google Shape;2108;p40"/>
          <p:cNvSpPr/>
          <p:nvPr/>
        </p:nvSpPr>
        <p:spPr>
          <a:xfrm>
            <a:off x="8183880" y="292608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Aforos en próxima visita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40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0" name="Google Shape;2110;p40"/>
          <p:cNvSpPr/>
          <p:nvPr/>
        </p:nvSpPr>
        <p:spPr>
          <a:xfrm>
            <a:off x="457200" y="3474720"/>
            <a:ext cx="91440" cy="54864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1" name="Google Shape;2111;p40"/>
          <p:cNvSpPr/>
          <p:nvPr/>
        </p:nvSpPr>
        <p:spPr>
          <a:xfrm>
            <a:off x="594360" y="3474720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T3 con autonomía &lt; 1.5 h sin reposición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2" name="Google Shape;2112;p40"/>
          <p:cNvSpPr/>
          <p:nvPr/>
        </p:nvSpPr>
        <p:spPr>
          <a:xfrm>
            <a:off x="4709160" y="347472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40"/>
          <p:cNvSpPr/>
          <p:nvPr/>
        </p:nvSpPr>
        <p:spPr>
          <a:xfrm>
            <a:off x="6537960" y="347472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4" name="Google Shape;2114;p40"/>
          <p:cNvSpPr/>
          <p:nvPr/>
        </p:nvSpPr>
        <p:spPr>
          <a:xfrm>
            <a:off x="8183880" y="347472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Mantener Cl. 1 + Cl. 2 en paralelo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40"/>
          <p:cNvSpPr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6" name="Google Shape;2116;p40"/>
          <p:cNvSpPr/>
          <p:nvPr/>
        </p:nvSpPr>
        <p:spPr>
          <a:xfrm>
            <a:off x="457200" y="4023360"/>
            <a:ext cx="91440" cy="54864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7" name="Google Shape;2117;p40"/>
          <p:cNvSpPr/>
          <p:nvPr/>
        </p:nvSpPr>
        <p:spPr>
          <a:xfrm>
            <a:off x="594360" y="4023360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Costo químico desbocado en lluvia severa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40"/>
          <p:cNvSpPr/>
          <p:nvPr/>
        </p:nvSpPr>
        <p:spPr>
          <a:xfrm>
            <a:off x="4709160" y="402336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40"/>
          <p:cNvSpPr/>
          <p:nvPr/>
        </p:nvSpPr>
        <p:spPr>
          <a:xfrm>
            <a:off x="6537960" y="402336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40"/>
          <p:cNvSpPr/>
          <p:nvPr/>
        </p:nvSpPr>
        <p:spPr>
          <a:xfrm>
            <a:off x="8183880" y="402336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Pre-tratamiento o decantación previa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40"/>
          <p:cNvSpPr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solidFill>
            <a:srgbClr val="F0F4FA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2" name="Google Shape;2122;p40"/>
          <p:cNvSpPr/>
          <p:nvPr/>
        </p:nvSpPr>
        <p:spPr>
          <a:xfrm>
            <a:off x="457200" y="4572000"/>
            <a:ext cx="91440" cy="54864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3" name="Google Shape;2123;p40"/>
          <p:cNvSpPr/>
          <p:nvPr/>
        </p:nvSpPr>
        <p:spPr>
          <a:xfrm>
            <a:off x="594360" y="4572000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Lectura errónea por confusión de mult. ×10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40"/>
          <p:cNvSpPr/>
          <p:nvPr/>
        </p:nvSpPr>
        <p:spPr>
          <a:xfrm>
            <a:off x="4709160" y="457200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40"/>
          <p:cNvSpPr/>
          <p:nvPr/>
        </p:nvSpPr>
        <p:spPr>
          <a:xfrm>
            <a:off x="6537960" y="457200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40"/>
          <p:cNvSpPr/>
          <p:nvPr/>
        </p:nvSpPr>
        <p:spPr>
          <a:xfrm>
            <a:off x="8183880" y="457200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Etiquetar contadores + protocolo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40"/>
          <p:cNvSpPr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8C1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8" name="Google Shape;2128;p40"/>
          <p:cNvSpPr/>
          <p:nvPr/>
        </p:nvSpPr>
        <p:spPr>
          <a:xfrm>
            <a:off x="457200" y="5120640"/>
            <a:ext cx="91440" cy="54864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9" name="Google Shape;2129;p40"/>
          <p:cNvSpPr/>
          <p:nvPr/>
        </p:nvSpPr>
        <p:spPr>
          <a:xfrm>
            <a:off x="594360" y="5120640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Pérdidas no contabilizadas en sistema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40"/>
          <p:cNvSpPr/>
          <p:nvPr/>
        </p:nvSpPr>
        <p:spPr>
          <a:xfrm>
            <a:off x="4709160" y="512064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BAJA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40"/>
          <p:cNvSpPr/>
          <p:nvPr/>
        </p:nvSpPr>
        <p:spPr>
          <a:xfrm>
            <a:off x="6537960" y="512064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BAJO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40"/>
          <p:cNvSpPr/>
          <p:nvPr/>
        </p:nvSpPr>
        <p:spPr>
          <a:xfrm>
            <a:off x="8183880" y="512064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Medir T0 + cerrar balance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41"/>
          <p:cNvSpPr/>
          <p:nvPr/>
        </p:nvSpPr>
        <p:spPr>
          <a:xfrm>
            <a:off x="457200" y="45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000"/>
              <a:buFont typeface="Arial Black"/>
              <a:buNone/>
            </a:pPr>
            <a:r>
              <a:rPr lang="en-US" sz="1000" b="1" i="0" u="none" strike="noStrike" cap="none">
                <a:solidFill>
                  <a:srgbClr val="06AED5"/>
                </a:solidFill>
                <a:latin typeface="Arial Black"/>
                <a:ea typeface="Arial Black"/>
                <a:cs typeface="Arial Black"/>
                <a:sym typeface="Arial Black"/>
              </a:rPr>
              <a:t>BTI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9" name="Google Shape;2139;p41"/>
          <p:cNvCxnSpPr/>
          <p:nvPr/>
        </p:nvCxnSpPr>
        <p:spPr>
          <a:xfrm>
            <a:off x="457200" y="320040"/>
            <a:ext cx="640080" cy="0"/>
          </a:xfrm>
          <a:prstGeom prst="straightConnector1">
            <a:avLst/>
          </a:prstGeom>
          <a:noFill/>
          <a:ln w="19050" cap="flat" cmpd="sng">
            <a:solidFill>
              <a:srgbClr val="06AE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40" name="Google Shape;2140;p41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Resumen visual del balance hídrico completo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41"/>
          <p:cNvSpPr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entradas,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tratamiento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almacenamiento</a:t>
            </a:r>
            <a:r>
              <a:rPr lang="en-US" sz="1200" b="0" i="1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200" b="0" i="1" u="none" strike="noStrike" cap="none" dirty="0" err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consumo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41"/>
          <p:cNvSpPr/>
          <p:nvPr/>
        </p:nvSpPr>
        <p:spPr>
          <a:xfrm>
            <a:off x="457200" y="2011680"/>
            <a:ext cx="1737360" cy="16459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3" name="Google Shape;2143;p41"/>
          <p:cNvSpPr/>
          <p:nvPr/>
        </p:nvSpPr>
        <p:spPr>
          <a:xfrm>
            <a:off x="457200" y="2011680"/>
            <a:ext cx="1737360" cy="36576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" name="Google Shape;2144;p41"/>
          <p:cNvSpPr/>
          <p:nvPr/>
        </p:nvSpPr>
        <p:spPr>
          <a:xfrm>
            <a:off x="457200" y="20116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BOMBEO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41"/>
          <p:cNvSpPr/>
          <p:nvPr/>
        </p:nvSpPr>
        <p:spPr>
          <a:xfrm>
            <a:off x="457200" y="246888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+68 m³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41"/>
          <p:cNvSpPr/>
          <p:nvPr/>
        </p:nvSpPr>
        <p:spPr>
          <a:xfrm>
            <a:off x="457200" y="30632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11.37 m³/h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p41"/>
          <p:cNvSpPr/>
          <p:nvPr/>
        </p:nvSpPr>
        <p:spPr>
          <a:xfrm>
            <a:off x="2468880" y="2011680"/>
            <a:ext cx="1280160" cy="16459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8" name="Google Shape;2148;p41"/>
          <p:cNvSpPr/>
          <p:nvPr/>
        </p:nvSpPr>
        <p:spPr>
          <a:xfrm>
            <a:off x="2468880" y="2011680"/>
            <a:ext cx="1280160" cy="36576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9" name="Google Shape;2149;p41"/>
          <p:cNvSpPr/>
          <p:nvPr/>
        </p:nvSpPr>
        <p:spPr>
          <a:xfrm>
            <a:off x="2468880" y="20116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0" name="Google Shape;2150;p41"/>
          <p:cNvSpPr/>
          <p:nvPr/>
        </p:nvSpPr>
        <p:spPr>
          <a:xfrm>
            <a:off x="2468880" y="246888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487 m³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p41"/>
          <p:cNvSpPr/>
          <p:nvPr/>
        </p:nvSpPr>
        <p:spPr>
          <a:xfrm>
            <a:off x="2468880" y="30632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agua cruda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41"/>
          <p:cNvSpPr/>
          <p:nvPr/>
        </p:nvSpPr>
        <p:spPr>
          <a:xfrm>
            <a:off x="4023360" y="1325880"/>
            <a:ext cx="1463040" cy="12344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3" name="Google Shape;2153;p41"/>
          <p:cNvSpPr/>
          <p:nvPr/>
        </p:nvSpPr>
        <p:spPr>
          <a:xfrm>
            <a:off x="4023360" y="1325880"/>
            <a:ext cx="1463040" cy="36576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4" name="Google Shape;2154;p41"/>
          <p:cNvSpPr/>
          <p:nvPr/>
        </p:nvSpPr>
        <p:spPr>
          <a:xfrm>
            <a:off x="4023360" y="13258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Cl.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41"/>
          <p:cNvSpPr/>
          <p:nvPr/>
        </p:nvSpPr>
        <p:spPr>
          <a:xfrm>
            <a:off x="4023360" y="178308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+70 m³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p41"/>
          <p:cNvSpPr/>
          <p:nvPr/>
        </p:nvSpPr>
        <p:spPr>
          <a:xfrm>
            <a:off x="4023360" y="23774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Q=11.29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p41"/>
          <p:cNvSpPr/>
          <p:nvPr/>
        </p:nvSpPr>
        <p:spPr>
          <a:xfrm>
            <a:off x="4023360" y="3154680"/>
            <a:ext cx="1463040" cy="12344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8" name="Google Shape;2158;p41"/>
          <p:cNvSpPr/>
          <p:nvPr/>
        </p:nvSpPr>
        <p:spPr>
          <a:xfrm>
            <a:off x="4023360" y="3154680"/>
            <a:ext cx="1463040" cy="36576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9" name="Google Shape;2159;p41"/>
          <p:cNvSpPr/>
          <p:nvPr/>
        </p:nvSpPr>
        <p:spPr>
          <a:xfrm>
            <a:off x="4023360" y="31546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Cl.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0" name="Google Shape;2160;p41"/>
          <p:cNvSpPr/>
          <p:nvPr/>
        </p:nvSpPr>
        <p:spPr>
          <a:xfrm>
            <a:off x="4023360" y="361188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+192 m³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41"/>
          <p:cNvSpPr/>
          <p:nvPr/>
        </p:nvSpPr>
        <p:spPr>
          <a:xfrm>
            <a:off x="4023360" y="42062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Q=31.13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41"/>
          <p:cNvSpPr/>
          <p:nvPr/>
        </p:nvSpPr>
        <p:spPr>
          <a:xfrm>
            <a:off x="5760720" y="2011680"/>
            <a:ext cx="1737360" cy="16459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2129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3" name="Google Shape;2163;p41"/>
          <p:cNvSpPr/>
          <p:nvPr/>
        </p:nvSpPr>
        <p:spPr>
          <a:xfrm>
            <a:off x="5760720" y="2011680"/>
            <a:ext cx="1737360" cy="365760"/>
          </a:xfrm>
          <a:prstGeom prst="rect">
            <a:avLst/>
          </a:prstGeom>
          <a:solidFill>
            <a:srgbClr val="21295C"/>
          </a:solidFill>
          <a:ln w="12700" cap="flat" cmpd="sng">
            <a:solidFill>
              <a:srgbClr val="2129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4" name="Google Shape;2164;p41"/>
          <p:cNvSpPr/>
          <p:nvPr/>
        </p:nvSpPr>
        <p:spPr>
          <a:xfrm>
            <a:off x="5760720" y="20116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 T2 T3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5" name="Google Shape;2165;p41"/>
          <p:cNvSpPr/>
          <p:nvPr/>
        </p:nvSpPr>
        <p:spPr>
          <a:xfrm>
            <a:off x="5760720" y="246888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+95.25 m³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6" name="Google Shape;2166;p41"/>
          <p:cNvSpPr/>
          <p:nvPr/>
        </p:nvSpPr>
        <p:spPr>
          <a:xfrm>
            <a:off x="5760720" y="30632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ΔV neto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41"/>
          <p:cNvSpPr/>
          <p:nvPr/>
        </p:nvSpPr>
        <p:spPr>
          <a:xfrm>
            <a:off x="7772400" y="2011680"/>
            <a:ext cx="1737360" cy="16459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8" name="Google Shape;2168;p41"/>
          <p:cNvSpPr/>
          <p:nvPr/>
        </p:nvSpPr>
        <p:spPr>
          <a:xfrm>
            <a:off x="7772400" y="2011680"/>
            <a:ext cx="1737360" cy="36576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9" name="Google Shape;2169;p41"/>
          <p:cNvSpPr/>
          <p:nvPr/>
        </p:nvSpPr>
        <p:spPr>
          <a:xfrm>
            <a:off x="7772400" y="20116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CONSUMO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0" name="Google Shape;2170;p41"/>
          <p:cNvSpPr/>
          <p:nvPr/>
        </p:nvSpPr>
        <p:spPr>
          <a:xfrm>
            <a:off x="7772400" y="246888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−182 m³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41"/>
          <p:cNvSpPr/>
          <p:nvPr/>
        </p:nvSpPr>
        <p:spPr>
          <a:xfrm>
            <a:off x="7772400" y="30632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RD+CNP+Pot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2" name="Google Shape;2172;p41"/>
          <p:cNvSpPr/>
          <p:nvPr/>
        </p:nvSpPr>
        <p:spPr>
          <a:xfrm>
            <a:off x="9784080" y="2011680"/>
            <a:ext cx="1920240" cy="16459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3" name="Google Shape;2173;p41"/>
          <p:cNvSpPr/>
          <p:nvPr/>
        </p:nvSpPr>
        <p:spPr>
          <a:xfrm>
            <a:off x="9784080" y="2011680"/>
            <a:ext cx="1920240" cy="36576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4" name="Google Shape;2174;p41"/>
          <p:cNvSpPr/>
          <p:nvPr/>
        </p:nvSpPr>
        <p:spPr>
          <a:xfrm>
            <a:off x="9784080" y="20116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ENTREGADO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41"/>
          <p:cNvSpPr/>
          <p:nvPr/>
        </p:nvSpPr>
        <p:spPr>
          <a:xfrm>
            <a:off x="9784080" y="246888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182 m³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41"/>
          <p:cNvSpPr/>
          <p:nvPr/>
        </p:nvSpPr>
        <p:spPr>
          <a:xfrm>
            <a:off x="9784080" y="30632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C7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Q=29.53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7" name="Google Shape;2177;p41"/>
          <p:cNvCxnSpPr/>
          <p:nvPr/>
        </p:nvCxnSpPr>
        <p:spPr>
          <a:xfrm>
            <a:off x="219456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5A6C7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78" name="Google Shape;2178;p41"/>
          <p:cNvCxnSpPr/>
          <p:nvPr/>
        </p:nvCxnSpPr>
        <p:spPr>
          <a:xfrm rot="10800000" flipH="1">
            <a:off x="3749040" y="1920240"/>
            <a:ext cx="274320" cy="685800"/>
          </a:xfrm>
          <a:prstGeom prst="straightConnector1">
            <a:avLst/>
          </a:prstGeom>
          <a:noFill/>
          <a:ln w="19050" cap="flat" cmpd="sng">
            <a:solidFill>
              <a:srgbClr val="5A6C7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79" name="Google Shape;2179;p41"/>
          <p:cNvCxnSpPr/>
          <p:nvPr/>
        </p:nvCxnSpPr>
        <p:spPr>
          <a:xfrm>
            <a:off x="3749040" y="3063240"/>
            <a:ext cx="274320" cy="685800"/>
          </a:xfrm>
          <a:prstGeom prst="straightConnector1">
            <a:avLst/>
          </a:prstGeom>
          <a:noFill/>
          <a:ln w="19050" cap="flat" cmpd="sng">
            <a:solidFill>
              <a:srgbClr val="5A6C7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80" name="Google Shape;2180;p41"/>
          <p:cNvCxnSpPr/>
          <p:nvPr/>
        </p:nvCxnSpPr>
        <p:spPr>
          <a:xfrm>
            <a:off x="5486400" y="1920240"/>
            <a:ext cx="274320" cy="685800"/>
          </a:xfrm>
          <a:prstGeom prst="straightConnector1">
            <a:avLst/>
          </a:prstGeom>
          <a:noFill/>
          <a:ln w="19050" cap="flat" cmpd="sng">
            <a:solidFill>
              <a:srgbClr val="5A6C7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81" name="Google Shape;2181;p41"/>
          <p:cNvCxnSpPr/>
          <p:nvPr/>
        </p:nvCxnSpPr>
        <p:spPr>
          <a:xfrm rot="10800000" flipH="1">
            <a:off x="5486400" y="3063240"/>
            <a:ext cx="274320" cy="685800"/>
          </a:xfrm>
          <a:prstGeom prst="straightConnector1">
            <a:avLst/>
          </a:prstGeom>
          <a:noFill/>
          <a:ln w="19050" cap="flat" cmpd="sng">
            <a:solidFill>
              <a:srgbClr val="5A6C7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82" name="Google Shape;2182;p41"/>
          <p:cNvCxnSpPr/>
          <p:nvPr/>
        </p:nvCxnSpPr>
        <p:spPr>
          <a:xfrm>
            <a:off x="749808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5A6C7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83" name="Google Shape;2183;p41"/>
          <p:cNvCxnSpPr/>
          <p:nvPr/>
        </p:nvCxnSpPr>
        <p:spPr>
          <a:xfrm>
            <a:off x="9509760" y="283464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5A6C7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84" name="Google Shape;2184;p41"/>
          <p:cNvSpPr/>
          <p:nvPr/>
        </p:nvSpPr>
        <p:spPr>
          <a:xfrm>
            <a:off x="457200" y="4937760"/>
            <a:ext cx="11247120" cy="1508760"/>
          </a:xfrm>
          <a:prstGeom prst="rect">
            <a:avLst/>
          </a:prstGeom>
          <a:solidFill>
            <a:srgbClr val="F0F4F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5" name="Google Shape;2185;p41"/>
          <p:cNvSpPr/>
          <p:nvPr/>
        </p:nvSpPr>
        <p:spPr>
          <a:xfrm>
            <a:off x="640080" y="502920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AED5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AED5"/>
                </a:solidFill>
                <a:latin typeface="Calibri"/>
                <a:ea typeface="Calibri"/>
                <a:cs typeface="Calibri"/>
                <a:sym typeface="Calibri"/>
              </a:rPr>
              <a:t>CIERRE NUMÉRICO DEL BALANCE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6" name="Google Shape;2186;p41"/>
          <p:cNvSpPr/>
          <p:nvPr/>
        </p:nvSpPr>
        <p:spPr>
          <a:xfrm>
            <a:off x="640080" y="534924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Entradas a T1+T2+T3 (Cl.1 + Cl.2)  =  +262 m³  ·  </a:t>
            </a:r>
            <a:r>
              <a:rPr lang="en-US" sz="1100" b="0" i="0" u="none" strike="noStrike" cap="none" dirty="0" err="1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Salidas</a:t>
            </a:r>
            <a:r>
              <a:rPr lang="en-US" sz="1100" b="0" i="0" u="none" strike="noStrike" cap="none" dirty="0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 (RD + CNP + Potable)  =  −182 m³  </a:t>
            </a:r>
            <a:r>
              <a:rPr lang="en-US" sz="1100" b="1" i="0" u="none" strike="noStrike" cap="none" dirty="0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·  </a:t>
            </a:r>
            <a:r>
              <a:rPr lang="en-US" sz="1100" b="1" i="0" u="none" strike="noStrike" cap="none" dirty="0" err="1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Esperado</a:t>
            </a:r>
            <a:r>
              <a:rPr lang="en-US" sz="1100" b="1" i="0" u="none" strike="noStrike" cap="none" dirty="0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00" b="1" i="0" u="none" strike="noStrike" cap="none" dirty="0" err="1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US" sz="1100" b="1" i="0" u="none" strike="noStrike" cap="none" dirty="0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00" b="1" i="0" u="none" strike="noStrike" cap="none" dirty="0" err="1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tanques</a:t>
            </a:r>
            <a:r>
              <a:rPr lang="en-US" sz="1100" b="1" i="0" u="none" strike="noStrike" cap="none" dirty="0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  <a:t>  =  +80 m³</a:t>
            </a:r>
            <a:br>
              <a:rPr lang="en-US" sz="1100" b="1" i="0" u="none" strike="noStrike" cap="none" dirty="0">
                <a:solidFill>
                  <a:srgbClr val="06AED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 dirty="0" err="1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Medido</a:t>
            </a:r>
            <a:r>
              <a:rPr lang="en-US" sz="1100" b="0" i="0" u="none" strike="noStrike" cap="none" dirty="0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00" b="0" i="0" u="none" strike="noStrike" cap="none" dirty="0" err="1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US" sz="1100" b="0" i="0" u="none" strike="noStrike" cap="none" dirty="0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00" b="0" i="0" u="none" strike="noStrike" cap="none" dirty="0" err="1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tanques</a:t>
            </a:r>
            <a:r>
              <a:rPr lang="en-US" sz="1100" b="0" i="0" u="none" strike="noStrike" cap="none" dirty="0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 (T1 + T2 + T3)  =  </a:t>
            </a:r>
            <a:r>
              <a:rPr lang="en-US" sz="1100" b="1" i="0" u="none" strike="noStrike" cap="none" dirty="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+95.25 m³  </a:t>
            </a:r>
            <a:r>
              <a:rPr lang="en-US" sz="1100" b="0" i="0" u="none" strike="noStrike" cap="none" dirty="0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·  </a:t>
            </a:r>
            <a:r>
              <a:rPr lang="en-US" sz="1100" b="0" i="0" u="none" strike="noStrike" cap="none" dirty="0" err="1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Desviación</a:t>
            </a:r>
            <a:r>
              <a:rPr lang="en-US" sz="1100" b="0" i="0" u="none" strike="noStrike" cap="none" dirty="0">
                <a:solidFill>
                  <a:srgbClr val="0A2540"/>
                </a:solidFill>
                <a:latin typeface="Consolas"/>
                <a:ea typeface="Consolas"/>
                <a:cs typeface="Consolas"/>
                <a:sym typeface="Consolas"/>
              </a:rPr>
              <a:t>  =  </a:t>
            </a:r>
            <a:r>
              <a:rPr lang="en-US" sz="1100" b="1" i="0" u="none" strike="noStrike" cap="none" dirty="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+15.25 m³  (19 %)  </a:t>
            </a:r>
            <a:r>
              <a:rPr lang="en-US" sz="1050" b="0" i="1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lang="en-US" sz="1050" b="0" i="1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r>
              <a:rPr lang="en-US" sz="1050" b="0" i="1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1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satisfactorio</a:t>
            </a:r>
            <a:r>
              <a:rPr lang="en-US" sz="1050" b="0" i="1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 dentro de </a:t>
            </a:r>
            <a:r>
              <a:rPr lang="en-US" sz="1050" b="0" i="1" u="none" strike="noStrike" cap="none" dirty="0" err="1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tolerancia</a:t>
            </a:r>
            <a:r>
              <a:rPr lang="en-US" sz="1050" b="0" i="1" u="none" strike="noStrike" cap="none" dirty="0">
                <a:solidFill>
                  <a:srgbClr val="5A6C7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6964</Words>
  <Application>Microsoft Office PowerPoint</Application>
  <PresentationFormat>Panorámica</PresentationFormat>
  <Paragraphs>1477</Paragraphs>
  <Slides>38</Slides>
  <Notes>38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3" baseType="lpstr">
      <vt:lpstr>Arial</vt:lpstr>
      <vt:lpstr>Arial Black</vt:lpstr>
      <vt:lpstr>Consolas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Ronaldo Armando</cp:lastModifiedBy>
  <cp:revision>6</cp:revision>
  <dcterms:modified xsi:type="dcterms:W3CDTF">2026-05-19T11:36:51Z</dcterms:modified>
</cp:coreProperties>
</file>